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pillars, one loop. The attacks we invent become the training ground for the defence, and the gaps the defence reveals become the next round of attacks. Every number has its denominator on the slide, and one command reproduces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asks for breadth 'rather than a narrow handful'. Most answers are a list of twenty scenarios; ours is a grammar with a type system. The archive tells us which regions we have actually reached.</a:t>
            </a:r>
          </a:p>
          <a:p/>
          <a:p>
            <a:r>
              <a:t>IF ASKED why only 268 of 380: the rest need morpheme combinations our seed families do not yet produce. Published so coverage is auditable, not asserted.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ARENA is the red team, vajra-sim is the world, GATE is the blue team, and the bottom band is the return path — the gap the defence reveals becomes the next attack. The caption matters: the figure was drawn during design and its quantities are targets.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Fidelity is a judged criterion, so we made it checkable.</a:t>
            </a:r>
          </a:p>
          <a:p/>
          <a:p>
            <a:r>
              <a:t>IF ASKED how we know it resembles Mastercard's book: we don't, and we don't claim it. We validate mechanism-level fidelity. Distributional fidelity to a real portfolio is untestable without the portfolio — and two places where our generator is TOO CLEAN are on the artifacts slide, found by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it a loop rather than a pipeline. The archive is a curriculum. The LLM is a variation operator called once per tick, never per transaction, so the process stays deterministic and seeded.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slide for understanding our numbers. At decision time you know almost nothing.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first control. A version-control audit proving we wrote the holdout down before we wrote the detector. That is not a modelling control, it is a control on 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ROC-AUC is only 0.72: at a 0.56% base rate ROC-AUC is dominated by the true-negative mass and is near-1 for any competent model. That is why every submission reports 0.99 and none of those numbers are comparable. We report PR-AUC as the headline because it is the quantity that moves.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withheld the majority of our test attacks' compositions from training, plus a whole evasion technique, and still catch a quarter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diagnostic that led to the next slide. Scoring each channel on its own is cheap and nobody does it. gate_b returns zeros at the issuer view because its five beneficiary features are among the 73 absent there — so it was diluting the score with a constant.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of these were in the configuration we would otherwise have submitted. The equal-weight arm at 0.0317 is the published ablation that makes the weighting choice defensible rather than asserted.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fix is generator realism, not deleting a legitimate signal because we drew it too cleanly. Second artifact: token_assurance_vs_device_age, AUC 0.9652 on 2.23% support, because every attacked provisioning gets device_age = uniform(0,1) and our generator omits the commonest benign case — new phone, added my card.</a:t>
            </a:r>
          </a:p>
          <a:p/>
          <a:p>
            <a:r>
              <a:t>Also be ready: 8 of the top 25 features have standalone AUC below 0.5. Expected — a tree uses them through interactions, not marginally.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could have left this off. The gap is the price of methodological honesty.</a:t>
            </a:r>
          </a:p>
          <a:p/>
          <a:p>
            <a:r>
              <a:t>IF ASKED to prove the gap is the future-label leak: we have a natural experiment. We added five features closing a real coverage hole. The replica gained +0.0047 PR-AUC from them; we gained -0.0024. The only difference on that axis is label maturity — it could learn from them and we could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here. Our own ablation says issuer beats network, so do not claim the network sees more. The defensible claim is that the network is a signal distributor.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'could this actually run'. The rail-specific action mapping is the part most detection projects skip.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these is worth more than they cost. A judge who finds an undisclosed limitation discounts everything else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path touches only committed artifacts. A live demo that depends on training or on the network is a demo that fails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second half. The metrics get us into the conversation; the self-audit is what distinguishes 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hidden unless probed.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83080"/>
            <a:ext cx="10515600" cy="1188720"/>
          </a:xfrm>
          <a:prstGeom prst="rect">
            <a:avLst/>
          </a:prstGeom>
          <a:noFill/>
        </p:spPr>
        <p:txBody>
          <a:bodyPr wrap="square" anchor="t">
            <a:normAutofit/>
          </a:bodyPr>
          <a:lstStyle/>
          <a:p>
            <a:pPr algn="l">
              <a:spcAft>
                <a:spcPts val="0"/>
              </a:spcAft>
            </a:pPr>
            <a:r>
              <a:rPr sz="7200" b="1">
                <a:solidFill>
                  <a:srgbClr val="F2F2F5"/>
                </a:solidFill>
                <a:latin typeface="Arial"/>
              </a:rPr>
              <a:t>VAJRA</a:t>
            </a:r>
          </a:p>
        </p:txBody>
      </p:sp>
      <p:sp>
        <p:nvSpPr>
          <p:cNvPr id="4" name="TextBox 3"/>
          <p:cNvSpPr txBox="1"/>
          <p:nvPr/>
        </p:nvSpPr>
        <p:spPr>
          <a:xfrm>
            <a:off x="822960" y="2880360"/>
            <a:ext cx="10515600" cy="1188720"/>
          </a:xfrm>
          <a:prstGeom prst="rect">
            <a:avLst/>
          </a:prstGeom>
          <a:noFill/>
        </p:spPr>
        <p:txBody>
          <a:bodyPr wrap="square" anchor="t">
            <a:normAutofit/>
          </a:bodyPr>
          <a:lstStyle/>
          <a:p>
            <a:pPr algn="l">
              <a:spcAft>
                <a:spcPts val="1200"/>
              </a:spcAft>
            </a:pPr>
            <a:r>
              <a:rPr sz="2300" b="0">
                <a:solidFill>
                  <a:srgbClr val="F2F2F5"/>
                </a:solidFill>
                <a:latin typeface="Arial"/>
              </a:rPr>
              <a:t>A closed-loop red-team / blue-team system for GenAI payment fraud</a:t>
            </a:r>
          </a:p>
          <a:p>
            <a:pPr>
              <a:spcAft>
                <a:spcPts val="800"/>
              </a:spcAft>
            </a:pPr>
            <a:r>
              <a:rPr sz="1600" b="0">
                <a:solidFill>
                  <a:srgbClr val="9A9AA8"/>
                </a:solidFill>
                <a:latin typeface="Arial"/>
              </a:rPr>
              <a:t>Identify  →  Generate  →  Defend, as one feedback loop</a:t>
            </a:r>
          </a:p>
        </p:txBody>
      </p:sp>
      <p:sp>
        <p:nvSpPr>
          <p:cNvPr id="5" name="Rectangle 4"/>
          <p:cNvSpPr/>
          <p:nvPr/>
        </p:nvSpPr>
        <p:spPr>
          <a:xfrm>
            <a:off x="822960" y="4343400"/>
            <a:ext cx="2606040" cy="868680"/>
          </a:xfrm>
          <a:prstGeom prst="rect">
            <a:avLst/>
          </a:prstGeom>
          <a:solidFill>
            <a:srgbClr val="15161D"/>
          </a:solidFill>
          <a:ln w="15240">
            <a:solidFill>
              <a:srgbClr val="E8505B"/>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E8505B"/>
                </a:solidFill>
                <a:latin typeface="Arial"/>
              </a:rPr>
              <a:t>IDENTIFY</a:t>
            </a:r>
            <a:br/>
            <a:r>
              <a:rPr sz="1200" b="1">
                <a:solidFill>
                  <a:srgbClr val="E8505B"/>
                </a:solidFill>
                <a:latin typeface="Arial"/>
              </a:rPr>
              <a:t>a grammar, not a list</a:t>
            </a:r>
          </a:p>
        </p:txBody>
      </p:sp>
      <p:sp>
        <p:nvSpPr>
          <p:cNvPr id="6" name="Rectangle 5"/>
          <p:cNvSpPr/>
          <p:nvPr/>
        </p:nvSpPr>
        <p:spPr>
          <a:xfrm>
            <a:off x="3630168" y="4343400"/>
            <a:ext cx="2606040" cy="868680"/>
          </a:xfrm>
          <a:prstGeom prst="rect">
            <a:avLst/>
          </a:prstGeom>
          <a:solidFill>
            <a:srgbClr val="15161D"/>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3DD68C"/>
                </a:solidFill>
                <a:latin typeface="Arial"/>
              </a:rPr>
              <a:t>GENERATE</a:t>
            </a:r>
            <a:br/>
            <a:r>
              <a:rPr sz="1200" b="1">
                <a:solidFill>
                  <a:srgbClr val="3DD68C"/>
                </a:solidFill>
                <a:latin typeface="Arial"/>
              </a:rPr>
              <a:t>9.9M events · 126 gates</a:t>
            </a:r>
          </a:p>
        </p:txBody>
      </p:sp>
      <p:sp>
        <p:nvSpPr>
          <p:cNvPr id="7" name="Rectangle 6"/>
          <p:cNvSpPr/>
          <p:nvPr/>
        </p:nvSpPr>
        <p:spPr>
          <a:xfrm>
            <a:off x="6437376" y="4343400"/>
            <a:ext cx="2606040" cy="868680"/>
          </a:xfrm>
          <a:prstGeom prst="rect">
            <a:avLst/>
          </a:prstGeom>
          <a:solidFill>
            <a:srgbClr val="15161D"/>
          </a:solidFill>
          <a:ln w="15240">
            <a:solidFill>
              <a:srgbClr val="4A9EFF"/>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4A9EFF"/>
                </a:solidFill>
                <a:latin typeface="Arial"/>
              </a:rPr>
              <a:t>DEFEND</a:t>
            </a:r>
            <a:br/>
            <a:r>
              <a:rPr sz="1200" b="1">
                <a:solidFill>
                  <a:srgbClr val="4A9EFF"/>
                </a:solidFill>
                <a:latin typeface="Arial"/>
              </a:rPr>
              <a:t>25% recall on unseen attacks</a:t>
            </a:r>
          </a:p>
        </p:txBody>
      </p:sp>
      <p:sp>
        <p:nvSpPr>
          <p:cNvPr id="8" name="Rectangle 7"/>
          <p:cNvSpPr/>
          <p:nvPr/>
        </p:nvSpPr>
        <p:spPr>
          <a:xfrm>
            <a:off x="9244584" y="4343400"/>
            <a:ext cx="2606040" cy="868680"/>
          </a:xfrm>
          <a:prstGeom prst="rect">
            <a:avLst/>
          </a:prstGeom>
          <a:solidFill>
            <a:srgbClr val="15161D"/>
          </a:solidFill>
          <a:ln w="1524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F5B14C"/>
                </a:solidFill>
                <a:latin typeface="Arial"/>
              </a:rPr>
              <a:t>AUDIT</a:t>
            </a:r>
            <a:br/>
            <a:r>
              <a:rPr sz="1200" b="1">
                <a:solidFill>
                  <a:srgbClr val="F5B14C"/>
                </a:solidFill>
                <a:latin typeface="Arial"/>
              </a:rPr>
              <a:t>we found our own defects</a:t>
            </a:r>
          </a:p>
        </p:txBody>
      </p:sp>
      <p:sp>
        <p:nvSpPr>
          <p:cNvPr id="9" name="TextBox 8"/>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Mastercard Innovation Challenge 2026  ·  Global Fintech Fest, Mumbai</a:t>
            </a:r>
          </a:p>
        </p:txBody>
      </p:sp>
      <p:sp>
        <p:nvSpPr>
          <p:cNvPr id="10" name="TextBox 9"/>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E8505B"/>
                </a:solidFill>
                <a:latin typeface="Arial"/>
              </a:rPr>
              <a:t>CRITERION 1 · DIVERSITY OF ATTACKS</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We did not list attacks. We generated a language for them.</a:t>
            </a:r>
          </a:p>
        </p:txBody>
      </p:sp>
      <p:sp>
        <p:nvSpPr>
          <p:cNvPr id="5" name="Rectangle 4"/>
          <p:cNvSpPr/>
          <p:nvPr/>
        </p:nvSpPr>
        <p:spPr>
          <a:xfrm>
            <a:off x="548640" y="1298448"/>
            <a:ext cx="1280160" cy="22860"/>
          </a:xfrm>
          <a:prstGeom prst="rect">
            <a:avLst/>
          </a:prstGeom>
          <a:solidFill>
            <a:srgbClr val="E85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2</a:t>
            </a:r>
          </a:p>
        </p:txBody>
      </p:sp>
      <p:pic>
        <p:nvPicPr>
          <p:cNvPr id="8" name="Picture 7" descr="funnel.png"/>
          <p:cNvPicPr>
            <a:picLocks noChangeAspect="1"/>
          </p:cNvPicPr>
          <p:nvPr/>
        </p:nvPicPr>
        <p:blipFill>
          <a:blip r:embed="rId2"/>
          <a:stretch>
            <a:fillRect/>
          </a:stretch>
        </p:blipFill>
        <p:spPr>
          <a:xfrm>
            <a:off x="1607864" y="1536192"/>
            <a:ext cx="8945791" cy="2286000"/>
          </a:xfrm>
          <a:prstGeom prst="rect">
            <a:avLst/>
          </a:prstGeom>
        </p:spPr>
      </p:pic>
      <p:sp>
        <p:nvSpPr>
          <p:cNvPr id="9" name="TextBox 8"/>
          <p:cNvSpPr txBox="1"/>
          <p:nvPr/>
        </p:nvSpPr>
        <p:spPr>
          <a:xfrm>
            <a:off x="548640" y="3977639"/>
            <a:ext cx="11064240" cy="2286000"/>
          </a:xfrm>
          <a:prstGeom prst="rect">
            <a:avLst/>
          </a:prstGeom>
          <a:noFill/>
        </p:spPr>
        <p:txBody>
          <a:bodyPr wrap="square" anchor="t">
            <a:normAutofit/>
          </a:bodyPr>
          <a:lstStyle/>
          <a:p>
            <a:pPr algn="l">
              <a:spcAft>
                <a:spcPts val="1100"/>
              </a:spcAft>
            </a:pPr>
            <a:r>
              <a:rPr sz="1400" b="0">
                <a:solidFill>
                  <a:srgbClr val="F2F2F5"/>
                </a:solidFill>
                <a:latin typeface="Arial"/>
              </a:rPr>
              <a:t>A six-slot typed grammar: ACCESS 8 × TRUST 7 × RAIL 12 × EVASION 8 × MONETISATION 7 × LABEL 5. The 172,889 rejected strings are physically impossible on the rail — a beneficiary leg on AePS, which terminates in cash.</a:t>
            </a:r>
          </a:p>
          <a:p>
            <a:pPr>
              <a:spcAft>
                <a:spcPts val="1100"/>
              </a:spcAft>
            </a:pPr>
            <a:r>
              <a:rPr sz="1400" b="0">
                <a:solidFill>
                  <a:srgbClr val="F2F2F5"/>
                </a:solidFill>
                <a:latin typeface="Arial"/>
              </a:rPr>
              <a:t>51 seed families across 12 rails — UPI pay / collect / autopay / Lite-offline · card CNP-3DS / CNP-keyed / CP-EMV / clearing-dispute / token-provisioning · A2A · AePS-microATM · agentic-commerce</a:t>
            </a:r>
          </a:p>
          <a:p>
            <a:pPr>
              <a:spcAft>
                <a:spcPts val="1100"/>
              </a:spcAft>
            </a:pPr>
            <a:r>
              <a:rPr sz="1400" b="0">
                <a:solidFill>
                  <a:srgbClr val="F5B14C"/>
                </a:solidFill>
                <a:latin typeface="Arial"/>
              </a:rPr>
              <a:t>The archive coverage ceiling is 70.5%, and we publish it rather than hide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rchitecture-dark.png"/>
          <p:cNvPicPr>
            <a:picLocks noChangeAspect="1"/>
          </p:cNvPicPr>
          <p:nvPr/>
        </p:nvPicPr>
        <p:blipFill>
          <a:blip r:embed="rId2"/>
          <a:stretch>
            <a:fillRect/>
          </a:stretch>
        </p:blipFill>
        <p:spPr>
          <a:xfrm>
            <a:off x="1471935" y="164592"/>
            <a:ext cx="9245082" cy="6053328"/>
          </a:xfrm>
          <a:prstGeom prst="rect">
            <a:avLst/>
          </a:prstGeom>
        </p:spPr>
      </p:pic>
      <p:sp>
        <p:nvSpPr>
          <p:cNvPr id="4" name="TextBox 3"/>
          <p:cNvSpPr txBox="1"/>
          <p:nvPr/>
        </p:nvSpPr>
        <p:spPr>
          <a:xfrm>
            <a:off x="548640" y="6327648"/>
            <a:ext cx="11064240" cy="384048"/>
          </a:xfrm>
          <a:prstGeom prst="rect">
            <a:avLst/>
          </a:prstGeom>
          <a:noFill/>
        </p:spPr>
        <p:txBody>
          <a:bodyPr wrap="square" anchor="t">
            <a:normAutofit/>
          </a:bodyPr>
          <a:lstStyle/>
          <a:p>
            <a:pPr algn="l">
              <a:spcAft>
                <a:spcPts val="0"/>
              </a:spcAft>
            </a:pPr>
            <a:r>
              <a:rPr sz="1050" b="0">
                <a:solidFill>
                  <a:srgbClr val="F5B14C"/>
                </a:solidFill>
                <a:latin typeface="Arial"/>
              </a:rPr>
              <a:t>Figure 1 carries DESIGN TARGETS from the planning phase. Every number in this deck is a MEASURED result and supersedes it — e.g. ~380 features → 392, and 9k–15k type-legal → 15,271.</a:t>
            </a:r>
          </a:p>
        </p:txBody>
      </p:sp>
      <p:sp>
        <p:nvSpPr>
          <p:cNvPr id="5" name="TextBox 4"/>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6" name="TextBox 5"/>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3DD68C"/>
                </a:solidFill>
                <a:latin typeface="Arial"/>
              </a:rPr>
              <a:t>CRITERION 2 · FIDELITY OF SIMULATION</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The build refuses to emit a stream that breaks rail semantics</a:t>
            </a:r>
          </a:p>
        </p:txBody>
      </p:sp>
      <p:sp>
        <p:nvSpPr>
          <p:cNvPr id="5" name="Rectangle 4"/>
          <p:cNvSpPr/>
          <p:nvPr/>
        </p:nvSpPr>
        <p:spPr>
          <a:xfrm>
            <a:off x="548640" y="1298448"/>
            <a:ext cx="1280160" cy="22860"/>
          </a:xfrm>
          <a:prstGeom prst="rect">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4</a:t>
            </a:r>
          </a:p>
        </p:txBody>
      </p:sp>
      <p:sp>
        <p:nvSpPr>
          <p:cNvPr id="8" name="Rectangle 7"/>
          <p:cNvSpPr/>
          <p:nvPr/>
        </p:nvSpPr>
        <p:spPr>
          <a:xfrm>
            <a:off x="548640" y="1572768"/>
            <a:ext cx="2670048" cy="1051560"/>
          </a:xfrm>
          <a:prstGeom prst="rect">
            <a:avLst/>
          </a:prstGeom>
          <a:solidFill>
            <a:srgbClr val="15161D"/>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300" b="1">
                <a:solidFill>
                  <a:srgbClr val="3DD68C"/>
                </a:solidFill>
                <a:latin typeface="Arial"/>
              </a:rPr>
              <a:t>126</a:t>
            </a:r>
            <a:br/>
            <a:r>
              <a:rPr sz="1300" b="1">
                <a:solidFill>
                  <a:srgbClr val="3DD68C"/>
                </a:solidFill>
                <a:latin typeface="Arial"/>
              </a:rPr>
              <a:t>rail invariants, as BUILD GATES</a:t>
            </a:r>
          </a:p>
        </p:txBody>
      </p:sp>
      <p:sp>
        <p:nvSpPr>
          <p:cNvPr id="9" name="Rectangle 8"/>
          <p:cNvSpPr/>
          <p:nvPr/>
        </p:nvSpPr>
        <p:spPr>
          <a:xfrm>
            <a:off x="3364992" y="1572768"/>
            <a:ext cx="2670048" cy="1051560"/>
          </a:xfrm>
          <a:prstGeom prst="rect">
            <a:avLst/>
          </a:prstGeom>
          <a:solidFill>
            <a:srgbClr val="15161D"/>
          </a:solidFill>
          <a:ln w="15240">
            <a:solidFill>
              <a:srgbClr val="F2F2F5"/>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300" b="1">
                <a:solidFill>
                  <a:srgbClr val="F2F2F5"/>
                </a:solidFill>
                <a:latin typeface="Arial"/>
              </a:rPr>
              <a:t>9,899,667</a:t>
            </a:r>
            <a:br/>
            <a:r>
              <a:rPr sz="1300" b="1">
                <a:solidFill>
                  <a:srgbClr val="F2F2F5"/>
                </a:solidFill>
                <a:latin typeface="Arial"/>
              </a:rPr>
              <a:t>events · 374,077 labels</a:t>
            </a:r>
          </a:p>
        </p:txBody>
      </p:sp>
      <p:sp>
        <p:nvSpPr>
          <p:cNvPr id="10" name="Rectangle 9"/>
          <p:cNvSpPr/>
          <p:nvPr/>
        </p:nvSpPr>
        <p:spPr>
          <a:xfrm>
            <a:off x="6181344" y="1572768"/>
            <a:ext cx="2670048" cy="1051560"/>
          </a:xfrm>
          <a:prstGeom prst="rect">
            <a:avLst/>
          </a:prstGeom>
          <a:solidFill>
            <a:srgbClr val="15161D"/>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300" b="1">
                <a:solidFill>
                  <a:srgbClr val="3DD68C"/>
                </a:solidFill>
                <a:latin typeface="Arial"/>
              </a:rPr>
              <a:t>4.1× → 1.38×</a:t>
            </a:r>
            <a:br/>
            <a:r>
              <a:rPr sz="1300" b="1">
                <a:solidFill>
                  <a:srgbClr val="3DD68C"/>
                </a:solidFill>
                <a:latin typeface="Arial"/>
              </a:rPr>
              <a:t>base-rate error, after control</a:t>
            </a:r>
          </a:p>
        </p:txBody>
      </p:sp>
      <p:sp>
        <p:nvSpPr>
          <p:cNvPr id="11" name="Rectangle 10"/>
          <p:cNvSpPr/>
          <p:nvPr/>
        </p:nvSpPr>
        <p:spPr>
          <a:xfrm>
            <a:off x="8997696" y="1572768"/>
            <a:ext cx="2670048" cy="1051560"/>
          </a:xfrm>
          <a:prstGeom prst="rect">
            <a:avLst/>
          </a:prstGeom>
          <a:solidFill>
            <a:srgbClr val="15161D"/>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300" b="1">
                <a:solidFill>
                  <a:srgbClr val="3DD68C"/>
                </a:solidFill>
                <a:latin typeface="Arial"/>
              </a:rPr>
              <a:t>0</a:t>
            </a:r>
            <a:br/>
            <a:r>
              <a:rPr sz="1300" b="1">
                <a:solidFill>
                  <a:srgbClr val="3DD68C"/>
                </a:solidFill>
                <a:latin typeface="Arial"/>
              </a:rPr>
              <a:t>unresolved observables</a:t>
            </a:r>
          </a:p>
        </p:txBody>
      </p:sp>
      <p:sp>
        <p:nvSpPr>
          <p:cNvPr id="12" name="TextBox 11"/>
          <p:cNvSpPr txBox="1"/>
          <p:nvPr/>
        </p:nvSpPr>
        <p:spPr>
          <a:xfrm>
            <a:off x="548640" y="2788920"/>
            <a:ext cx="11064240" cy="3520440"/>
          </a:xfrm>
          <a:prstGeom prst="rect">
            <a:avLst/>
          </a:prstGeom>
          <a:noFill/>
        </p:spPr>
        <p:txBody>
          <a:bodyPr wrap="square" anchor="t">
            <a:normAutofit/>
          </a:bodyPr>
          <a:lstStyle/>
          <a:p>
            <a:pPr algn="l">
              <a:spcAft>
                <a:spcPts val="1400"/>
              </a:spcAft>
            </a:pPr>
            <a:r>
              <a:rPr sz="1500" b="0">
                <a:solidFill>
                  <a:srgbClr val="F2F2F5"/>
                </a:solidFill>
                <a:latin typeface="Arial"/>
              </a:rPr>
              <a:t>Message ordering per rail — authorisation before presentment; presentment spills to T+1, never backwards. Derived legs strictly after their antecedent. One hour-convention chokepoint (HOUR_MAX = 23.99).</a:t>
            </a:r>
          </a:p>
          <a:p>
            <a:pPr>
              <a:spcAft>
                <a:spcPts val="1400"/>
              </a:spcAft>
            </a:pPr>
            <a:r>
              <a:rPr sz="1500" b="0">
                <a:solidFill>
                  <a:srgbClr val="F2F2F5"/>
                </a:solidFill>
                <a:latin typeface="Arial"/>
              </a:rPr>
              <a:t>236 distinct observables resolved: 58 schema-tier · 115 feature-tier · 63 design-only.</a:t>
            </a:r>
          </a:p>
          <a:p>
            <a:pPr>
              <a:spcAft>
                <a:spcPts val="1400"/>
              </a:spcAft>
            </a:pPr>
            <a:r>
              <a:rPr sz="1500" b="0">
                <a:solidFill>
                  <a:srgbClr val="3DD68C"/>
                </a:solidFill>
                <a:latin typeface="Arial"/>
              </a:rPr>
              <a:t>Realised attack share π = 0.0069 against a configured 0.0050 — and the trainer uses the REALISED value, because nnPU's risk estimator is parameterised by it.</a:t>
            </a:r>
          </a:p>
          <a:p>
            <a:pPr>
              <a:spcAft>
                <a:spcPts val="1400"/>
              </a:spcAft>
            </a:pPr>
            <a:r>
              <a:rPr sz="1500" b="0">
                <a:solidFill>
                  <a:srgbClr val="F5B14C"/>
                </a:solidFill>
                <a:latin typeface="Arial"/>
              </a:rPr>
              <a:t>These are gates, not tests. At one point they failed the build 13,009 times and we fixed the generator, not the invariants.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4A9EFF"/>
                </a:solidFill>
                <a:latin typeface="Arial"/>
              </a:rPr>
              <a:t>THE MECHANISM</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The loop, closing</a:t>
            </a:r>
          </a:p>
        </p:txBody>
      </p:sp>
      <p:sp>
        <p:nvSpPr>
          <p:cNvPr id="5" name="Rectangle 4"/>
          <p:cNvSpPr/>
          <p:nvPr/>
        </p:nvSpPr>
        <p:spPr>
          <a:xfrm>
            <a:off x="548640" y="1298448"/>
            <a:ext cx="1280160" cy="2286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5</a:t>
            </a:r>
          </a:p>
        </p:txBody>
      </p:sp>
      <p:sp>
        <p:nvSpPr>
          <p:cNvPr id="8" name="Rectangle 7"/>
          <p:cNvSpPr/>
          <p:nvPr/>
        </p:nvSpPr>
        <p:spPr>
          <a:xfrm>
            <a:off x="548640" y="1572768"/>
            <a:ext cx="11064240" cy="822960"/>
          </a:xfrm>
          <a:prstGeom prst="rect">
            <a:avLst/>
          </a:prstGeom>
          <a:solidFill>
            <a:srgbClr val="15161D"/>
          </a:solidFill>
          <a:ln w="15875">
            <a:solidFill>
              <a:srgbClr val="E85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64208"/>
            <a:ext cx="10515600" cy="731520"/>
          </a:xfrm>
          <a:prstGeom prst="rect">
            <a:avLst/>
          </a:prstGeom>
          <a:noFill/>
        </p:spPr>
        <p:txBody>
          <a:bodyPr wrap="square" anchor="t">
            <a:normAutofit/>
          </a:bodyPr>
          <a:lstStyle/>
          <a:p>
            <a:pPr algn="l">
              <a:spcAft>
                <a:spcPts val="200"/>
              </a:spcAft>
            </a:pPr>
            <a:r>
              <a:rPr sz="1400" b="1">
                <a:solidFill>
                  <a:srgbClr val="E8505B"/>
                </a:solidFill>
                <a:latin typeface="Arial"/>
              </a:rPr>
              <a:t>IDENTIFY</a:t>
            </a:r>
          </a:p>
          <a:p>
            <a:pPr>
              <a:spcAft>
                <a:spcPts val="0"/>
              </a:spcAft>
            </a:pPr>
            <a:r>
              <a:rPr sz="1250" b="0">
                <a:solidFill>
                  <a:srgbClr val="F2F2F5"/>
                </a:solidFill>
                <a:latin typeface="Arial"/>
              </a:rPr>
              <a:t>typed grammar · 51 seed families · an LLM as a variation operator, called once per tick and never per transaction</a:t>
            </a:r>
          </a:p>
        </p:txBody>
      </p:sp>
      <p:sp>
        <p:nvSpPr>
          <p:cNvPr id="10" name="Rectangle 9"/>
          <p:cNvSpPr/>
          <p:nvPr/>
        </p:nvSpPr>
        <p:spPr>
          <a:xfrm>
            <a:off x="548640" y="2532888"/>
            <a:ext cx="11064240" cy="822960"/>
          </a:xfrm>
          <a:prstGeom prst="rect">
            <a:avLst/>
          </a:prstGeom>
          <a:solidFill>
            <a:srgbClr val="15161D"/>
          </a:solidFill>
          <a:ln w="15875">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24328"/>
            <a:ext cx="10515600" cy="731520"/>
          </a:xfrm>
          <a:prstGeom prst="rect">
            <a:avLst/>
          </a:prstGeom>
          <a:noFill/>
        </p:spPr>
        <p:txBody>
          <a:bodyPr wrap="square" anchor="t">
            <a:normAutofit/>
          </a:bodyPr>
          <a:lstStyle/>
          <a:p>
            <a:pPr algn="l">
              <a:spcAft>
                <a:spcPts val="200"/>
              </a:spcAft>
            </a:pPr>
            <a:r>
              <a:rPr sz="1400" b="1">
                <a:solidFill>
                  <a:srgbClr val="3DD68C"/>
                </a:solidFill>
                <a:latin typeface="Arial"/>
              </a:rPr>
              <a:t>GENERATE</a:t>
            </a:r>
          </a:p>
          <a:p>
            <a:pPr>
              <a:spcAft>
                <a:spcPts val="0"/>
              </a:spcAft>
            </a:pPr>
            <a:r>
              <a:rPr sz="1250" b="0">
                <a:solidFill>
                  <a:srgbClr val="F2F2F5"/>
                </a:solidFill>
                <a:latin typeface="Arial"/>
              </a:rPr>
              <a:t>one deterministic seeded process · 9.9M events · 12 rails · an incumbent policy shadow · a label engine with three latencies</a:t>
            </a:r>
          </a:p>
        </p:txBody>
      </p:sp>
      <p:sp>
        <p:nvSpPr>
          <p:cNvPr id="12" name="Rectangle 11"/>
          <p:cNvSpPr/>
          <p:nvPr/>
        </p:nvSpPr>
        <p:spPr>
          <a:xfrm>
            <a:off x="548640" y="3493008"/>
            <a:ext cx="11064240" cy="822960"/>
          </a:xfrm>
          <a:prstGeom prst="rect">
            <a:avLst/>
          </a:prstGeom>
          <a:solidFill>
            <a:srgbClr val="15161D"/>
          </a:solidFill>
          <a:ln w="15875">
            <a:solidFill>
              <a:srgbClr val="4A9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584448"/>
            <a:ext cx="10515600" cy="731520"/>
          </a:xfrm>
          <a:prstGeom prst="rect">
            <a:avLst/>
          </a:prstGeom>
          <a:noFill/>
        </p:spPr>
        <p:txBody>
          <a:bodyPr wrap="square" anchor="t">
            <a:normAutofit/>
          </a:bodyPr>
          <a:lstStyle/>
          <a:p>
            <a:pPr algn="l">
              <a:spcAft>
                <a:spcPts val="200"/>
              </a:spcAft>
            </a:pPr>
            <a:r>
              <a:rPr sz="1400" b="1">
                <a:solidFill>
                  <a:srgbClr val="4A9EFF"/>
                </a:solidFill>
                <a:latin typeface="Arial"/>
              </a:rPr>
              <a:t>DEFEND</a:t>
            </a:r>
          </a:p>
          <a:p>
            <a:pPr>
              <a:spcAft>
                <a:spcPts val="0"/>
              </a:spcAft>
            </a:pPr>
            <a:r>
              <a:rPr sz="1250" b="0">
                <a:solidFill>
                  <a:srgbClr val="F2F2F5"/>
                </a:solidFill>
                <a:latin typeface="Arial"/>
              </a:rPr>
              <a:t>G0 invariant guards → G1 supervised → G2 conformal + density → fusion → a three-band action table</a:t>
            </a:r>
          </a:p>
        </p:txBody>
      </p:sp>
      <p:sp>
        <p:nvSpPr>
          <p:cNvPr id="14" name="Rectangle 13"/>
          <p:cNvSpPr/>
          <p:nvPr/>
        </p:nvSpPr>
        <p:spPr>
          <a:xfrm>
            <a:off x="548640" y="4572000"/>
            <a:ext cx="11064240" cy="1463040"/>
          </a:xfrm>
          <a:prstGeom prst="rect">
            <a:avLst/>
          </a:prstGeom>
          <a:solidFill>
            <a:srgbClr val="15161D"/>
          </a:solidFill>
          <a:ln w="1905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709160"/>
            <a:ext cx="10424160" cy="1280160"/>
          </a:xfrm>
          <a:prstGeom prst="rect">
            <a:avLst/>
          </a:prstGeom>
          <a:noFill/>
        </p:spPr>
        <p:txBody>
          <a:bodyPr wrap="square" anchor="t">
            <a:normAutofit/>
          </a:bodyPr>
          <a:lstStyle/>
          <a:p>
            <a:pPr algn="l">
              <a:spcAft>
                <a:spcPts val="500"/>
              </a:spcAft>
            </a:pPr>
            <a:r>
              <a:rPr sz="1300" b="1">
                <a:solidFill>
                  <a:srgbClr val="F5B14C"/>
                </a:solidFill>
                <a:latin typeface="Arial"/>
              </a:rPr>
              <a:t>THE RETURN PATH IS THE POINT</a:t>
            </a:r>
          </a:p>
          <a:p>
            <a:pPr>
              <a:spcAft>
                <a:spcPts val="0"/>
              </a:spcAft>
            </a:pPr>
            <a:r>
              <a:rPr sz="1350" b="0">
                <a:solidFill>
                  <a:srgbClr val="F2F2F5"/>
                </a:solidFill>
                <a:latin typeface="Arial"/>
              </a:rPr>
              <a:t>MAP-Elites curriculum → Watkins Q(λ) campaign MDP → Thompson bandit over families. Archive cells where the defence detects nothing get sampled MORE. One tick = archive-select → plan → execute → score → mine → forge.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F5B14C"/>
                </a:solidFill>
                <a:latin typeface="Arial"/>
              </a:rPr>
              <a:t>WHY THIS PROBLEM IS HARD</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Labels do not exist when you need them</a:t>
            </a:r>
          </a:p>
        </p:txBody>
      </p:sp>
      <p:sp>
        <p:nvSpPr>
          <p:cNvPr id="5" name="Rectangle 4"/>
          <p:cNvSpPr/>
          <p:nvPr/>
        </p:nvSpPr>
        <p:spPr>
          <a:xfrm>
            <a:off x="548640" y="1298448"/>
            <a:ext cx="1280160" cy="22860"/>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6</a:t>
            </a:r>
          </a:p>
        </p:txBody>
      </p:sp>
      <p:pic>
        <p:nvPicPr>
          <p:cNvPr id="8" name="Picture 7" descr="maturity.png"/>
          <p:cNvPicPr>
            <a:picLocks noChangeAspect="1"/>
          </p:cNvPicPr>
          <p:nvPr/>
        </p:nvPicPr>
        <p:blipFill>
          <a:blip r:embed="rId2"/>
          <a:stretch>
            <a:fillRect/>
          </a:stretch>
        </p:blipFill>
        <p:spPr>
          <a:xfrm>
            <a:off x="1624036" y="1554480"/>
            <a:ext cx="2786968" cy="3200400"/>
          </a:xfrm>
          <a:prstGeom prst="rect">
            <a:avLst/>
          </a:prstGeom>
        </p:spPr>
      </p:pic>
      <p:graphicFrame>
        <p:nvGraphicFramePr>
          <p:cNvPr id="9" name="Table 8"/>
          <p:cNvGraphicFramePr>
            <a:graphicFrameLocks noGrp="1"/>
          </p:cNvGraphicFramePr>
          <p:nvPr/>
        </p:nvGraphicFramePr>
        <p:xfrm>
          <a:off x="5760720" y="1691640"/>
          <a:ext cx="5852160" cy="1720532"/>
        </p:xfrm>
        <a:graphic>
          <a:graphicData uri="http://schemas.openxmlformats.org/drawingml/2006/table">
            <a:tbl>
              <a:tblPr firstRow="1" bandRow="1">
                <a:tableStyleId>{5C22544A-7EE6-4342-B048-85BDC9FD1C3A}</a:tableStyleId>
              </a:tblPr>
              <a:tblGrid>
                <a:gridCol w="3657600"/>
                <a:gridCol w="2194560"/>
              </a:tblGrid>
              <a:tr h="430133">
                <a:tc>
                  <a:txBody>
                    <a:bodyPr wrap="square"/>
                    <a:lstStyle/>
                    <a:p>
                      <a:r>
                        <a:rPr sz="1200" b="1">
                          <a:solidFill>
                            <a:srgbClr val="F5B14C"/>
                          </a:solidFill>
                          <a:latin typeface="Arial"/>
                        </a:rPr>
                        <a:t>label channel</a:t>
                      </a:r>
                    </a:p>
                  </a:txBody>
                  <a:tcPr marL="91440" marR="91440" marT="18288" marB="18288" anchor="ctr">
                    <a:solidFill>
                      <a:srgbClr val="0B0B0F"/>
                    </a:solidFill>
                  </a:tcPr>
                </a:tc>
                <a:tc>
                  <a:txBody>
                    <a:bodyPr wrap="square"/>
                    <a:lstStyle/>
                    <a:p>
                      <a:r>
                        <a:rPr sz="1200" b="1">
                          <a:solidFill>
                            <a:srgbClr val="F5B14C"/>
                          </a:solidFill>
                          <a:latin typeface="Arial"/>
                        </a:rPr>
                        <a:t>latency</a:t>
                      </a:r>
                    </a:p>
                  </a:txBody>
                  <a:tcPr marL="91440" marR="91440" marT="18288" marB="18288" anchor="ctr">
                    <a:solidFill>
                      <a:srgbClr val="0B0B0F"/>
                    </a:solidFill>
                  </a:tcPr>
                </a:tc>
              </a:tr>
              <a:tr h="430133">
                <a:tc>
                  <a:txBody>
                    <a:bodyPr wrap="square"/>
                    <a:lstStyle/>
                    <a:p>
                      <a:r>
                        <a:rPr sz="1300" b="0">
                          <a:solidFill>
                            <a:srgbClr val="F2F2F5"/>
                          </a:solidFill>
                          <a:latin typeface="Arial"/>
                        </a:rPr>
                        <a:t>analyst disposition</a:t>
                      </a:r>
                    </a:p>
                  </a:txBody>
                  <a:tcPr marL="91440" marR="91440" marT="18288" marB="18288" anchor="ctr">
                    <a:solidFill>
                      <a:srgbClr val="15161D"/>
                    </a:solidFill>
                  </a:tcPr>
                </a:tc>
                <a:tc>
                  <a:txBody>
                    <a:bodyPr wrap="square"/>
                    <a:lstStyle/>
                    <a:p>
                      <a:r>
                        <a:rPr sz="1300" b="0">
                          <a:solidFill>
                            <a:srgbClr val="F2F2F5"/>
                          </a:solidFill>
                          <a:latin typeface="Arial"/>
                        </a:rPr>
                        <a:t>hours</a:t>
                      </a:r>
                    </a:p>
                  </a:txBody>
                  <a:tcPr marL="91440" marR="91440" marT="18288" marB="18288" anchor="ctr">
                    <a:solidFill>
                      <a:srgbClr val="15161D"/>
                    </a:solidFill>
                  </a:tcPr>
                </a:tc>
              </a:tr>
              <a:tr h="430133">
                <a:tc>
                  <a:txBody>
                    <a:bodyPr wrap="square"/>
                    <a:lstStyle/>
                    <a:p>
                      <a:r>
                        <a:rPr sz="1300" b="0">
                          <a:solidFill>
                            <a:srgbClr val="F2F2F5"/>
                          </a:solidFill>
                          <a:latin typeface="Arial"/>
                        </a:rPr>
                        <a:t>issuer tag</a:t>
                      </a:r>
                    </a:p>
                  </a:txBody>
                  <a:tcPr marL="91440" marR="91440" marT="18288" marB="18288" anchor="ctr">
                    <a:solidFill>
                      <a:srgbClr val="15161D"/>
                    </a:solidFill>
                  </a:tcPr>
                </a:tc>
                <a:tc>
                  <a:txBody>
                    <a:bodyPr wrap="square"/>
                    <a:lstStyle/>
                    <a:p>
                      <a:r>
                        <a:rPr sz="1300" b="0">
                          <a:solidFill>
                            <a:srgbClr val="F2F2F5"/>
                          </a:solidFill>
                          <a:latin typeface="Arial"/>
                        </a:rPr>
                        <a:t>days</a:t>
                      </a:r>
                    </a:p>
                  </a:txBody>
                  <a:tcPr marL="91440" marR="91440" marT="18288" marB="18288" anchor="ctr">
                    <a:solidFill>
                      <a:srgbClr val="15161D"/>
                    </a:solidFill>
                  </a:tcPr>
                </a:tc>
              </a:tr>
              <a:tr h="430133">
                <a:tc>
                  <a:txBody>
                    <a:bodyPr wrap="square"/>
                    <a:lstStyle/>
                    <a:p>
                      <a:r>
                        <a:rPr sz="1300" b="0">
                          <a:solidFill>
                            <a:srgbClr val="F2F2F5"/>
                          </a:solidFill>
                          <a:latin typeface="Arial"/>
                        </a:rPr>
                        <a:t>chargeback / network report</a:t>
                      </a:r>
                    </a:p>
                  </a:txBody>
                  <a:tcPr marL="91440" marR="91440" marT="18288" marB="18288" anchor="ctr">
                    <a:solidFill>
                      <a:srgbClr val="15161D"/>
                    </a:solidFill>
                  </a:tcPr>
                </a:tc>
                <a:tc>
                  <a:txBody>
                    <a:bodyPr wrap="square"/>
                    <a:lstStyle/>
                    <a:p>
                      <a:r>
                        <a:rPr sz="1300" b="0">
                          <a:solidFill>
                            <a:srgbClr val="F2F2F5"/>
                          </a:solidFill>
                          <a:latin typeface="Arial"/>
                        </a:rPr>
                        <a:t>45–120 DAYS</a:t>
                      </a:r>
                    </a:p>
                  </a:txBody>
                  <a:tcPr marL="91440" marR="91440" marT="18288" marB="18288" anchor="ctr">
                    <a:solidFill>
                      <a:srgbClr val="15161D"/>
                    </a:solidFill>
                  </a:tcPr>
                </a:tc>
              </a:tr>
            </a:tbl>
          </a:graphicData>
        </a:graphic>
      </p:graphicFrame>
      <p:sp>
        <p:nvSpPr>
          <p:cNvPr id="10" name="TextBox 9"/>
          <p:cNvSpPr txBox="1"/>
          <p:nvPr/>
        </p:nvSpPr>
        <p:spPr>
          <a:xfrm>
            <a:off x="5760720" y="3429000"/>
            <a:ext cx="5852160" cy="2377440"/>
          </a:xfrm>
          <a:prstGeom prst="rect">
            <a:avLst/>
          </a:prstGeom>
          <a:noFill/>
        </p:spPr>
        <p:txBody>
          <a:bodyPr wrap="square" anchor="t">
            <a:normAutofit/>
          </a:bodyPr>
          <a:lstStyle/>
          <a:p>
            <a:pPr algn="l">
              <a:spcAft>
                <a:spcPts val="1100"/>
              </a:spcAft>
            </a:pPr>
            <a:r>
              <a:rPr sz="1350" b="0">
                <a:solidFill>
                  <a:srgbClr val="3DD68C"/>
                </a:solidFill>
                <a:latin typeface="Arial"/>
              </a:rPr>
              <a:t>We train with nnPU at the realised prior, IPW reject inference against the logged incumbent policy, and label-maturity weights.</a:t>
            </a:r>
          </a:p>
          <a:p>
            <a:pPr>
              <a:spcAft>
                <a:spcPts val="1100"/>
              </a:spcAft>
            </a:pPr>
            <a:r>
              <a:rPr sz="1350" b="0">
                <a:solidFill>
                  <a:srgbClr val="F2F2F5"/>
                </a:solidFill>
                <a:latin typeface="Arial"/>
              </a:rPr>
              <a:t>Treating unlabelled as legitimate is the notebook default — and it teaches the model that absence of a complaint is evidence of innocence.</a:t>
            </a:r>
          </a:p>
        </p:txBody>
      </p:sp>
      <p:sp>
        <p:nvSpPr>
          <p:cNvPr id="11" name="TextBox 10"/>
          <p:cNvSpPr txBox="1"/>
          <p:nvPr/>
        </p:nvSpPr>
        <p:spPr>
          <a:xfrm>
            <a:off x="548640" y="5029200"/>
            <a:ext cx="4937760" cy="1097280"/>
          </a:xfrm>
          <a:prstGeom prst="rect">
            <a:avLst/>
          </a:prstGeom>
          <a:noFill/>
        </p:spPr>
        <p:txBody>
          <a:bodyPr wrap="square" anchor="t">
            <a:normAutofit/>
          </a:bodyPr>
          <a:lstStyle/>
          <a:p>
            <a:pPr algn="l">
              <a:spcAft>
                <a:spcPts val="1100"/>
              </a:spcAft>
            </a:pPr>
            <a:r>
              <a:rPr sz="1300" b="0">
                <a:solidFill>
                  <a:srgbClr val="F5B14C"/>
                </a:solidFill>
                <a:latin typeface="Arial"/>
              </a:rPr>
              <a:t>This is the constraint that bounds our result — and the reason the baseline on slide 13 beats 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3DD68C"/>
                </a:solidFill>
                <a:latin typeface="Arial"/>
              </a:rPr>
              <a:t>TRUSTWORTHINESS</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Six leakage controls — any failure fails the build</a:t>
            </a:r>
          </a:p>
        </p:txBody>
      </p:sp>
      <p:sp>
        <p:nvSpPr>
          <p:cNvPr id="5" name="Rectangle 4"/>
          <p:cNvSpPr/>
          <p:nvPr/>
        </p:nvSpPr>
        <p:spPr>
          <a:xfrm>
            <a:off x="548640" y="1298448"/>
            <a:ext cx="1280160" cy="22860"/>
          </a:xfrm>
          <a:prstGeom prst="rect">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7</a:t>
            </a:r>
          </a:p>
        </p:txBody>
      </p:sp>
      <p:graphicFrame>
        <p:nvGraphicFramePr>
          <p:cNvPr id="8" name="Table 7"/>
          <p:cNvGraphicFramePr>
            <a:graphicFrameLocks noGrp="1"/>
          </p:cNvGraphicFramePr>
          <p:nvPr/>
        </p:nvGraphicFramePr>
        <p:xfrm>
          <a:off x="548640" y="1554480"/>
          <a:ext cx="11064240" cy="3154312"/>
        </p:xfrm>
        <a:graphic>
          <a:graphicData uri="http://schemas.openxmlformats.org/drawingml/2006/table">
            <a:tbl>
              <a:tblPr firstRow="1" bandRow="1">
                <a:tableStyleId>{5C22544A-7EE6-4342-B048-85BDC9FD1C3A}</a:tableStyleId>
              </a:tblPr>
              <a:tblGrid>
                <a:gridCol w="2743200"/>
                <a:gridCol w="7223760"/>
                <a:gridCol w="1097280"/>
              </a:tblGrid>
              <a:tr h="450616">
                <a:tc>
                  <a:txBody>
                    <a:bodyPr wrap="square"/>
                    <a:lstStyle/>
                    <a:p>
                      <a:r>
                        <a:rPr sz="1150" b="1">
                          <a:solidFill>
                            <a:srgbClr val="3DD68C"/>
                          </a:solidFill>
                          <a:latin typeface="Arial"/>
                        </a:rPr>
                        <a:t>control</a:t>
                      </a:r>
                    </a:p>
                  </a:txBody>
                  <a:tcPr marL="91440" marR="91440" marT="18288" marB="18288" anchor="ctr">
                    <a:solidFill>
                      <a:srgbClr val="0B0B0F"/>
                    </a:solidFill>
                  </a:tcPr>
                </a:tc>
                <a:tc>
                  <a:txBody>
                    <a:bodyPr wrap="square"/>
                    <a:lstStyle/>
                    <a:p>
                      <a:r>
                        <a:rPr sz="1150" b="1">
                          <a:solidFill>
                            <a:srgbClr val="3DD68C"/>
                          </a:solidFill>
                          <a:latin typeface="Arial"/>
                        </a:rPr>
                        <a:t>what it proves</a:t>
                      </a:r>
                    </a:p>
                  </a:txBody>
                  <a:tcPr marL="91440" marR="91440" marT="18288" marB="18288" anchor="ctr">
                    <a:solidFill>
                      <a:srgbClr val="0B0B0F"/>
                    </a:solidFill>
                  </a:tcPr>
                </a:tc>
                <a:tc>
                  <a:txBody>
                    <a:bodyPr wrap="square"/>
                    <a:lstStyle/>
                    <a:p/>
                  </a:txBody>
                  <a:tcPr marL="91440" marR="91440" marT="18288" marB="18288" anchor="ctr">
                    <a:solidFill>
                      <a:srgbClr val="0B0B0F"/>
                    </a:solidFill>
                  </a:tcPr>
                </a:tc>
              </a:tr>
              <a:tr h="450616">
                <a:tc>
                  <a:txBody>
                    <a:bodyPr wrap="square"/>
                    <a:lstStyle/>
                    <a:p>
                      <a:r>
                        <a:rPr sz="1250" b="0">
                          <a:solidFill>
                            <a:srgbClr val="F2F2F5"/>
                          </a:solidFill>
                          <a:latin typeface="Arial"/>
                        </a:rPr>
                        <a:t>commit_order_audit</a:t>
                      </a:r>
                    </a:p>
                  </a:txBody>
                  <a:tcPr marL="91440" marR="91440" marT="18288" marB="18288" anchor="ctr">
                    <a:solidFill>
                      <a:srgbClr val="15161D"/>
                    </a:solidFill>
                  </a:tcPr>
                </a:tc>
                <a:tc>
                  <a:txBody>
                    <a:bodyPr wrap="square"/>
                    <a:lstStyle/>
                    <a:p>
                      <a:r>
                        <a:rPr sz="1250" b="0">
                          <a:solidFill>
                            <a:srgbClr val="F2F2F5"/>
                          </a:solidFill>
                          <a:latin typeface="Arial"/>
                        </a:rPr>
                        <a:t>the sealed manifest was committed BEFORE any code under features/ or gate/</a:t>
                      </a:r>
                    </a:p>
                  </a:txBody>
                  <a:tcPr marL="91440" marR="91440" marT="18288" marB="18288" anchor="ctr">
                    <a:solidFill>
                      <a:srgbClr val="15161D"/>
                    </a:solidFill>
                  </a:tcPr>
                </a:tc>
                <a:tc>
                  <a:txBody>
                    <a:bodyPr wrap="square"/>
                    <a:lstStyle/>
                    <a:p>
                      <a:r>
                        <a:rPr sz="1250" b="0">
                          <a:solidFill>
                            <a:srgbClr val="F2F2F5"/>
                          </a:solidFill>
                          <a:latin typeface="Arial"/>
                        </a:rPr>
                        <a:t>PASS</a:t>
                      </a:r>
                    </a:p>
                  </a:txBody>
                  <a:tcPr marL="91440" marR="91440" marT="18288" marB="18288" anchor="ctr">
                    <a:solidFill>
                      <a:srgbClr val="15161D"/>
                    </a:solidFill>
                  </a:tcPr>
                </a:tc>
              </a:tr>
              <a:tr h="450616">
                <a:tc>
                  <a:txBody>
                    <a:bodyPr wrap="square"/>
                    <a:lstStyle/>
                    <a:p>
                      <a:r>
                        <a:rPr sz="1250" b="0">
                          <a:solidFill>
                            <a:srgbClr val="F2F2F5"/>
                          </a:solidFill>
                          <a:latin typeface="Arial"/>
                        </a:rPr>
                        <a:t>rng_stream_audit</a:t>
                      </a:r>
                    </a:p>
                  </a:txBody>
                  <a:tcPr marL="91440" marR="91440" marT="18288" marB="18288" anchor="ctr">
                    <a:solidFill>
                      <a:srgbClr val="15161D"/>
                    </a:solidFill>
                  </a:tcPr>
                </a:tc>
                <a:tc>
                  <a:txBody>
                    <a:bodyPr wrap="square"/>
                    <a:lstStyle/>
                    <a:p>
                      <a:r>
                        <a:rPr sz="1250" b="0">
                          <a:solidFill>
                            <a:srgbClr val="F2F2F5"/>
                          </a:solidFill>
                          <a:latin typeface="Arial"/>
                        </a:rPr>
                        <a:t>all 51 families derive distinct KDF-derived RNG streams</a:t>
                      </a:r>
                    </a:p>
                  </a:txBody>
                  <a:tcPr marL="91440" marR="91440" marT="18288" marB="18288" anchor="ctr">
                    <a:solidFill>
                      <a:srgbClr val="15161D"/>
                    </a:solidFill>
                  </a:tcPr>
                </a:tc>
                <a:tc>
                  <a:txBody>
                    <a:bodyPr wrap="square"/>
                    <a:lstStyle/>
                    <a:p>
                      <a:r>
                        <a:rPr sz="1250" b="0">
                          <a:solidFill>
                            <a:srgbClr val="F2F2F5"/>
                          </a:solidFill>
                          <a:latin typeface="Arial"/>
                        </a:rPr>
                        <a:t>PASS</a:t>
                      </a:r>
                    </a:p>
                  </a:txBody>
                  <a:tcPr marL="91440" marR="91440" marT="18288" marB="18288" anchor="ctr">
                    <a:solidFill>
                      <a:srgbClr val="15161D"/>
                    </a:solidFill>
                  </a:tcPr>
                </a:tc>
              </a:tr>
              <a:tr h="450616">
                <a:tc>
                  <a:txBody>
                    <a:bodyPr wrap="square"/>
                    <a:lstStyle/>
                    <a:p>
                      <a:r>
                        <a:rPr sz="1250" b="0">
                          <a:solidFill>
                            <a:srgbClr val="F2F2F5"/>
                          </a:solidFill>
                          <a:latin typeface="Arial"/>
                        </a:rPr>
                        <a:t>label_time_audit</a:t>
                      </a:r>
                    </a:p>
                  </a:txBody>
                  <a:tcPr marL="91440" marR="91440" marT="18288" marB="18288" anchor="ctr">
                    <a:solidFill>
                      <a:srgbClr val="15161D"/>
                    </a:solidFill>
                  </a:tcPr>
                </a:tc>
                <a:tc>
                  <a:txBody>
                    <a:bodyPr wrap="square"/>
                    <a:lstStyle/>
                    <a:p>
                      <a:r>
                        <a:rPr sz="1250" b="0">
                          <a:solidFill>
                            <a:srgbClr val="F2F2F5"/>
                          </a:solidFill>
                          <a:latin typeface="Arial"/>
                        </a:rPr>
                        <a:t>every resolved label arrived within its window and after its own event</a:t>
                      </a:r>
                    </a:p>
                  </a:txBody>
                  <a:tcPr marL="91440" marR="91440" marT="18288" marB="18288" anchor="ctr">
                    <a:solidFill>
                      <a:srgbClr val="15161D"/>
                    </a:solidFill>
                  </a:tcPr>
                </a:tc>
                <a:tc>
                  <a:txBody>
                    <a:bodyPr wrap="square"/>
                    <a:lstStyle/>
                    <a:p>
                      <a:r>
                        <a:rPr sz="1250" b="0">
                          <a:solidFill>
                            <a:srgbClr val="F2F2F5"/>
                          </a:solidFill>
                          <a:latin typeface="Arial"/>
                        </a:rPr>
                        <a:t>PASS</a:t>
                      </a:r>
                    </a:p>
                  </a:txBody>
                  <a:tcPr marL="91440" marR="91440" marT="18288" marB="18288" anchor="ctr">
                    <a:solidFill>
                      <a:srgbClr val="15161D"/>
                    </a:solidFill>
                  </a:tcPr>
                </a:tc>
              </a:tr>
              <a:tr h="450616">
                <a:tc>
                  <a:txBody>
                    <a:bodyPr wrap="square"/>
                    <a:lstStyle/>
                    <a:p>
                      <a:r>
                        <a:rPr sz="1250" b="0">
                          <a:solidFill>
                            <a:srgbClr val="F2F2F5"/>
                          </a:solidFill>
                          <a:latin typeface="Arial"/>
                        </a:rPr>
                        <a:t>entity_audit</a:t>
                      </a:r>
                    </a:p>
                  </a:txBody>
                  <a:tcPr marL="91440" marR="91440" marT="18288" marB="18288" anchor="ctr">
                    <a:solidFill>
                      <a:srgbClr val="15161D"/>
                    </a:solidFill>
                  </a:tcPr>
                </a:tc>
                <a:tc>
                  <a:txBody>
                    <a:bodyPr wrap="square"/>
                    <a:lstStyle/>
                    <a:p>
                      <a:r>
                        <a:rPr sz="1250" b="0">
                          <a:solidFill>
                            <a:srgbClr val="F2F2F5"/>
                          </a:solidFill>
                          <a:latin typeface="Arial"/>
                        </a:rPr>
                        <a:t>no entity id is shared between training rows and holdout-family rows</a:t>
                      </a:r>
                    </a:p>
                  </a:txBody>
                  <a:tcPr marL="91440" marR="91440" marT="18288" marB="18288" anchor="ctr">
                    <a:solidFill>
                      <a:srgbClr val="15161D"/>
                    </a:solidFill>
                  </a:tcPr>
                </a:tc>
                <a:tc>
                  <a:txBody>
                    <a:bodyPr wrap="square"/>
                    <a:lstStyle/>
                    <a:p>
                      <a:r>
                        <a:rPr sz="1250" b="0">
                          <a:solidFill>
                            <a:srgbClr val="F2F2F5"/>
                          </a:solidFill>
                          <a:latin typeface="Arial"/>
                        </a:rPr>
                        <a:t>PASS</a:t>
                      </a:r>
                    </a:p>
                  </a:txBody>
                  <a:tcPr marL="91440" marR="91440" marT="18288" marB="18288" anchor="ctr">
                    <a:solidFill>
                      <a:srgbClr val="15161D"/>
                    </a:solidFill>
                  </a:tcPr>
                </a:tc>
              </a:tr>
              <a:tr h="450616">
                <a:tc>
                  <a:txBody>
                    <a:bodyPr wrap="square"/>
                    <a:lstStyle/>
                    <a:p>
                      <a:r>
                        <a:rPr sz="1250" b="0">
                          <a:solidFill>
                            <a:srgbClr val="F2F2F5"/>
                          </a:solidFill>
                          <a:latin typeface="Arial"/>
                        </a:rPr>
                        <a:t>statistic_fit_audit</a:t>
                      </a:r>
                    </a:p>
                  </a:txBody>
                  <a:tcPr marL="91440" marR="91440" marT="18288" marB="18288" anchor="ctr">
                    <a:solidFill>
                      <a:srgbClr val="15161D"/>
                    </a:solidFill>
                  </a:tcPr>
                </a:tc>
                <a:tc>
                  <a:txBody>
                    <a:bodyPr wrap="square"/>
                    <a:lstStyle/>
                    <a:p>
                      <a:r>
                        <a:rPr sz="1250" b="0">
                          <a:solidFill>
                            <a:srgbClr val="F2F2F5"/>
                          </a:solidFill>
                          <a:latin typeface="Arial"/>
                        </a:rPr>
                        <a:t>cohort baselines, quantile edges, cold-start priors fitted on train only</a:t>
                      </a:r>
                    </a:p>
                  </a:txBody>
                  <a:tcPr marL="91440" marR="91440" marT="18288" marB="18288" anchor="ctr">
                    <a:solidFill>
                      <a:srgbClr val="15161D"/>
                    </a:solidFill>
                  </a:tcPr>
                </a:tc>
                <a:tc>
                  <a:txBody>
                    <a:bodyPr wrap="square"/>
                    <a:lstStyle/>
                    <a:p>
                      <a:r>
                        <a:rPr sz="1250" b="0">
                          <a:solidFill>
                            <a:srgbClr val="F2F2F5"/>
                          </a:solidFill>
                          <a:latin typeface="Arial"/>
                        </a:rPr>
                        <a:t>PASS</a:t>
                      </a:r>
                    </a:p>
                  </a:txBody>
                  <a:tcPr marL="91440" marR="91440" marT="18288" marB="18288" anchor="ctr">
                    <a:solidFill>
                      <a:srgbClr val="15161D"/>
                    </a:solidFill>
                  </a:tcPr>
                </a:tc>
              </a:tr>
              <a:tr h="450616">
                <a:tc>
                  <a:txBody>
                    <a:bodyPr wrap="square"/>
                    <a:lstStyle/>
                    <a:p>
                      <a:r>
                        <a:rPr sz="1250" b="0">
                          <a:solidFill>
                            <a:srgbClr val="F2F2F5"/>
                          </a:solidFill>
                          <a:latin typeface="Arial"/>
                        </a:rPr>
                        <a:t>leakage_linter</a:t>
                      </a:r>
                    </a:p>
                  </a:txBody>
                  <a:tcPr marL="91440" marR="91440" marT="18288" marB="18288" anchor="ctr">
                    <a:solidFill>
                      <a:srgbClr val="15161D"/>
                    </a:solidFill>
                  </a:tcPr>
                </a:tc>
                <a:tc>
                  <a:txBody>
                    <a:bodyPr wrap="square"/>
                    <a:lstStyle/>
                    <a:p>
                      <a:r>
                        <a:rPr sz="1250" b="0">
                          <a:solidFill>
                            <a:srgbClr val="F2F2F5"/>
                          </a:solidFill>
                          <a:latin typeface="Arial"/>
                        </a:rPr>
                        <a:t>no feature name, config or rule string references a held-out family</a:t>
                      </a:r>
                    </a:p>
                  </a:txBody>
                  <a:tcPr marL="91440" marR="91440" marT="18288" marB="18288" anchor="ctr">
                    <a:solidFill>
                      <a:srgbClr val="15161D"/>
                    </a:solidFill>
                  </a:tcPr>
                </a:tc>
                <a:tc>
                  <a:txBody>
                    <a:bodyPr wrap="square"/>
                    <a:lstStyle/>
                    <a:p>
                      <a:r>
                        <a:rPr sz="1250" b="0">
                          <a:solidFill>
                            <a:srgbClr val="F2F2F5"/>
                          </a:solidFill>
                          <a:latin typeface="Arial"/>
                        </a:rPr>
                        <a:t>PASS</a:t>
                      </a:r>
                    </a:p>
                  </a:txBody>
                  <a:tcPr marL="91440" marR="91440" marT="18288" marB="18288" anchor="ctr">
                    <a:solidFill>
                      <a:srgbClr val="15161D"/>
                    </a:solidFill>
                  </a:tcPr>
                </a:tc>
              </a:tr>
            </a:tbl>
          </a:graphicData>
        </a:graphic>
      </p:graphicFrame>
      <p:sp>
        <p:nvSpPr>
          <p:cNvPr id="9" name="TextBox 8"/>
          <p:cNvSpPr txBox="1"/>
          <p:nvPr/>
        </p:nvSpPr>
        <p:spPr>
          <a:xfrm>
            <a:off x="548640" y="4526280"/>
            <a:ext cx="11064240" cy="1737360"/>
          </a:xfrm>
          <a:prstGeom prst="rect">
            <a:avLst/>
          </a:prstGeom>
          <a:noFill/>
        </p:spPr>
        <p:txBody>
          <a:bodyPr wrap="square" anchor="t">
            <a:normAutofit/>
          </a:bodyPr>
          <a:lstStyle/>
          <a:p>
            <a:pPr algn="l">
              <a:spcAft>
                <a:spcPts val="1300"/>
              </a:spcAft>
            </a:pPr>
            <a:r>
              <a:rPr sz="1450" b="0">
                <a:solidFill>
                  <a:srgbClr val="F2F2F5"/>
                </a:solidFill>
                <a:latin typeface="Arial"/>
              </a:rPr>
              <a:t>TIME-FORWARD SPLIT, no random splits anywhere — train 5,444,817 / stats 989,967 / test 2,672,910, with a 5.3-day purge and 5.2-day embargo. 791,973 boundary rows dropped.</a:t>
            </a:r>
          </a:p>
          <a:p>
            <a:pPr>
              <a:spcAft>
                <a:spcPts val="1300"/>
              </a:spcAft>
            </a:pPr>
            <a:r>
              <a:rPr sz="1450" b="0">
                <a:solidFill>
                  <a:srgbClr val="3DD68C"/>
                </a:solidFill>
                <a:latin typeface="Arial"/>
              </a:rPr>
              <a:t>ENTITY-LEVEL SEALED HOLDOUT — 1,791,118 rows excluded from training: 12 sealed families PLUS a leave-one-morpheme-out arm (EVASION = low-visibility-rail).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4A9EFF"/>
                </a:solidFill>
                <a:latin typeface="Arial"/>
              </a:rPr>
              <a:t>CRITERION 3 · DETECTION EFFICACY</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Results — issuer view, reportable</a:t>
            </a:r>
          </a:p>
        </p:txBody>
      </p:sp>
      <p:sp>
        <p:nvSpPr>
          <p:cNvPr id="5" name="Rectangle 4"/>
          <p:cNvSpPr/>
          <p:nvPr/>
        </p:nvSpPr>
        <p:spPr>
          <a:xfrm>
            <a:off x="548640" y="1298448"/>
            <a:ext cx="1280160" cy="2286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8</a:t>
            </a:r>
          </a:p>
        </p:txBody>
      </p:sp>
      <p:sp>
        <p:nvSpPr>
          <p:cNvPr id="8" name="TextBox 7"/>
          <p:cNvSpPr txBox="1"/>
          <p:nvPr/>
        </p:nvSpPr>
        <p:spPr>
          <a:xfrm>
            <a:off x="548640" y="1371600"/>
            <a:ext cx="11064240" cy="274320"/>
          </a:xfrm>
          <a:prstGeom prst="rect">
            <a:avLst/>
          </a:prstGeom>
          <a:noFill/>
        </p:spPr>
        <p:txBody>
          <a:bodyPr wrap="square" anchor="t">
            <a:normAutofit/>
          </a:bodyPr>
          <a:lstStyle/>
          <a:p>
            <a:pPr algn="l">
              <a:spcAft>
                <a:spcPts val="0"/>
              </a:spcAft>
            </a:pPr>
            <a:r>
              <a:rPr sz="1250" b="0">
                <a:solidFill>
                  <a:srgbClr val="9A9AA8"/>
                </a:solidFill>
                <a:latin typeface="Arial"/>
              </a:rPr>
              <a:t>Test window 2,672,910 rows · 14,918 attacks · base rate 0.5581% · leakage suite 6/6 PASS</a:t>
            </a:r>
          </a:p>
        </p:txBody>
      </p:sp>
      <p:pic>
        <p:nvPicPr>
          <p:cNvPr id="9" name="Picture 8" descr="headline.png"/>
          <p:cNvPicPr>
            <a:picLocks noChangeAspect="1"/>
          </p:cNvPicPr>
          <p:nvPr/>
        </p:nvPicPr>
        <p:blipFill>
          <a:blip r:embed="rId2"/>
          <a:stretch>
            <a:fillRect/>
          </a:stretch>
        </p:blipFill>
        <p:spPr>
          <a:xfrm>
            <a:off x="1742496" y="1737360"/>
            <a:ext cx="8676528" cy="2148840"/>
          </a:xfrm>
          <a:prstGeom prst="rect">
            <a:avLst/>
          </a:prstGeom>
        </p:spPr>
      </p:pic>
      <p:graphicFrame>
        <p:nvGraphicFramePr>
          <p:cNvPr id="10" name="Table 9"/>
          <p:cNvGraphicFramePr>
            <a:graphicFrameLocks noGrp="1"/>
          </p:cNvGraphicFramePr>
          <p:nvPr/>
        </p:nvGraphicFramePr>
        <p:xfrm>
          <a:off x="548640" y="4069080"/>
          <a:ext cx="11064240" cy="1720532"/>
        </p:xfrm>
        <a:graphic>
          <a:graphicData uri="http://schemas.openxmlformats.org/drawingml/2006/table">
            <a:tbl>
              <a:tblPr firstRow="1" bandRow="1">
                <a:tableStyleId>{5C22544A-7EE6-4342-B048-85BDC9FD1C3A}</a:tableStyleId>
              </a:tblPr>
              <a:tblGrid>
                <a:gridCol w="3108960"/>
                <a:gridCol w="4023360"/>
                <a:gridCol w="3931920"/>
              </a:tblGrid>
              <a:tr h="430133">
                <a:tc>
                  <a:txBody>
                    <a:bodyPr wrap="square"/>
                    <a:lstStyle/>
                    <a:p>
                      <a:r>
                        <a:rPr sz="1250" b="1">
                          <a:solidFill>
                            <a:srgbClr val="4A9EFF"/>
                          </a:solidFill>
                          <a:latin typeface="Arial"/>
                        </a:rPr>
                        <a:t>metric</a:t>
                      </a:r>
                    </a:p>
                  </a:txBody>
                  <a:tcPr marL="91440" marR="91440" marT="18288" marB="18288" anchor="ctr">
                    <a:solidFill>
                      <a:srgbClr val="0B0B0F"/>
                    </a:solidFill>
                  </a:tcPr>
                </a:tc>
                <a:tc>
                  <a:txBody>
                    <a:bodyPr wrap="square"/>
                    <a:lstStyle/>
                    <a:p>
                      <a:r>
                        <a:rPr sz="1250" b="1">
                          <a:solidFill>
                            <a:srgbClr val="4A9EFF"/>
                          </a:solidFill>
                          <a:latin typeface="Arial"/>
                        </a:rPr>
                        <a:t>value</a:t>
                      </a:r>
                    </a:p>
                  </a:txBody>
                  <a:tcPr marL="91440" marR="91440" marT="18288" marB="18288" anchor="ctr">
                    <a:solidFill>
                      <a:srgbClr val="0B0B0F"/>
                    </a:solidFill>
                  </a:tcPr>
                </a:tc>
                <a:tc>
                  <a:txBody>
                    <a:bodyPr wrap="square"/>
                    <a:lstStyle/>
                    <a:p>
                      <a:r>
                        <a:rPr sz="1250" b="1">
                          <a:solidFill>
                            <a:srgbClr val="4A9EFF"/>
                          </a:solidFill>
                          <a:latin typeface="Arial"/>
                        </a:rPr>
                        <a:t>note</a:t>
                      </a:r>
                    </a:p>
                  </a:txBody>
                  <a:tcPr marL="91440" marR="91440" marT="18288" marB="18288" anchor="ctr">
                    <a:solidFill>
                      <a:srgbClr val="0B0B0F"/>
                    </a:solidFill>
                  </a:tcPr>
                </a:tc>
              </a:tr>
              <a:tr h="430133">
                <a:tc>
                  <a:txBody>
                    <a:bodyPr wrap="square"/>
                    <a:lstStyle/>
                    <a:p>
                      <a:r>
                        <a:rPr sz="1350" b="0">
                          <a:solidFill>
                            <a:srgbClr val="F2F2F5"/>
                          </a:solidFill>
                          <a:latin typeface="Arial"/>
                        </a:rPr>
                        <a:t>precision / recall / F1</a:t>
                      </a:r>
                    </a:p>
                  </a:txBody>
                  <a:tcPr marL="91440" marR="91440" marT="18288" marB="18288" anchor="ctr">
                    <a:solidFill>
                      <a:srgbClr val="15161D"/>
                    </a:solidFill>
                  </a:tcPr>
                </a:tc>
                <a:tc>
                  <a:txBody>
                    <a:bodyPr wrap="square"/>
                    <a:lstStyle/>
                    <a:p>
                      <a:r>
                        <a:rPr sz="1350" b="0">
                          <a:solidFill>
                            <a:srgbClr val="F2F2F5"/>
                          </a:solidFill>
                          <a:latin typeface="Arial"/>
                        </a:rPr>
                        <a:t>0.6382 / 0.3142 / 0.4211</a:t>
                      </a:r>
                    </a:p>
                  </a:txBody>
                  <a:tcPr marL="91440" marR="91440" marT="18288" marB="18288" anchor="ctr">
                    <a:solidFill>
                      <a:srgbClr val="15161D"/>
                    </a:solidFill>
                  </a:tcPr>
                </a:tc>
                <a:tc>
                  <a:txBody>
                    <a:bodyPr wrap="square"/>
                    <a:lstStyle/>
                    <a:p>
                      <a:r>
                        <a:rPr sz="1350" b="0">
                          <a:solidFill>
                            <a:srgbClr val="F2F2F5"/>
                          </a:solidFill>
                          <a:latin typeface="Arial"/>
                        </a:rPr>
                        <a:t>at the fitted operating threshold</a:t>
                      </a:r>
                    </a:p>
                  </a:txBody>
                  <a:tcPr marL="91440" marR="91440" marT="18288" marB="18288" anchor="ctr">
                    <a:solidFill>
                      <a:srgbClr val="15161D"/>
                    </a:solidFill>
                  </a:tcPr>
                </a:tc>
              </a:tr>
              <a:tr h="430133">
                <a:tc>
                  <a:txBody>
                    <a:bodyPr wrap="square"/>
                    <a:lstStyle/>
                    <a:p>
                      <a:r>
                        <a:rPr sz="1350" b="0">
                          <a:solidFill>
                            <a:srgbClr val="F2F2F5"/>
                          </a:solidFill>
                          <a:latin typeface="Arial"/>
                        </a:rPr>
                        <a:t>value-detection rate</a:t>
                      </a:r>
                    </a:p>
                  </a:txBody>
                  <a:tcPr marL="91440" marR="91440" marT="18288" marB="18288" anchor="ctr">
                    <a:solidFill>
                      <a:srgbClr val="15161D"/>
                    </a:solidFill>
                  </a:tcPr>
                </a:tc>
                <a:tc>
                  <a:txBody>
                    <a:bodyPr wrap="square"/>
                    <a:lstStyle/>
                    <a:p>
                      <a:r>
                        <a:rPr sz="1350" b="0">
                          <a:solidFill>
                            <a:srgbClr val="F2F2F5"/>
                          </a:solidFill>
                          <a:latin typeface="Arial"/>
                        </a:rPr>
                        <a:t>0.5517</a:t>
                      </a:r>
                    </a:p>
                  </a:txBody>
                  <a:tcPr marL="91440" marR="91440" marT="18288" marB="18288" anchor="ctr">
                    <a:solidFill>
                      <a:srgbClr val="15161D"/>
                    </a:solidFill>
                  </a:tcPr>
                </a:tc>
                <a:tc>
                  <a:txBody>
                    <a:bodyPr wrap="square"/>
                    <a:lstStyle/>
                    <a:p>
                      <a:r>
                        <a:rPr sz="1350" b="0">
                          <a:solidFill>
                            <a:srgbClr val="F2F2F5"/>
                          </a:solidFill>
                          <a:latin typeface="Arial"/>
                        </a:rPr>
                        <a:t>share of fraud VALUE caught</a:t>
                      </a:r>
                    </a:p>
                  </a:txBody>
                  <a:tcPr marL="91440" marR="91440" marT="18288" marB="18288" anchor="ctr">
                    <a:solidFill>
                      <a:srgbClr val="15161D"/>
                    </a:solidFill>
                  </a:tcPr>
                </a:tc>
              </a:tr>
              <a:tr h="430133">
                <a:tc>
                  <a:txBody>
                    <a:bodyPr wrap="square"/>
                    <a:lstStyle/>
                    <a:p>
                      <a:r>
                        <a:rPr sz="1350" b="0">
                          <a:solidFill>
                            <a:srgbClr val="F2F2F5"/>
                          </a:solidFill>
                          <a:latin typeface="Arial"/>
                        </a:rPr>
                        <a:t>ROC-AUC</a:t>
                      </a:r>
                    </a:p>
                  </a:txBody>
                  <a:tcPr marL="91440" marR="91440" marT="18288" marB="18288" anchor="ctr">
                    <a:solidFill>
                      <a:srgbClr val="15161D"/>
                    </a:solidFill>
                  </a:tcPr>
                </a:tc>
                <a:tc>
                  <a:txBody>
                    <a:bodyPr wrap="square"/>
                    <a:lstStyle/>
                    <a:p>
                      <a:r>
                        <a:rPr sz="1350" b="0">
                          <a:solidFill>
                            <a:srgbClr val="F2F2F5"/>
                          </a:solidFill>
                          <a:latin typeface="Arial"/>
                        </a:rPr>
                        <a:t>0.7221</a:t>
                      </a:r>
                    </a:p>
                  </a:txBody>
                  <a:tcPr marL="91440" marR="91440" marT="18288" marB="18288" anchor="ctr">
                    <a:solidFill>
                      <a:srgbClr val="15161D"/>
                    </a:solidFill>
                  </a:tcPr>
                </a:tc>
                <a:tc>
                  <a:txBody>
                    <a:bodyPr wrap="square"/>
                    <a:lstStyle/>
                    <a:p>
                      <a:r>
                        <a:rPr sz="1350" b="0">
                          <a:solidFill>
                            <a:srgbClr val="F2F2F5"/>
                          </a:solidFill>
                          <a:latin typeface="Arial"/>
                        </a:rPr>
                        <a:t>computed, but not the headline — see notes</a:t>
                      </a:r>
                    </a:p>
                  </a:txBody>
                  <a:tcPr marL="91440" marR="91440" marT="18288" marB="18288" anchor="ctr">
                    <a:solidFill>
                      <a:srgbClr val="15161D"/>
                    </a:solidFill>
                  </a:tcPr>
                </a:tc>
              </a:tr>
            </a:tbl>
          </a:graphicData>
        </a:graphic>
      </p:graphicFrame>
      <p:sp>
        <p:nvSpPr>
          <p:cNvPr id="11" name="TextBox 10"/>
          <p:cNvSpPr txBox="1"/>
          <p:nvPr/>
        </p:nvSpPr>
        <p:spPr>
          <a:xfrm>
            <a:off x="548640" y="5623560"/>
            <a:ext cx="11064240" cy="731520"/>
          </a:xfrm>
          <a:prstGeom prst="rect">
            <a:avLst/>
          </a:prstGeom>
          <a:noFill/>
        </p:spPr>
        <p:txBody>
          <a:bodyPr wrap="square" anchor="t">
            <a:normAutofit/>
          </a:bodyPr>
          <a:lstStyle/>
          <a:p>
            <a:pPr algn="l">
              <a:spcAft>
                <a:spcPts val="1100"/>
              </a:spcAft>
            </a:pPr>
            <a:r>
              <a:rPr sz="1400" b="0">
                <a:solidFill>
                  <a:srgbClr val="3DD68C"/>
                </a:solidFill>
                <a:latin typeface="Arial"/>
              </a:rPr>
              <a:t>k = 641 is not a round number: it is analysts × cases × shifts from config/ops.yaml, scaled to this population. At that staffed budget, 638 of 641 alerts are real attacks.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4A9EFF"/>
                </a:solidFill>
                <a:latin typeface="Arial"/>
              </a:rPr>
              <a:t>CRITERION 4 · NOVELTY</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Can it detect an attack it has never seen?</a:t>
            </a:r>
          </a:p>
        </p:txBody>
      </p:sp>
      <p:sp>
        <p:nvSpPr>
          <p:cNvPr id="5" name="Rectangle 4"/>
          <p:cNvSpPr/>
          <p:nvPr/>
        </p:nvSpPr>
        <p:spPr>
          <a:xfrm>
            <a:off x="548640" y="1298448"/>
            <a:ext cx="1280160" cy="2286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9</a:t>
            </a:r>
          </a:p>
        </p:txBody>
      </p:sp>
      <p:sp>
        <p:nvSpPr>
          <p:cNvPr id="8" name="TextBox 7"/>
          <p:cNvSpPr txBox="1"/>
          <p:nvPr/>
        </p:nvSpPr>
        <p:spPr>
          <a:xfrm>
            <a:off x="548640" y="1371600"/>
            <a:ext cx="11064240" cy="274320"/>
          </a:xfrm>
          <a:prstGeom prst="rect">
            <a:avLst/>
          </a:prstGeom>
          <a:noFill/>
        </p:spPr>
        <p:txBody>
          <a:bodyPr wrap="square" anchor="t">
            <a:normAutofit/>
          </a:bodyPr>
          <a:lstStyle/>
          <a:p>
            <a:pPr algn="l">
              <a:spcAft>
                <a:spcPts val="0"/>
              </a:spcAft>
            </a:pPr>
            <a:r>
              <a:rPr sz="1300" b="0">
                <a:solidFill>
                  <a:srgbClr val="4A9EFF"/>
                </a:solidFill>
                <a:latin typeface="Arial"/>
              </a:rPr>
              <a:t>This is the question the challenge actually asks. It is the only number that answers it.</a:t>
            </a:r>
          </a:p>
        </p:txBody>
      </p:sp>
      <p:pic>
        <p:nvPicPr>
          <p:cNvPr id="9" name="Picture 8" descr="generalisation.png"/>
          <p:cNvPicPr>
            <a:picLocks noChangeAspect="1"/>
          </p:cNvPicPr>
          <p:nvPr/>
        </p:nvPicPr>
        <p:blipFill>
          <a:blip r:embed="rId2"/>
          <a:stretch>
            <a:fillRect/>
          </a:stretch>
        </p:blipFill>
        <p:spPr>
          <a:xfrm>
            <a:off x="457200" y="1828666"/>
            <a:ext cx="5943600" cy="3840747"/>
          </a:xfrm>
          <a:prstGeom prst="rect">
            <a:avLst/>
          </a:prstGeom>
        </p:spPr>
      </p:pic>
      <p:sp>
        <p:nvSpPr>
          <p:cNvPr id="10" name="TextBox 9"/>
          <p:cNvSpPr txBox="1"/>
          <p:nvPr/>
        </p:nvSpPr>
        <p:spPr>
          <a:xfrm>
            <a:off x="6675120" y="1874519"/>
            <a:ext cx="5029200" cy="4023360"/>
          </a:xfrm>
          <a:prstGeom prst="rect">
            <a:avLst/>
          </a:prstGeom>
          <a:noFill/>
        </p:spPr>
        <p:txBody>
          <a:bodyPr wrap="square" anchor="t">
            <a:normAutofit/>
          </a:bodyPr>
          <a:lstStyle/>
          <a:p>
            <a:pPr algn="l">
              <a:spcAft>
                <a:spcPts val="1600"/>
              </a:spcAft>
            </a:pPr>
            <a:r>
              <a:rPr sz="1450" b="0">
                <a:solidFill>
                  <a:srgbClr val="4A9EFF"/>
                </a:solidFill>
                <a:latin typeface="Arial"/>
              </a:rPr>
              <a:t>52.2% of test attacks are compositions the model has NEVER SEEN — we sealed 12 families and an entire EVASION morpheme.</a:t>
            </a:r>
          </a:p>
          <a:p>
            <a:pPr>
              <a:spcAft>
                <a:spcPts val="1600"/>
              </a:spcAft>
            </a:pPr>
            <a:r>
              <a:rPr sz="1450" b="0">
                <a:solidFill>
                  <a:srgbClr val="3DD68C"/>
                </a:solidFill>
                <a:latin typeface="Arial"/>
              </a:rPr>
              <a:t>On those it retains 65% of its detection performance.</a:t>
            </a:r>
          </a:p>
          <a:p>
            <a:pPr>
              <a:spcAft>
                <a:spcPts val="1600"/>
              </a:spcAft>
            </a:pPr>
            <a:r>
              <a:rPr sz="1450" b="0">
                <a:solidFill>
                  <a:srgbClr val="F2F2F5"/>
                </a:solidFill>
                <a:latin typeface="Arial"/>
              </a:rPr>
              <a:t>A model trained on a random split cannot produce this number at all, because it has seen every composition.</a:t>
            </a:r>
          </a:p>
          <a:p>
            <a:pPr>
              <a:spcAft>
                <a:spcPts val="1600"/>
              </a:spcAft>
            </a:pPr>
            <a:r>
              <a:rPr sz="1450" b="0">
                <a:solidFill>
                  <a:srgbClr val="F5B14C"/>
                </a:solidFill>
                <a:latin typeface="Arial"/>
              </a:rPr>
              <a:t>The gap is the honest cost of generalisation. No gap would suggest the holdout was not actually held 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F5B14C"/>
                </a:solidFill>
                <a:latin typeface="Arial"/>
              </a:rPr>
              <a:t>HOW WE AUDIT OURSELVES</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We measured every channel alone — and two were broken</a:t>
            </a:r>
          </a:p>
        </p:txBody>
      </p:sp>
      <p:sp>
        <p:nvSpPr>
          <p:cNvPr id="5" name="Rectangle 4"/>
          <p:cNvSpPr/>
          <p:nvPr/>
        </p:nvSpPr>
        <p:spPr>
          <a:xfrm>
            <a:off x="548640" y="1298448"/>
            <a:ext cx="1280160" cy="22860"/>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10</a:t>
            </a:r>
          </a:p>
        </p:txBody>
      </p:sp>
      <p:pic>
        <p:nvPicPr>
          <p:cNvPr id="8" name="Picture 7" descr="channels.png"/>
          <p:cNvPicPr>
            <a:picLocks noChangeAspect="1"/>
          </p:cNvPicPr>
          <p:nvPr/>
        </p:nvPicPr>
        <p:blipFill>
          <a:blip r:embed="rId2"/>
          <a:stretch>
            <a:fillRect/>
          </a:stretch>
        </p:blipFill>
        <p:spPr>
          <a:xfrm>
            <a:off x="1601247" y="1481328"/>
            <a:ext cx="8959025" cy="3794760"/>
          </a:xfrm>
          <a:prstGeom prst="rect">
            <a:avLst/>
          </a:prstGeom>
        </p:spPr>
      </p:pic>
      <p:sp>
        <p:nvSpPr>
          <p:cNvPr id="9" name="TextBox 8"/>
          <p:cNvSpPr txBox="1"/>
          <p:nvPr/>
        </p:nvSpPr>
        <p:spPr>
          <a:xfrm>
            <a:off x="548640" y="5440680"/>
            <a:ext cx="11064240" cy="914400"/>
          </a:xfrm>
          <a:prstGeom prst="rect">
            <a:avLst/>
          </a:prstGeom>
          <a:noFill/>
        </p:spPr>
        <p:txBody>
          <a:bodyPr wrap="square" anchor="t">
            <a:normAutofit/>
          </a:bodyPr>
          <a:lstStyle/>
          <a:p>
            <a:pPr algn="l">
              <a:spcAft>
                <a:spcPts val="1100"/>
              </a:spcAft>
            </a:pPr>
            <a:r>
              <a:rPr sz="1400" b="0">
                <a:solidFill>
                  <a:srgbClr val="F5B14C"/>
                </a:solidFill>
                <a:latin typeface="Arial"/>
              </a:rPr>
              <a:t>gate_b was IDENTICALLY CONSTANT at this view — one distinct value across 2,672,910 rows — and sketch was ANTI-PREDICTIVE. Between them they carried 0.22 of the fused score.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F5B14C"/>
                </a:solidFill>
                <a:latin typeface="Arial"/>
              </a:rPr>
              <a:t>WHAT WE FOUND BY AUDITING OURSELVES</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Our fusion layer was destroying a model 4× better than we reported</a:t>
            </a:r>
          </a:p>
        </p:txBody>
      </p:sp>
      <p:sp>
        <p:nvSpPr>
          <p:cNvPr id="5" name="Rectangle 4"/>
          <p:cNvSpPr/>
          <p:nvPr/>
        </p:nvSpPr>
        <p:spPr>
          <a:xfrm>
            <a:off x="548640" y="1298448"/>
            <a:ext cx="1280160" cy="22860"/>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11</a:t>
            </a:r>
          </a:p>
        </p:txBody>
      </p:sp>
      <p:pic>
        <p:nvPicPr>
          <p:cNvPr id="8" name="Picture 7" descr="fusion_arms.png"/>
          <p:cNvPicPr>
            <a:picLocks noChangeAspect="1"/>
          </p:cNvPicPr>
          <p:nvPr/>
        </p:nvPicPr>
        <p:blipFill>
          <a:blip r:embed="rId2"/>
          <a:stretch>
            <a:fillRect/>
          </a:stretch>
        </p:blipFill>
        <p:spPr>
          <a:xfrm>
            <a:off x="2283349" y="1463040"/>
            <a:ext cx="7594822" cy="3200400"/>
          </a:xfrm>
          <a:prstGeom prst="rect">
            <a:avLst/>
          </a:prstGeom>
        </p:spPr>
      </p:pic>
      <p:sp>
        <p:nvSpPr>
          <p:cNvPr id="9" name="TextBox 8"/>
          <p:cNvSpPr txBox="1"/>
          <p:nvPr/>
        </p:nvSpPr>
        <p:spPr>
          <a:xfrm>
            <a:off x="548640" y="4800600"/>
            <a:ext cx="11064240" cy="1554480"/>
          </a:xfrm>
          <a:prstGeom prst="rect">
            <a:avLst/>
          </a:prstGeom>
          <a:noFill/>
        </p:spPr>
        <p:txBody>
          <a:bodyPr wrap="square" anchor="t">
            <a:normAutofit/>
          </a:bodyPr>
          <a:lstStyle/>
          <a:p>
            <a:pPr algn="l">
              <a:spcAft>
                <a:spcPts val="1200"/>
              </a:spcAft>
            </a:pPr>
            <a:r>
              <a:rPr sz="1350" b="0">
                <a:solidFill>
                  <a:srgbClr val="F2F2F5"/>
                </a:solidFill>
                <a:latin typeface="Arial"/>
              </a:rPr>
              <a:t>Attribution: +0.2673 to the COMBINE RULE, +0.0026 to calibration. A rank average is scale-free, so a channel with weight 0.10 can reorder any two rows within 0.10 of each other — and the top-641 span a rank gap of 0.00024.</a:t>
            </a:r>
          </a:p>
          <a:p>
            <a:pPr>
              <a:spcAft>
                <a:spcPts val="1200"/>
              </a:spcAft>
            </a:pPr>
            <a:r>
              <a:rPr sz="1350" b="0">
                <a:solidFill>
                  <a:srgbClr val="F5B14C"/>
                </a:solidFill>
                <a:latin typeface="Arial"/>
              </a:rPr>
              <a:t>Four more defects our instruments caught: a friction cap that could escalate a rail into auto-declines · two perfect one-sided separators, deleted · an instrument reporting a fabricated 0.0000 · a guard that REFUSED to ship a collapsed action ladder.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F5B14C"/>
                </a:solidFill>
                <a:latin typeface="Arial"/>
              </a:rPr>
              <a:t>HONESTY</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Where our generator is too clean — we say it first</a:t>
            </a:r>
          </a:p>
        </p:txBody>
      </p:sp>
      <p:sp>
        <p:nvSpPr>
          <p:cNvPr id="5" name="Rectangle 4"/>
          <p:cNvSpPr/>
          <p:nvPr/>
        </p:nvSpPr>
        <p:spPr>
          <a:xfrm>
            <a:off x="548640" y="1298448"/>
            <a:ext cx="1280160" cy="22860"/>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12</a:t>
            </a:r>
          </a:p>
        </p:txBody>
      </p:sp>
      <p:pic>
        <p:nvPicPr>
          <p:cNvPr id="8" name="Picture 7" descr="artifacts.png"/>
          <p:cNvPicPr>
            <a:picLocks noChangeAspect="1"/>
          </p:cNvPicPr>
          <p:nvPr/>
        </p:nvPicPr>
        <p:blipFill>
          <a:blip r:embed="rId2"/>
          <a:stretch>
            <a:fillRect/>
          </a:stretch>
        </p:blipFill>
        <p:spPr>
          <a:xfrm>
            <a:off x="1520278" y="1444752"/>
            <a:ext cx="9120964" cy="3200400"/>
          </a:xfrm>
          <a:prstGeom prst="rect">
            <a:avLst/>
          </a:prstGeom>
        </p:spPr>
      </p:pic>
      <p:sp>
        <p:nvSpPr>
          <p:cNvPr id="9" name="TextBox 8"/>
          <p:cNvSpPr txBox="1"/>
          <p:nvPr/>
        </p:nvSpPr>
        <p:spPr>
          <a:xfrm>
            <a:off x="548640" y="4681728"/>
            <a:ext cx="11064240" cy="1783080"/>
          </a:xfrm>
          <a:prstGeom prst="rect">
            <a:avLst/>
          </a:prstGeom>
          <a:noFill/>
        </p:spPr>
        <p:txBody>
          <a:bodyPr wrap="square" anchor="t">
            <a:normAutofit/>
          </a:bodyPr>
          <a:lstStyle/>
          <a:p>
            <a:pPr algn="l">
              <a:spcAft>
                <a:spcPts val="1000"/>
              </a:spcAft>
            </a:pPr>
            <a:r>
              <a:rPr sz="1300" b="0">
                <a:solidFill>
                  <a:srgbClr val="F5B14C"/>
                </a:solidFill>
                <a:latin typeface="Arial"/>
              </a:rPr>
              <a:t>session_duration_minutes — ordinary sessions drawn |N(6,4)| min, coerced attacks |N(145,70)|: benign MAX 36.5 vs attack 5th percentile 33.9. APP fraud really does involve hour-long coerced sessions, so the mechanism is real; a real benign distribution is heavy-tailed, so the production signal is weaker than ours.</a:t>
            </a:r>
          </a:p>
          <a:p>
            <a:pPr>
              <a:spcAft>
                <a:spcPts val="1000"/>
              </a:spcAft>
            </a:pPr>
            <a:r>
              <a:rPr sz="1300" b="0">
                <a:solidFill>
                  <a:srgbClr val="3DD68C"/>
                </a:solidFill>
                <a:latin typeface="Arial"/>
              </a:rPr>
              <a:t>We also DID NOT ADD an amount-collision feature for AePS, though it would have scored highest — attack withdrawals are quantised to exactly ₹5,000, so it would fire almost only on attacks. Recorded as a decision, not left as an omission.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E8505B"/>
                </a:solidFill>
                <a:latin typeface="Arial"/>
              </a:rPr>
              <a:t>CONTROLLED COMPARISON</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Against a baseline we EXECUTED rather than described</a:t>
            </a:r>
          </a:p>
        </p:txBody>
      </p:sp>
      <p:sp>
        <p:nvSpPr>
          <p:cNvPr id="5" name="Rectangle 4"/>
          <p:cNvSpPr/>
          <p:nvPr/>
        </p:nvSpPr>
        <p:spPr>
          <a:xfrm>
            <a:off x="548640" y="1298448"/>
            <a:ext cx="1280160" cy="22860"/>
          </a:xfrm>
          <a:prstGeom prst="rect">
            <a:avLst/>
          </a:prstGeom>
          <a:solidFill>
            <a:srgbClr val="E85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13</a:t>
            </a:r>
          </a:p>
        </p:txBody>
      </p:sp>
      <p:sp>
        <p:nvSpPr>
          <p:cNvPr id="8" name="TextBox 7"/>
          <p:cNvSpPr txBox="1"/>
          <p:nvPr/>
        </p:nvSpPr>
        <p:spPr>
          <a:xfrm>
            <a:off x="548640" y="1371600"/>
            <a:ext cx="11064240" cy="274320"/>
          </a:xfrm>
          <a:prstGeom prst="rect">
            <a:avLst/>
          </a:prstGeom>
          <a:noFill/>
        </p:spPr>
        <p:txBody>
          <a:bodyPr wrap="square" anchor="t">
            <a:normAutofit/>
          </a:bodyPr>
          <a:lstStyle/>
          <a:p>
            <a:pPr algn="l">
              <a:spcAft>
                <a:spcPts val="0"/>
              </a:spcAft>
            </a:pPr>
            <a:r>
              <a:rPr sz="1300" b="0">
                <a:solidFill>
                  <a:srgbClr val="9A9AA8"/>
                </a:solidFill>
                <a:latin typeface="Arial"/>
              </a:rPr>
              <a:t>Same feature matrix. Same library. Same hyper-parameters. Six methodology differences only.</a:t>
            </a:r>
          </a:p>
        </p:txBody>
      </p:sp>
      <p:pic>
        <p:nvPicPr>
          <p:cNvPr id="9" name="Picture 8" descr="baseline.png"/>
          <p:cNvPicPr>
            <a:picLocks noChangeAspect="1"/>
          </p:cNvPicPr>
          <p:nvPr/>
        </p:nvPicPr>
        <p:blipFill>
          <a:blip r:embed="rId2"/>
          <a:stretch>
            <a:fillRect/>
          </a:stretch>
        </p:blipFill>
        <p:spPr>
          <a:xfrm>
            <a:off x="822960" y="2049058"/>
            <a:ext cx="6766560" cy="3399964"/>
          </a:xfrm>
          <a:prstGeom prst="rect">
            <a:avLst/>
          </a:prstGeom>
        </p:spPr>
      </p:pic>
      <p:sp>
        <p:nvSpPr>
          <p:cNvPr id="10" name="TextBox 9"/>
          <p:cNvSpPr txBox="1"/>
          <p:nvPr/>
        </p:nvSpPr>
        <p:spPr>
          <a:xfrm>
            <a:off x="7726679" y="1783080"/>
            <a:ext cx="4023360" cy="4343400"/>
          </a:xfrm>
          <a:prstGeom prst="rect">
            <a:avLst/>
          </a:prstGeom>
          <a:noFill/>
        </p:spPr>
        <p:txBody>
          <a:bodyPr wrap="square" anchor="t">
            <a:normAutofit/>
          </a:bodyPr>
          <a:lstStyle/>
          <a:p>
            <a:pPr algn="l">
              <a:spcAft>
                <a:spcPts val="1500"/>
              </a:spcAft>
            </a:pPr>
            <a:r>
              <a:rPr sz="1350" b="0">
                <a:solidFill>
                  <a:srgbClr val="E8505B"/>
                </a:solidFill>
                <a:latin typeface="Arial"/>
              </a:rPr>
              <a:t>The replica beats us by 0.0705 PR-AUC — and we are showing you that.</a:t>
            </a:r>
          </a:p>
          <a:p>
            <a:pPr>
              <a:spcAft>
                <a:spcPts val="1500"/>
              </a:spcAft>
            </a:pPr>
            <a:r>
              <a:rPr sz="1350" b="0">
                <a:solidFill>
                  <a:srgbClr val="F2F2F5"/>
                </a:solidFill>
                <a:latin typeface="Arial"/>
              </a:rPr>
              <a:t>It trains on a random split spanning the whole timeline, on fully matured labels, treating unlabelled as negative. It is not a better model. It is a model that was told the answers.</a:t>
            </a:r>
          </a:p>
          <a:p>
            <a:pPr>
              <a:spcAft>
                <a:spcPts val="1500"/>
              </a:spcAft>
            </a:pPr>
            <a:r>
              <a:rPr sz="1350" b="0">
                <a:solidFill>
                  <a:srgbClr val="3DD68C"/>
                </a:solidFill>
                <a:latin typeface="Arial"/>
              </a:rPr>
              <a:t>0.3464 is what remains when you remove the future.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4A9EFF"/>
                </a:solidFill>
                <a:latin typeface="Arial"/>
              </a:rPr>
              <a:t>CRITERION 5 · REAL-WORLD FEASIBILITY</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Four deployment positions, and what each can actually see</a:t>
            </a:r>
          </a:p>
        </p:txBody>
      </p:sp>
      <p:sp>
        <p:nvSpPr>
          <p:cNvPr id="5" name="Rectangle 4"/>
          <p:cNvSpPr/>
          <p:nvPr/>
        </p:nvSpPr>
        <p:spPr>
          <a:xfrm>
            <a:off x="548640" y="1298448"/>
            <a:ext cx="1280160" cy="2286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14</a:t>
            </a:r>
          </a:p>
        </p:txBody>
      </p:sp>
      <p:pic>
        <p:nvPicPr>
          <p:cNvPr id="8" name="Picture 7" descr="views.png"/>
          <p:cNvPicPr>
            <a:picLocks noChangeAspect="1"/>
          </p:cNvPicPr>
          <p:nvPr/>
        </p:nvPicPr>
        <p:blipFill>
          <a:blip r:embed="rId2"/>
          <a:stretch>
            <a:fillRect/>
          </a:stretch>
        </p:blipFill>
        <p:spPr>
          <a:xfrm>
            <a:off x="457200" y="1617901"/>
            <a:ext cx="6035040" cy="3530758"/>
          </a:xfrm>
          <a:prstGeom prst="rect">
            <a:avLst/>
          </a:prstGeom>
        </p:spPr>
      </p:pic>
      <p:sp>
        <p:nvSpPr>
          <p:cNvPr id="9" name="TextBox 8"/>
          <p:cNvSpPr txBox="1"/>
          <p:nvPr/>
        </p:nvSpPr>
        <p:spPr>
          <a:xfrm>
            <a:off x="6720840" y="1645920"/>
            <a:ext cx="5029200" cy="4434840"/>
          </a:xfrm>
          <a:prstGeom prst="rect">
            <a:avLst/>
          </a:prstGeom>
          <a:noFill/>
        </p:spPr>
        <p:txBody>
          <a:bodyPr wrap="square" anchor="t">
            <a:normAutofit/>
          </a:bodyPr>
          <a:lstStyle/>
          <a:p>
            <a:pPr algn="l">
              <a:spcAft>
                <a:spcPts val="1600"/>
              </a:spcAft>
            </a:pPr>
            <a:r>
              <a:rPr sz="1350" b="0">
                <a:solidFill>
                  <a:srgbClr val="4A9EFF"/>
                </a:solidFill>
                <a:latin typeface="Arial"/>
              </a:rPr>
              <a:t>Features an institution genuinely cannot construct are ABSENT, not zeroed. Zeroing would say 'this entity has no token fan-out' — false, and a different claim from 'this institution cannot observe it'.</a:t>
            </a:r>
          </a:p>
          <a:p>
            <a:pPr>
              <a:spcAft>
                <a:spcPts val="1600"/>
              </a:spcAft>
            </a:pPr>
            <a:r>
              <a:rPr sz="1350" b="0">
                <a:solidFill>
                  <a:srgbClr val="F5B14C"/>
                </a:solidFill>
                <a:latin typeface="Arial"/>
              </a:rPr>
              <a:t>The ISSUER position is the most informative — not the network. We report that even though the reverse would flatter a network story.</a:t>
            </a:r>
          </a:p>
          <a:p>
            <a:pPr>
              <a:spcAft>
                <a:spcPts val="1600"/>
              </a:spcAft>
            </a:pPr>
            <a:r>
              <a:rPr sz="1350" b="0">
                <a:solidFill>
                  <a:srgbClr val="3DD68C"/>
                </a:solidFill>
                <a:latin typeface="Arial"/>
              </a:rPr>
              <a:t>What the network uniquely provides is DISTRIBUTION, not a better vantage point: the Bloom exchange lets an issuer receive cross-issuer mule priors it could never observe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4A9EFF"/>
                </a:solidFill>
                <a:latin typeface="Arial"/>
              </a:rPr>
              <a:t>REAL-WORLD FEASIBILITY</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The action, not the score</a:t>
            </a:r>
          </a:p>
        </p:txBody>
      </p:sp>
      <p:sp>
        <p:nvSpPr>
          <p:cNvPr id="5" name="Rectangle 4"/>
          <p:cNvSpPr/>
          <p:nvPr/>
        </p:nvSpPr>
        <p:spPr>
          <a:xfrm>
            <a:off x="548640" y="1298448"/>
            <a:ext cx="1280160" cy="2286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15</a:t>
            </a:r>
          </a:p>
        </p:txBody>
      </p:sp>
      <p:graphicFrame>
        <p:nvGraphicFramePr>
          <p:cNvPr id="8" name="Table 7"/>
          <p:cNvGraphicFramePr>
            <a:graphicFrameLocks noGrp="1"/>
          </p:cNvGraphicFramePr>
          <p:nvPr/>
        </p:nvGraphicFramePr>
        <p:xfrm>
          <a:off x="548640" y="1572768"/>
          <a:ext cx="6675120" cy="2652489"/>
        </p:xfrm>
        <a:graphic>
          <a:graphicData uri="http://schemas.openxmlformats.org/drawingml/2006/table">
            <a:tbl>
              <a:tblPr firstRow="1" bandRow="1">
                <a:tableStyleId>{5C22544A-7EE6-4342-B048-85BDC9FD1C3A}</a:tableStyleId>
              </a:tblPr>
              <a:tblGrid>
                <a:gridCol w="2560320"/>
                <a:gridCol w="2194560"/>
                <a:gridCol w="1920240"/>
              </a:tblGrid>
              <a:tr h="378927">
                <a:tc>
                  <a:txBody>
                    <a:bodyPr wrap="square"/>
                    <a:lstStyle/>
                    <a:p>
                      <a:r>
                        <a:rPr sz="1150" b="1">
                          <a:solidFill>
                            <a:srgbClr val="4A9EFF"/>
                          </a:solidFill>
                          <a:latin typeface="Arial"/>
                        </a:rPr>
                        <a:t>rail</a:t>
                      </a:r>
                    </a:p>
                  </a:txBody>
                  <a:tcPr marL="91440" marR="91440" marT="18288" marB="18288" anchor="ctr">
                    <a:solidFill>
                      <a:srgbClr val="0B0B0F"/>
                    </a:solidFill>
                  </a:tcPr>
                </a:tc>
                <a:tc>
                  <a:txBody>
                    <a:bodyPr wrap="square"/>
                    <a:lstStyle/>
                    <a:p>
                      <a:r>
                        <a:rPr sz="1150" b="1">
                          <a:solidFill>
                            <a:srgbClr val="4A9EFF"/>
                          </a:solidFill>
                          <a:latin typeface="Arial"/>
                        </a:rPr>
                        <a:t>friction</a:t>
                      </a:r>
                    </a:p>
                  </a:txBody>
                  <a:tcPr marL="91440" marR="91440" marT="18288" marB="18288" anchor="ctr">
                    <a:solidFill>
                      <a:srgbClr val="0B0B0F"/>
                    </a:solidFill>
                  </a:tcPr>
                </a:tc>
                <a:tc>
                  <a:txBody>
                    <a:bodyPr wrap="square"/>
                    <a:lstStyle/>
                    <a:p>
                      <a:r>
                        <a:rPr sz="1150" b="1">
                          <a:solidFill>
                            <a:srgbClr val="4A9EFF"/>
                          </a:solidFill>
                          <a:latin typeface="Arial"/>
                        </a:rPr>
                        <a:t>decline</a:t>
                      </a:r>
                    </a:p>
                  </a:txBody>
                  <a:tcPr marL="91440" marR="91440" marT="18288" marB="18288" anchor="ctr">
                    <a:solidFill>
                      <a:srgbClr val="0B0B0F"/>
                    </a:solidFill>
                  </a:tcPr>
                </a:tc>
              </a:tr>
              <a:tr h="378927">
                <a:tc>
                  <a:txBody>
                    <a:bodyPr wrap="square"/>
                    <a:lstStyle/>
                    <a:p>
                      <a:r>
                        <a:rPr sz="1250" b="0">
                          <a:solidFill>
                            <a:srgbClr val="F2F2F5"/>
                          </a:solidFill>
                          <a:latin typeface="Arial"/>
                        </a:rPr>
                        <a:t>card CNP-3DS</a:t>
                      </a:r>
                    </a:p>
                  </a:txBody>
                  <a:tcPr marL="91440" marR="91440" marT="18288" marB="18288" anchor="ctr">
                    <a:solidFill>
                      <a:srgbClr val="15161D"/>
                    </a:solidFill>
                  </a:tcPr>
                </a:tc>
                <a:tc>
                  <a:txBody>
                    <a:bodyPr wrap="square"/>
                    <a:lstStyle/>
                    <a:p>
                      <a:r>
                        <a:rPr sz="1250" b="0">
                          <a:solidFill>
                            <a:srgbClr val="F2F2F5"/>
                          </a:solidFill>
                          <a:latin typeface="Arial"/>
                        </a:rPr>
                        <a:t>threeds_challenge</a:t>
                      </a:r>
                    </a:p>
                  </a:txBody>
                  <a:tcPr marL="91440" marR="91440" marT="18288" marB="18288" anchor="ctr">
                    <a:solidFill>
                      <a:srgbClr val="15161D"/>
                    </a:solidFill>
                  </a:tcPr>
                </a:tc>
                <a:tc>
                  <a:txBody>
                    <a:bodyPr wrap="square"/>
                    <a:lstStyle/>
                    <a:p>
                      <a:r>
                        <a:rPr sz="1250" b="0">
                          <a:solidFill>
                            <a:srgbClr val="F2F2F5"/>
                          </a:solidFill>
                          <a:latin typeface="Arial"/>
                        </a:rPr>
                        <a:t>decline</a:t>
                      </a:r>
                    </a:p>
                  </a:txBody>
                  <a:tcPr marL="91440" marR="91440" marT="18288" marB="18288" anchor="ctr">
                    <a:solidFill>
                      <a:srgbClr val="15161D"/>
                    </a:solidFill>
                  </a:tcPr>
                </a:tc>
              </a:tr>
              <a:tr h="378927">
                <a:tc>
                  <a:txBody>
                    <a:bodyPr wrap="square"/>
                    <a:lstStyle/>
                    <a:p>
                      <a:r>
                        <a:rPr sz="1250" b="0">
                          <a:solidFill>
                            <a:srgbClr val="F2F2F5"/>
                          </a:solidFill>
                          <a:latin typeface="Arial"/>
                        </a:rPr>
                        <a:t>UPI pay</a:t>
                      </a:r>
                    </a:p>
                  </a:txBody>
                  <a:tcPr marL="91440" marR="91440" marT="18288" marB="18288" anchor="ctr">
                    <a:solidFill>
                      <a:srgbClr val="15161D"/>
                    </a:solidFill>
                  </a:tcPr>
                </a:tc>
                <a:tc>
                  <a:txBody>
                    <a:bodyPr wrap="square"/>
                    <a:lstStyle/>
                    <a:p>
                      <a:r>
                        <a:rPr sz="1250" b="0">
                          <a:solidFill>
                            <a:srgbClr val="F2F2F5"/>
                          </a:solidFill>
                          <a:latin typeface="Arial"/>
                        </a:rPr>
                        <a:t>interstitial</a:t>
                      </a:r>
                    </a:p>
                  </a:txBody>
                  <a:tcPr marL="91440" marR="91440" marT="18288" marB="18288" anchor="ctr">
                    <a:solidFill>
                      <a:srgbClr val="15161D"/>
                    </a:solidFill>
                  </a:tcPr>
                </a:tc>
                <a:tc>
                  <a:txBody>
                    <a:bodyPr wrap="square"/>
                    <a:lstStyle/>
                    <a:p>
                      <a:r>
                        <a:rPr sz="1250" b="0">
                          <a:solidFill>
                            <a:srgbClr val="F2F2F5"/>
                          </a:solidFill>
                          <a:latin typeface="Arial"/>
                        </a:rPr>
                        <a:t>cooling_delay</a:t>
                      </a:r>
                    </a:p>
                  </a:txBody>
                  <a:tcPr marL="91440" marR="91440" marT="18288" marB="18288" anchor="ctr">
                    <a:solidFill>
                      <a:srgbClr val="15161D"/>
                    </a:solidFill>
                  </a:tcPr>
                </a:tc>
              </a:tr>
              <a:tr h="378927">
                <a:tc>
                  <a:txBody>
                    <a:bodyPr wrap="square"/>
                    <a:lstStyle/>
                    <a:p>
                      <a:r>
                        <a:rPr sz="1250" b="0">
                          <a:solidFill>
                            <a:srgbClr val="F2F2F5"/>
                          </a:solidFill>
                          <a:latin typeface="Arial"/>
                        </a:rPr>
                        <a:t>UPI autopay mandate</a:t>
                      </a:r>
                    </a:p>
                  </a:txBody>
                  <a:tcPr marL="91440" marR="91440" marT="18288" marB="18288" anchor="ctr">
                    <a:solidFill>
                      <a:srgbClr val="15161D"/>
                    </a:solidFill>
                  </a:tcPr>
                </a:tc>
                <a:tc>
                  <a:txBody>
                    <a:bodyPr wrap="square"/>
                    <a:lstStyle/>
                    <a:p>
                      <a:r>
                        <a:rPr sz="1250" b="0">
                          <a:solidFill>
                            <a:srgbClr val="F2F2F5"/>
                          </a:solidFill>
                          <a:latin typeface="Arial"/>
                        </a:rPr>
                        <a:t>mandate_refuse</a:t>
                      </a:r>
                    </a:p>
                  </a:txBody>
                  <a:tcPr marL="91440" marR="91440" marT="18288" marB="18288" anchor="ctr">
                    <a:solidFill>
                      <a:srgbClr val="15161D"/>
                    </a:solidFill>
                  </a:tcPr>
                </a:tc>
                <a:tc>
                  <a:txBody>
                    <a:bodyPr wrap="square"/>
                    <a:lstStyle/>
                    <a:p>
                      <a:r>
                        <a:rPr sz="1250" b="0">
                          <a:solidFill>
                            <a:srgbClr val="F2F2F5"/>
                          </a:solidFill>
                          <a:latin typeface="Arial"/>
                        </a:rPr>
                        <a:t>mandate_refuse</a:t>
                      </a:r>
                    </a:p>
                  </a:txBody>
                  <a:tcPr marL="91440" marR="91440" marT="18288" marB="18288" anchor="ctr">
                    <a:solidFill>
                      <a:srgbClr val="15161D"/>
                    </a:solidFill>
                  </a:tcPr>
                </a:tc>
              </a:tr>
              <a:tr h="378927">
                <a:tc>
                  <a:txBody>
                    <a:bodyPr wrap="square"/>
                    <a:lstStyle/>
                    <a:p>
                      <a:r>
                        <a:rPr sz="1250" b="0">
                          <a:solidFill>
                            <a:srgbClr val="F2F2F5"/>
                          </a:solidFill>
                          <a:latin typeface="Arial"/>
                        </a:rPr>
                        <a:t>A2A credit transfer</a:t>
                      </a:r>
                    </a:p>
                  </a:txBody>
                  <a:tcPr marL="91440" marR="91440" marT="18288" marB="18288" anchor="ctr">
                    <a:solidFill>
                      <a:srgbClr val="15161D"/>
                    </a:solidFill>
                  </a:tcPr>
                </a:tc>
                <a:tc>
                  <a:txBody>
                    <a:bodyPr wrap="square"/>
                    <a:lstStyle/>
                    <a:p>
                      <a:r>
                        <a:rPr sz="1250" b="0">
                          <a:solidFill>
                            <a:srgbClr val="F2F2F5"/>
                          </a:solidFill>
                          <a:latin typeface="Arial"/>
                        </a:rPr>
                        <a:t>name_mismatch_warn</a:t>
                      </a:r>
                    </a:p>
                  </a:txBody>
                  <a:tcPr marL="91440" marR="91440" marT="18288" marB="18288" anchor="ctr">
                    <a:solidFill>
                      <a:srgbClr val="15161D"/>
                    </a:solidFill>
                  </a:tcPr>
                </a:tc>
                <a:tc>
                  <a:txBody>
                    <a:bodyPr wrap="square"/>
                    <a:lstStyle/>
                    <a:p>
                      <a:r>
                        <a:rPr sz="1250" b="0">
                          <a:solidFill>
                            <a:srgbClr val="F2F2F5"/>
                          </a:solidFill>
                          <a:latin typeface="Arial"/>
                        </a:rPr>
                        <a:t>hold</a:t>
                      </a:r>
                    </a:p>
                  </a:txBody>
                  <a:tcPr marL="91440" marR="91440" marT="18288" marB="18288" anchor="ctr">
                    <a:solidFill>
                      <a:srgbClr val="15161D"/>
                    </a:solidFill>
                  </a:tcPr>
                </a:tc>
              </a:tr>
              <a:tr h="378927">
                <a:tc>
                  <a:txBody>
                    <a:bodyPr wrap="square"/>
                    <a:lstStyle/>
                    <a:p>
                      <a:r>
                        <a:rPr sz="1250" b="0">
                          <a:solidFill>
                            <a:srgbClr val="F2F2F5"/>
                          </a:solidFill>
                          <a:latin typeface="Arial"/>
                        </a:rPr>
                        <a:t>card clearing-dispute</a:t>
                      </a:r>
                    </a:p>
                  </a:txBody>
                  <a:tcPr marL="91440" marR="91440" marT="18288" marB="18288" anchor="ctr">
                    <a:solidFill>
                      <a:srgbClr val="15161D"/>
                    </a:solidFill>
                  </a:tcPr>
                </a:tc>
                <a:tc>
                  <a:txBody>
                    <a:bodyPr wrap="square"/>
                    <a:lstStyle/>
                    <a:p>
                      <a:r>
                        <a:rPr sz="1250" b="0">
                          <a:solidFill>
                            <a:srgbClr val="F2F2F5"/>
                          </a:solidFill>
                          <a:latin typeface="Arial"/>
                        </a:rPr>
                        <a:t>review</a:t>
                      </a:r>
                    </a:p>
                  </a:txBody>
                  <a:tcPr marL="91440" marR="91440" marT="18288" marB="18288" anchor="ctr">
                    <a:solidFill>
                      <a:srgbClr val="15161D"/>
                    </a:solidFill>
                  </a:tcPr>
                </a:tc>
                <a:tc>
                  <a:txBody>
                    <a:bodyPr wrap="square"/>
                    <a:lstStyle/>
                    <a:p>
                      <a:r>
                        <a:rPr sz="1250" b="0">
                          <a:solidFill>
                            <a:srgbClr val="F2F2F5"/>
                          </a:solidFill>
                          <a:latin typeface="Arial"/>
                        </a:rPr>
                        <a:t>review</a:t>
                      </a:r>
                    </a:p>
                  </a:txBody>
                  <a:tcPr marL="91440" marR="91440" marT="18288" marB="18288" anchor="ctr">
                    <a:solidFill>
                      <a:srgbClr val="15161D"/>
                    </a:solidFill>
                  </a:tcPr>
                </a:tc>
              </a:tr>
              <a:tr h="378927">
                <a:tc>
                  <a:txBody>
                    <a:bodyPr wrap="square"/>
                    <a:lstStyle/>
                    <a:p>
                      <a:r>
                        <a:rPr sz="1250" b="0">
                          <a:solidFill>
                            <a:srgbClr val="F2F2F5"/>
                          </a:solidFill>
                          <a:latin typeface="Arial"/>
                        </a:rPr>
                        <a:t>agentic-commerce</a:t>
                      </a:r>
                    </a:p>
                  </a:txBody>
                  <a:tcPr marL="91440" marR="91440" marT="18288" marB="18288" anchor="ctr">
                    <a:solidFill>
                      <a:srgbClr val="15161D"/>
                    </a:solidFill>
                  </a:tcPr>
                </a:tc>
                <a:tc>
                  <a:txBody>
                    <a:bodyPr wrap="square"/>
                    <a:lstStyle/>
                    <a:p>
                      <a:r>
                        <a:rPr sz="1250" b="0">
                          <a:solidFill>
                            <a:srgbClr val="F2F2F5"/>
                          </a:solidFill>
                          <a:latin typeface="Arial"/>
                        </a:rPr>
                        <a:t>mandate_refuse</a:t>
                      </a:r>
                    </a:p>
                  </a:txBody>
                  <a:tcPr marL="91440" marR="91440" marT="18288" marB="18288" anchor="ctr">
                    <a:solidFill>
                      <a:srgbClr val="15161D"/>
                    </a:solidFill>
                  </a:tcPr>
                </a:tc>
                <a:tc>
                  <a:txBody>
                    <a:bodyPr wrap="square"/>
                    <a:lstStyle/>
                    <a:p>
                      <a:r>
                        <a:rPr sz="1250" b="0">
                          <a:solidFill>
                            <a:srgbClr val="F2F2F5"/>
                          </a:solidFill>
                          <a:latin typeface="Arial"/>
                        </a:rPr>
                        <a:t>mandate_refuse</a:t>
                      </a:r>
                    </a:p>
                  </a:txBody>
                  <a:tcPr marL="91440" marR="91440" marT="18288" marB="18288" anchor="ctr">
                    <a:solidFill>
                      <a:srgbClr val="15161D"/>
                    </a:solidFill>
                  </a:tcPr>
                </a:tc>
              </a:tr>
            </a:tbl>
          </a:graphicData>
        </a:graphic>
      </p:graphicFrame>
      <p:sp>
        <p:nvSpPr>
          <p:cNvPr id="9" name="TextBox 8"/>
          <p:cNvSpPr txBox="1"/>
          <p:nvPr/>
        </p:nvSpPr>
        <p:spPr>
          <a:xfrm>
            <a:off x="7498079" y="1572768"/>
            <a:ext cx="4114800" cy="4023360"/>
          </a:xfrm>
          <a:prstGeom prst="rect">
            <a:avLst/>
          </a:prstGeom>
          <a:noFill/>
        </p:spPr>
        <p:txBody>
          <a:bodyPr wrap="square" anchor="t">
            <a:normAutofit/>
          </a:bodyPr>
          <a:lstStyle/>
          <a:p>
            <a:pPr algn="l">
              <a:spcAft>
                <a:spcPts val="1300"/>
              </a:spcAft>
            </a:pPr>
            <a:r>
              <a:rPr sz="1350" b="0">
                <a:solidFill>
                  <a:srgbClr val="4A9EFF"/>
                </a:solidFill>
                <a:latin typeface="Arial"/>
              </a:rPr>
              <a:t>A three-band ladder — friction ≤ review ≤ decline — fitted per rail.</a:t>
            </a:r>
          </a:p>
          <a:p>
            <a:pPr>
              <a:spcAft>
                <a:spcPts val="1300"/>
              </a:spcAft>
            </a:pPr>
            <a:r>
              <a:rPr sz="1350" b="0">
                <a:solidFill>
                  <a:srgbClr val="F2F2F5"/>
                </a:solidFill>
                <a:latin typeface="Arial"/>
              </a:rPr>
              <a:t>54 reason codes on every decision</a:t>
            </a:r>
          </a:p>
          <a:p>
            <a:pPr>
              <a:spcAft>
                <a:spcPts val="1300"/>
              </a:spcAft>
            </a:pPr>
            <a:r>
              <a:rPr sz="1350" b="0">
                <a:solidFill>
                  <a:srgbClr val="F2F2F5"/>
                </a:solidFill>
                <a:latin typeface="Arial"/>
              </a:rPr>
              <a:t>Mondrian conformal ABSTENTION — priced, not free</a:t>
            </a:r>
          </a:p>
          <a:p>
            <a:pPr>
              <a:spcAft>
                <a:spcPts val="1300"/>
              </a:spcAft>
            </a:pPr>
            <a:r>
              <a:rPr sz="1350" b="0">
                <a:solidFill>
                  <a:srgbClr val="F2F2F5"/>
                </a:solidFill>
                <a:latin typeface="Arial"/>
              </a:rPr>
              <a:t>G0-only kill switch, no model dependency</a:t>
            </a:r>
          </a:p>
          <a:p>
            <a:pPr>
              <a:spcAft>
                <a:spcPts val="1300"/>
              </a:spcAft>
            </a:pPr>
            <a:r>
              <a:rPr sz="1350" b="0">
                <a:solidFill>
                  <a:srgbClr val="F2F2F5"/>
                </a:solidFill>
                <a:latin typeface="Arial"/>
              </a:rPr>
              <a:t>model pinning · measured p99 latency</a:t>
            </a:r>
          </a:p>
          <a:p>
            <a:pPr>
              <a:spcAft>
                <a:spcPts val="1300"/>
              </a:spcAft>
            </a:pPr>
            <a:r>
              <a:rPr sz="1350" b="0">
                <a:solidFill>
                  <a:srgbClr val="3DD68C"/>
                </a:solidFill>
                <a:latin typeface="Arial"/>
              </a:rPr>
              <a:t>Bloom risk exchange: mule priors shared across issuers WITHOUT PII</a:t>
            </a:r>
          </a:p>
        </p:txBody>
      </p:sp>
      <p:sp>
        <p:nvSpPr>
          <p:cNvPr id="10" name="TextBox 9"/>
          <p:cNvSpPr txBox="1"/>
          <p:nvPr/>
        </p:nvSpPr>
        <p:spPr>
          <a:xfrm>
            <a:off x="548640" y="4251960"/>
            <a:ext cx="6675120" cy="1828800"/>
          </a:xfrm>
          <a:prstGeom prst="rect">
            <a:avLst/>
          </a:prstGeom>
          <a:noFill/>
        </p:spPr>
        <p:txBody>
          <a:bodyPr wrap="square" anchor="t">
            <a:normAutofit/>
          </a:bodyPr>
          <a:lstStyle/>
          <a:p>
            <a:pPr algn="l">
              <a:spcAft>
                <a:spcPts val="1100"/>
              </a:spcAft>
            </a:pPr>
            <a:r>
              <a:rPr sz="1300" b="0">
                <a:solidFill>
                  <a:srgbClr val="F5B14C"/>
                </a:solidFill>
                <a:latin typeface="Arial"/>
              </a:rPr>
              <a:t>You do not decline a clearing record. The band is abstract; the action is whatever the rail supports.</a:t>
            </a:r>
          </a:p>
          <a:p>
            <a:pPr>
              <a:spcAft>
                <a:spcPts val="1100"/>
              </a:spcAft>
            </a:pPr>
            <a:r>
              <a:rPr sz="1300" b="0">
                <a:solidFill>
                  <a:srgbClr val="F2F2F5"/>
                </a:solidFill>
                <a:latin typeface="Arial"/>
              </a:rPr>
              <a:t>When the model is unavailable, G0 still refuses the impossible — a fallback, not an outage.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F5B14C"/>
                </a:solidFill>
                <a:latin typeface="Arial"/>
              </a:rPr>
              <a:t>LIMITATIONS</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What we would rather you heard from us</a:t>
            </a:r>
          </a:p>
        </p:txBody>
      </p:sp>
      <p:sp>
        <p:nvSpPr>
          <p:cNvPr id="5" name="Rectangle 4"/>
          <p:cNvSpPr/>
          <p:nvPr/>
        </p:nvSpPr>
        <p:spPr>
          <a:xfrm>
            <a:off x="548640" y="1298448"/>
            <a:ext cx="1280160" cy="22860"/>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16</a:t>
            </a:r>
          </a:p>
        </p:txBody>
      </p:sp>
      <p:sp>
        <p:nvSpPr>
          <p:cNvPr id="8" name="TextBox 7"/>
          <p:cNvSpPr txBox="1"/>
          <p:nvPr/>
        </p:nvSpPr>
        <p:spPr>
          <a:xfrm>
            <a:off x="548640" y="1536192"/>
            <a:ext cx="11064240" cy="4709160"/>
          </a:xfrm>
          <a:prstGeom prst="rect">
            <a:avLst/>
          </a:prstGeom>
          <a:noFill/>
        </p:spPr>
        <p:txBody>
          <a:bodyPr wrap="square" anchor="t">
            <a:normAutofit/>
          </a:bodyPr>
          <a:lstStyle/>
          <a:p>
            <a:pPr algn="l">
              <a:spcAft>
                <a:spcPts val="2000"/>
              </a:spcAft>
            </a:pPr>
            <a:r>
              <a:rPr sz="1550" b="0">
                <a:solidFill>
                  <a:srgbClr val="F5B14C"/>
                </a:solidFill>
                <a:latin typeface="Arial"/>
              </a:rPr>
              <a:t>EVERYTHING IS SIMULATED. We validate mechanism fidelity, not distributional fidelity to any real portfolio.</a:t>
            </a:r>
          </a:p>
          <a:p>
            <a:pPr>
              <a:spcAft>
                <a:spcPts val="2000"/>
              </a:spcAft>
            </a:pPr>
            <a:r>
              <a:rPr sz="1550" b="0">
                <a:solidFill>
                  <a:srgbClr val="F5B14C"/>
                </a:solidFill>
                <a:latin typeface="Arial"/>
              </a:rPr>
              <a:t>TWO GENERATOR ARTIFACTS inflate two features — quantified and bounded at 21.1% and 6.8% of the headline.</a:t>
            </a:r>
          </a:p>
          <a:p>
            <a:pPr>
              <a:spcAft>
                <a:spcPts val="2000"/>
              </a:spcAft>
            </a:pPr>
            <a:r>
              <a:rPr sz="1550" b="0">
                <a:solidFill>
                  <a:srgbClr val="F5B14C"/>
                </a:solidFill>
                <a:latin typeface="Arial"/>
              </a:rPr>
              <a:t>TWO RAILS REMAIN WEAK. aeps-microatm and upi-lite-offline carry observables our features now read, but at 2.50% label maturity the model cannot learn them: the measured gain was +0.0001 PR-AUC. We report the null result.</a:t>
            </a:r>
          </a:p>
          <a:p>
            <a:pPr>
              <a:spcAft>
                <a:spcPts val="2000"/>
              </a:spcAft>
            </a:pPr>
            <a:r>
              <a:rPr sz="1550" b="0">
                <a:solidFill>
                  <a:srgbClr val="F5B14C"/>
                </a:solidFill>
                <a:latin typeface="Arial"/>
              </a:rPr>
              <a:t>QUEUE CAPACITY IS MEASURED ON THE WRONG QUANTITY. The check counts the REVIEW BAND, but real human load is set by the action mapping, and card-clearing-dispute maps all three bands to review. True load ≈ 0.54% of volume against a 0.0240% staffed budget. Found, not yet fixed.</a:t>
            </a:r>
          </a:p>
          <a:p>
            <a:pPr>
              <a:spcAft>
                <a:spcPts val="2000"/>
              </a:spcAft>
            </a:pPr>
            <a:r>
              <a:rPr sz="1550" b="0">
                <a:solidFill>
                  <a:srgbClr val="F5B14C"/>
                </a:solidFill>
                <a:latin typeface="Arial"/>
              </a:rPr>
              <a:t>A SINGLE GLOBAL OPERATING THRESHOLD penalises low-value rails whose whole mechanism is to sit beneath the floor.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3DD68C"/>
                </a:solidFill>
                <a:latin typeface="Arial"/>
              </a:rPr>
              <a:t>REPRODUCIBILITY</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One command, seeded and ordered</a:t>
            </a:r>
          </a:p>
        </p:txBody>
      </p:sp>
      <p:sp>
        <p:nvSpPr>
          <p:cNvPr id="5" name="Rectangle 4"/>
          <p:cNvSpPr/>
          <p:nvPr/>
        </p:nvSpPr>
        <p:spPr>
          <a:xfrm>
            <a:off x="548640" y="1298448"/>
            <a:ext cx="1280160" cy="22860"/>
          </a:xfrm>
          <a:prstGeom prst="rect">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17</a:t>
            </a:r>
          </a:p>
        </p:txBody>
      </p:sp>
      <p:sp>
        <p:nvSpPr>
          <p:cNvPr id="8" name="Rectangle 7"/>
          <p:cNvSpPr/>
          <p:nvPr/>
        </p:nvSpPr>
        <p:spPr>
          <a:xfrm>
            <a:off x="548640" y="1600200"/>
            <a:ext cx="11064240" cy="822960"/>
          </a:xfrm>
          <a:prstGeom prst="rect">
            <a:avLst/>
          </a:prstGeom>
          <a:solidFill>
            <a:srgbClr val="15161D"/>
          </a:solidFill>
          <a:ln w="1778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10515600" cy="457200"/>
          </a:xfrm>
          <a:prstGeom prst="rect">
            <a:avLst/>
          </a:prstGeom>
          <a:noFill/>
        </p:spPr>
        <p:txBody>
          <a:bodyPr wrap="square" anchor="t">
            <a:normAutofit/>
          </a:bodyPr>
          <a:lstStyle/>
          <a:p>
            <a:pPr algn="l">
              <a:spcAft>
                <a:spcPts val="0"/>
              </a:spcAft>
            </a:pPr>
            <a:r>
              <a:rPr sz="2500" b="1">
                <a:solidFill>
                  <a:srgbClr val="3DD68C"/>
                </a:solidFill>
                <a:latin typeface="Courier New"/>
              </a:rPr>
              <a:t>make all PRESET=full</a:t>
            </a:r>
          </a:p>
        </p:txBody>
      </p:sp>
      <p:sp>
        <p:nvSpPr>
          <p:cNvPr id="10" name="TextBox 9"/>
          <p:cNvSpPr txBox="1"/>
          <p:nvPr/>
        </p:nvSpPr>
        <p:spPr>
          <a:xfrm>
            <a:off x="548640" y="2670048"/>
            <a:ext cx="11064240" cy="3520440"/>
          </a:xfrm>
          <a:prstGeom prst="rect">
            <a:avLst/>
          </a:prstGeom>
          <a:noFill/>
        </p:spPr>
        <p:txBody>
          <a:bodyPr wrap="square" anchor="t">
            <a:normAutofit/>
          </a:bodyPr>
          <a:lstStyle/>
          <a:p>
            <a:pPr algn="l">
              <a:spcAft>
                <a:spcPts val="1700"/>
              </a:spcAft>
            </a:pPr>
            <a:r>
              <a:rPr sz="1500" b="0">
                <a:solidFill>
                  <a:srgbClr val="F2F2F5"/>
                </a:solidFill>
                <a:latin typeface="Arial"/>
              </a:rPr>
              <a:t>Seeded, ordered, single-threaded on the CI path for byte-reproducibility.</a:t>
            </a:r>
          </a:p>
          <a:p>
            <a:pPr>
              <a:spcAft>
                <a:spcPts val="1700"/>
              </a:spcAft>
            </a:pPr>
            <a:r>
              <a:rPr sz="1500" b="0">
                <a:solidFill>
                  <a:srgbClr val="3DD68C"/>
                </a:solidFill>
                <a:latin typeface="Arial"/>
              </a:rPr>
              <a:t>make demo brings up the web prototype against a COMMITTED offline replay bundle — no training, no network. It works on venue wifi that does not exist.</a:t>
            </a:r>
          </a:p>
          <a:p>
            <a:pPr>
              <a:spcAft>
                <a:spcPts val="1700"/>
              </a:spcAft>
            </a:pPr>
            <a:r>
              <a:rPr sz="1500" b="0">
                <a:solidFill>
                  <a:srgbClr val="F2F2F5"/>
                </a:solidFill>
                <a:latin typeface="Arial"/>
              </a:rPr>
              <a:t>Every stage emits structured JSON to reports/. reports/report.md is the evidence index.</a:t>
            </a:r>
          </a:p>
          <a:p>
            <a:pPr>
              <a:spcAft>
                <a:spcPts val="1700"/>
              </a:spcAft>
            </a:pPr>
            <a:r>
              <a:rPr sz="1500" b="0">
                <a:solidFill>
                  <a:srgbClr val="3DD68C"/>
                </a:solidFill>
                <a:latin typeface="Arial"/>
              </a:rPr>
              <a:t>Non-reportable outputs are stamped NOT REPORTABLE inside the artifact itself, so a smoke-scale number cannot be quoted as a result by accident.</a:t>
            </a:r>
          </a:p>
          <a:p>
            <a:pPr>
              <a:spcAft>
                <a:spcPts val="1700"/>
              </a:spcAft>
            </a:pPr>
            <a:r>
              <a:rPr sz="1500" b="0">
                <a:solidFill>
                  <a:srgbClr val="F2F2F5"/>
                </a:solidFill>
                <a:latin typeface="Arial"/>
              </a:rPr>
              <a:t>The repository is a git history and the leakage suite reads it — commit_order_audit proves the sealed manifest predates the detector code.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51560"/>
            <a:ext cx="10698480" cy="1828800"/>
          </a:xfrm>
          <a:prstGeom prst="rect">
            <a:avLst/>
          </a:prstGeom>
          <a:noFill/>
        </p:spPr>
        <p:txBody>
          <a:bodyPr wrap="square" anchor="t">
            <a:normAutofit/>
          </a:bodyPr>
          <a:lstStyle/>
          <a:p>
            <a:pPr algn="l">
              <a:spcAft>
                <a:spcPts val="800"/>
              </a:spcAft>
            </a:pPr>
            <a:r>
              <a:rPr sz="1400" b="1">
                <a:solidFill>
                  <a:srgbClr val="4A9EFF"/>
                </a:solidFill>
                <a:latin typeface="Arial"/>
              </a:rPr>
              <a:t>What we built</a:t>
            </a:r>
          </a:p>
          <a:p>
            <a:pPr>
              <a:spcAft>
                <a:spcPts val="2400"/>
              </a:spcAft>
            </a:pPr>
            <a:r>
              <a:rPr sz="1800" b="0">
                <a:solidFill>
                  <a:srgbClr val="F2F2F5"/>
                </a:solidFill>
                <a:latin typeface="Arial"/>
              </a:rPr>
              <a:t>A grammar that generates 15,271 type-legal attacks. A simulator whose build refuses to violate rail semantics. A detector that catches 25% of attack compositions it has never seen, at 99.5% precision on a staffed queue — and +28.3 points of recall over the incumbent.</a:t>
            </a:r>
          </a:p>
        </p:txBody>
      </p:sp>
      <p:sp>
        <p:nvSpPr>
          <p:cNvPr id="4" name="TextBox 3"/>
          <p:cNvSpPr txBox="1"/>
          <p:nvPr/>
        </p:nvSpPr>
        <p:spPr>
          <a:xfrm>
            <a:off x="731520" y="3246120"/>
            <a:ext cx="10698480" cy="1554480"/>
          </a:xfrm>
          <a:prstGeom prst="rect">
            <a:avLst/>
          </a:prstGeom>
          <a:noFill/>
        </p:spPr>
        <p:txBody>
          <a:bodyPr wrap="square" anchor="t">
            <a:normAutofit/>
          </a:bodyPr>
          <a:lstStyle/>
          <a:p>
            <a:pPr algn="l">
              <a:spcAft>
                <a:spcPts val="800"/>
              </a:spcAft>
            </a:pPr>
            <a:r>
              <a:rPr sz="1400" b="1">
                <a:solidFill>
                  <a:srgbClr val="F5B14C"/>
                </a:solidFill>
                <a:latin typeface="Arial"/>
              </a:rPr>
              <a:t>What we think matters more</a:t>
            </a:r>
          </a:p>
          <a:p>
            <a:pPr>
              <a:spcAft>
                <a:spcPts val="0"/>
              </a:spcAft>
            </a:pPr>
            <a:r>
              <a:rPr sz="1800" b="0">
                <a:solidFill>
                  <a:srgbClr val="F2F2F5"/>
                </a:solidFill>
                <a:latin typeface="Arial"/>
              </a:rPr>
              <a:t>We built the instruments that found our own 4× fusion defect, our own policy bug, and our own generator artifacts — and we are showing you all three.</a:t>
            </a:r>
          </a:p>
        </p:txBody>
      </p:sp>
      <p:sp>
        <p:nvSpPr>
          <p:cNvPr id="5" name="Rectangle 4"/>
          <p:cNvSpPr/>
          <p:nvPr/>
        </p:nvSpPr>
        <p:spPr>
          <a:xfrm>
            <a:off x="731520" y="5029200"/>
            <a:ext cx="2606040" cy="868680"/>
          </a:xfrm>
          <a:prstGeom prst="rect">
            <a:avLst/>
          </a:prstGeom>
          <a:solidFill>
            <a:srgbClr val="15161D"/>
          </a:solidFill>
          <a:ln w="15240">
            <a:solidFill>
              <a:srgbClr val="4A9EFF"/>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4A9EFF"/>
                </a:solidFill>
                <a:latin typeface="Arial"/>
              </a:rPr>
              <a:t>15,271</a:t>
            </a:r>
            <a:br/>
            <a:r>
              <a:rPr sz="1200" b="1">
                <a:solidFill>
                  <a:srgbClr val="4A9EFF"/>
                </a:solidFill>
                <a:latin typeface="Arial"/>
              </a:rPr>
              <a:t>type-legal attacks</a:t>
            </a:r>
          </a:p>
        </p:txBody>
      </p:sp>
      <p:sp>
        <p:nvSpPr>
          <p:cNvPr id="6" name="Rectangle 5"/>
          <p:cNvSpPr/>
          <p:nvPr/>
        </p:nvSpPr>
        <p:spPr>
          <a:xfrm>
            <a:off x="3538728" y="5029200"/>
            <a:ext cx="2606040" cy="868680"/>
          </a:xfrm>
          <a:prstGeom prst="rect">
            <a:avLst/>
          </a:prstGeom>
          <a:solidFill>
            <a:srgbClr val="15161D"/>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3DD68C"/>
                </a:solidFill>
                <a:latin typeface="Arial"/>
              </a:rPr>
              <a:t>126</a:t>
            </a:r>
            <a:br/>
            <a:r>
              <a:rPr sz="1200" b="1">
                <a:solidFill>
                  <a:srgbClr val="3DD68C"/>
                </a:solidFill>
                <a:latin typeface="Arial"/>
              </a:rPr>
              <a:t>invariants as gates</a:t>
            </a:r>
          </a:p>
        </p:txBody>
      </p:sp>
      <p:sp>
        <p:nvSpPr>
          <p:cNvPr id="7" name="Rectangle 6"/>
          <p:cNvSpPr/>
          <p:nvPr/>
        </p:nvSpPr>
        <p:spPr>
          <a:xfrm>
            <a:off x="6345936" y="5029200"/>
            <a:ext cx="2606040" cy="868680"/>
          </a:xfrm>
          <a:prstGeom prst="rect">
            <a:avLst/>
          </a:prstGeom>
          <a:solidFill>
            <a:srgbClr val="15161D"/>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3DD68C"/>
                </a:solidFill>
                <a:latin typeface="Arial"/>
              </a:rPr>
              <a:t>6/6</a:t>
            </a:r>
            <a:br/>
            <a:r>
              <a:rPr sz="1200" b="1">
                <a:solidFill>
                  <a:srgbClr val="3DD68C"/>
                </a:solidFill>
                <a:latin typeface="Arial"/>
              </a:rPr>
              <a:t>leakage controls pass</a:t>
            </a:r>
          </a:p>
        </p:txBody>
      </p:sp>
      <p:sp>
        <p:nvSpPr>
          <p:cNvPr id="8" name="Rectangle 7"/>
          <p:cNvSpPr/>
          <p:nvPr/>
        </p:nvSpPr>
        <p:spPr>
          <a:xfrm>
            <a:off x="9153144" y="5029200"/>
            <a:ext cx="2606040" cy="868680"/>
          </a:xfrm>
          <a:prstGeom prst="rect">
            <a:avLst/>
          </a:prstGeom>
          <a:solidFill>
            <a:srgbClr val="15161D"/>
          </a:solidFill>
          <a:ln w="15240">
            <a:solidFill>
              <a:srgbClr val="4A9EFF"/>
            </a:solidFill>
          </a:ln>
          <a:effectLst/>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spcAft>
                <a:spcPts val="0"/>
              </a:spcAft>
            </a:pPr>
            <a:r>
              <a:rPr sz="1200" b="1">
                <a:solidFill>
                  <a:srgbClr val="4A9EFF"/>
                </a:solidFill>
                <a:latin typeface="Arial"/>
              </a:rPr>
              <a:t>0.2507</a:t>
            </a:r>
            <a:br/>
            <a:r>
              <a:rPr sz="1200" b="1">
                <a:solidFill>
                  <a:srgbClr val="4A9EFF"/>
                </a:solidFill>
                <a:latin typeface="Arial"/>
              </a:rPr>
              <a:t>recall, unseen compositions</a:t>
            </a:r>
          </a:p>
        </p:txBody>
      </p:sp>
      <p:sp>
        <p:nvSpPr>
          <p:cNvPr id="9" name="TextBox 8"/>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10" name="TextBox 9"/>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064240" cy="329184"/>
          </a:xfrm>
          <a:prstGeom prst="rect">
            <a:avLst/>
          </a:prstGeom>
          <a:noFill/>
        </p:spPr>
        <p:txBody>
          <a:bodyPr wrap="square" anchor="t">
            <a:normAutofit/>
          </a:bodyPr>
          <a:lstStyle/>
          <a:p>
            <a:pPr algn="l">
              <a:spcAft>
                <a:spcPts val="0"/>
              </a:spcAft>
            </a:pPr>
            <a:r>
              <a:rPr sz="1150" b="1">
                <a:solidFill>
                  <a:srgbClr val="4A9EFF"/>
                </a:solidFill>
                <a:latin typeface="Arial"/>
              </a:rPr>
              <a:t>APPENDIX</a:t>
            </a:r>
          </a:p>
        </p:txBody>
      </p:sp>
      <p:sp>
        <p:nvSpPr>
          <p:cNvPr id="4" name="TextBox 3"/>
          <p:cNvSpPr txBox="1"/>
          <p:nvPr/>
        </p:nvSpPr>
        <p:spPr>
          <a:xfrm>
            <a:off x="548640" y="603504"/>
            <a:ext cx="11064240" cy="640080"/>
          </a:xfrm>
          <a:prstGeom prst="rect">
            <a:avLst/>
          </a:prstGeom>
          <a:noFill/>
        </p:spPr>
        <p:txBody>
          <a:bodyPr wrap="square" anchor="t">
            <a:normAutofit/>
          </a:bodyPr>
          <a:lstStyle/>
          <a:p>
            <a:pPr algn="l">
              <a:spcAft>
                <a:spcPts val="0"/>
              </a:spcAft>
            </a:pPr>
            <a:r>
              <a:rPr sz="2800" b="1">
                <a:solidFill>
                  <a:srgbClr val="F2F2F5"/>
                </a:solidFill>
                <a:latin typeface="Arial"/>
              </a:rPr>
              <a:t>Numbers a judge may probe</a:t>
            </a:r>
          </a:p>
        </p:txBody>
      </p:sp>
      <p:sp>
        <p:nvSpPr>
          <p:cNvPr id="5" name="Rectangle 4"/>
          <p:cNvSpPr/>
          <p:nvPr/>
        </p:nvSpPr>
        <p:spPr>
          <a:xfrm>
            <a:off x="548640" y="1298448"/>
            <a:ext cx="1280160" cy="2286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19088"/>
            <a:ext cx="10241280" cy="292608"/>
          </a:xfrm>
          <a:prstGeom prst="rect">
            <a:avLst/>
          </a:prstGeom>
          <a:noFill/>
        </p:spPr>
        <p:txBody>
          <a:bodyPr wrap="square" anchor="t">
            <a:normAutofit/>
          </a:bodyPr>
          <a:lstStyle/>
          <a:p>
            <a:pPr algn="l">
              <a:spcAft>
                <a:spcPts val="0"/>
              </a:spcAft>
            </a:pPr>
            <a:r>
              <a:rPr sz="950" b="0">
                <a:solidFill>
                  <a:srgbClr val="9A9AA8"/>
                </a:solidFill>
                <a:latin typeface="Arial"/>
              </a:rPr>
              <a:t>VAJRA · Mastercard Innovation Challenge 2026</a:t>
            </a:r>
          </a:p>
        </p:txBody>
      </p:sp>
      <p:sp>
        <p:nvSpPr>
          <p:cNvPr id="7" name="TextBox 6"/>
          <p:cNvSpPr txBox="1"/>
          <p:nvPr/>
        </p:nvSpPr>
        <p:spPr>
          <a:xfrm>
            <a:off x="11155680" y="6419088"/>
            <a:ext cx="548640" cy="292608"/>
          </a:xfrm>
          <a:prstGeom prst="rect">
            <a:avLst/>
          </a:prstGeom>
          <a:noFill/>
        </p:spPr>
        <p:txBody>
          <a:bodyPr wrap="square" anchor="t">
            <a:normAutofit/>
          </a:bodyPr>
          <a:lstStyle/>
          <a:p>
            <a:pPr algn="r">
              <a:spcAft>
                <a:spcPts val="0"/>
              </a:spcAft>
            </a:pPr>
            <a:r>
              <a:rPr sz="950" b="0">
                <a:solidFill>
                  <a:srgbClr val="9A9AA8"/>
                </a:solidFill>
                <a:latin typeface="Arial"/>
              </a:rPr>
              <a:t>19</a:t>
            </a:r>
          </a:p>
        </p:txBody>
      </p:sp>
      <p:graphicFrame>
        <p:nvGraphicFramePr>
          <p:cNvPr id="8" name="Table 7"/>
          <p:cNvGraphicFramePr>
            <a:graphicFrameLocks noGrp="1"/>
          </p:cNvGraphicFramePr>
          <p:nvPr/>
        </p:nvGraphicFramePr>
        <p:xfrm>
          <a:off x="548640" y="1463040"/>
          <a:ext cx="11064240" cy="3661251"/>
        </p:xfrm>
        <a:graphic>
          <a:graphicData uri="http://schemas.openxmlformats.org/drawingml/2006/table">
            <a:tbl>
              <a:tblPr firstRow="1" bandRow="1">
                <a:tableStyleId>{5C22544A-7EE6-4342-B048-85BDC9FD1C3A}</a:tableStyleId>
              </a:tblPr>
              <a:tblGrid>
                <a:gridCol w="4023360"/>
                <a:gridCol w="2926080"/>
                <a:gridCol w="4114800"/>
              </a:tblGrid>
              <a:tr h="332841">
                <a:tc>
                  <a:txBody>
                    <a:bodyPr wrap="square"/>
                    <a:lstStyle/>
                    <a:p>
                      <a:r>
                        <a:rPr sz="1050" b="1">
                          <a:solidFill>
                            <a:srgbClr val="4A9EFF"/>
                          </a:solidFill>
                          <a:latin typeface="Arial"/>
                        </a:rPr>
                        <a:t>claim</a:t>
                      </a:r>
                    </a:p>
                  </a:txBody>
                  <a:tcPr marL="91440" marR="91440" marT="18288" marB="18288" anchor="ctr">
                    <a:solidFill>
                      <a:srgbClr val="0B0B0F"/>
                    </a:solidFill>
                  </a:tcPr>
                </a:tc>
                <a:tc>
                  <a:txBody>
                    <a:bodyPr wrap="square"/>
                    <a:lstStyle/>
                    <a:p>
                      <a:r>
                        <a:rPr sz="1050" b="1">
                          <a:solidFill>
                            <a:srgbClr val="4A9EFF"/>
                          </a:solidFill>
                          <a:latin typeface="Arial"/>
                        </a:rPr>
                        <a:t>value</a:t>
                      </a:r>
                    </a:p>
                  </a:txBody>
                  <a:tcPr marL="91440" marR="91440" marT="18288" marB="18288" anchor="ctr">
                    <a:solidFill>
                      <a:srgbClr val="0B0B0F"/>
                    </a:solidFill>
                  </a:tcPr>
                </a:tc>
                <a:tc>
                  <a:txBody>
                    <a:bodyPr wrap="square"/>
                    <a:lstStyle/>
                    <a:p>
                      <a:r>
                        <a:rPr sz="1050" b="1">
                          <a:solidFill>
                            <a:srgbClr val="4A9EFF"/>
                          </a:solidFill>
                          <a:latin typeface="Arial"/>
                        </a:rPr>
                        <a:t>source</a:t>
                      </a:r>
                    </a:p>
                  </a:txBody>
                  <a:tcPr marL="91440" marR="91440" marT="18288" marB="18288" anchor="ctr">
                    <a:solidFill>
                      <a:srgbClr val="0B0B0F"/>
                    </a:solidFill>
                  </a:tcPr>
                </a:tc>
              </a:tr>
              <a:tr h="332841">
                <a:tc>
                  <a:txBody>
                    <a:bodyPr wrap="square"/>
                    <a:lstStyle/>
                    <a:p>
                      <a:r>
                        <a:rPr sz="1150" b="0">
                          <a:solidFill>
                            <a:srgbClr val="F2F2F5"/>
                          </a:solidFill>
                          <a:latin typeface="Arial"/>
                        </a:rPr>
                        <a:t>events / label records</a:t>
                      </a:r>
                    </a:p>
                  </a:txBody>
                  <a:tcPr marL="91440" marR="91440" marT="18288" marB="18288" anchor="ctr">
                    <a:solidFill>
                      <a:srgbClr val="15161D"/>
                    </a:solidFill>
                  </a:tcPr>
                </a:tc>
                <a:tc>
                  <a:txBody>
                    <a:bodyPr wrap="square"/>
                    <a:lstStyle/>
                    <a:p>
                      <a:r>
                        <a:rPr sz="1150" b="0">
                          <a:solidFill>
                            <a:srgbClr val="F2F2F5"/>
                          </a:solidFill>
                          <a:latin typeface="Arial"/>
                        </a:rPr>
                        <a:t>9,899,667 / 374,077</a:t>
                      </a:r>
                    </a:p>
                  </a:txBody>
                  <a:tcPr marL="91440" marR="91440" marT="18288" marB="18288" anchor="ctr">
                    <a:solidFill>
                      <a:srgbClr val="15161D"/>
                    </a:solidFill>
                  </a:tcPr>
                </a:tc>
                <a:tc>
                  <a:txBody>
                    <a:bodyPr wrap="square"/>
                    <a:lstStyle/>
                    <a:p>
                      <a:r>
                        <a:rPr sz="1150" b="0">
                          <a:solidFill>
                            <a:srgbClr val="F2F2F5"/>
                          </a:solidFill>
                          <a:latin typeface="Arial"/>
                        </a:rPr>
                        <a:t>reports/sim_report_vajra-sim.json</a:t>
                      </a:r>
                    </a:p>
                  </a:txBody>
                  <a:tcPr marL="91440" marR="91440" marT="18288" marB="18288" anchor="ctr">
                    <a:solidFill>
                      <a:srgbClr val="15161D"/>
                    </a:solidFill>
                  </a:tcPr>
                </a:tc>
              </a:tr>
              <a:tr h="332841">
                <a:tc>
                  <a:txBody>
                    <a:bodyPr wrap="square"/>
                    <a:lstStyle/>
                    <a:p>
                      <a:r>
                        <a:rPr sz="1150" b="0">
                          <a:solidFill>
                            <a:srgbClr val="F2F2F5"/>
                          </a:solidFill>
                          <a:latin typeface="Arial"/>
                        </a:rPr>
                        <a:t>type-legal compositions</a:t>
                      </a:r>
                    </a:p>
                  </a:txBody>
                  <a:tcPr marL="91440" marR="91440" marT="18288" marB="18288" anchor="ctr">
                    <a:solidFill>
                      <a:srgbClr val="15161D"/>
                    </a:solidFill>
                  </a:tcPr>
                </a:tc>
                <a:tc>
                  <a:txBody>
                    <a:bodyPr wrap="square"/>
                    <a:lstStyle/>
                    <a:p>
                      <a:r>
                        <a:rPr sz="1150" b="0">
                          <a:solidFill>
                            <a:srgbClr val="F2F2F5"/>
                          </a:solidFill>
                          <a:latin typeface="Arial"/>
                        </a:rPr>
                        <a:t>15,271</a:t>
                      </a:r>
                    </a:p>
                  </a:txBody>
                  <a:tcPr marL="91440" marR="91440" marT="18288" marB="18288" anchor="ctr">
                    <a:solidFill>
                      <a:srgbClr val="15161D"/>
                    </a:solidFill>
                  </a:tcPr>
                </a:tc>
                <a:tc>
                  <a:txBody>
                    <a:bodyPr wrap="square"/>
                    <a:lstStyle/>
                    <a:p>
                      <a:r>
                        <a:rPr sz="1150" b="0">
                          <a:solidFill>
                            <a:srgbClr val="F2F2F5"/>
                          </a:solidFill>
                          <a:latin typeface="Arial"/>
                        </a:rPr>
                        <a:t>make grammar</a:t>
                      </a:r>
                    </a:p>
                  </a:txBody>
                  <a:tcPr marL="91440" marR="91440" marT="18288" marB="18288" anchor="ctr">
                    <a:solidFill>
                      <a:srgbClr val="15161D"/>
                    </a:solidFill>
                  </a:tcPr>
                </a:tc>
              </a:tr>
              <a:tr h="332841">
                <a:tc>
                  <a:txBody>
                    <a:bodyPr wrap="square"/>
                    <a:lstStyle/>
                    <a:p>
                      <a:r>
                        <a:rPr sz="1150" b="0">
                          <a:solidFill>
                            <a:srgbClr val="F2F2F5"/>
                          </a:solidFill>
                          <a:latin typeface="Arial"/>
                        </a:rPr>
                        <a:t>archive cells reachable</a:t>
                      </a:r>
                    </a:p>
                  </a:txBody>
                  <a:tcPr marL="91440" marR="91440" marT="18288" marB="18288" anchor="ctr">
                    <a:solidFill>
                      <a:srgbClr val="15161D"/>
                    </a:solidFill>
                  </a:tcPr>
                </a:tc>
                <a:tc>
                  <a:txBody>
                    <a:bodyPr wrap="square"/>
                    <a:lstStyle/>
                    <a:p>
                      <a:r>
                        <a:rPr sz="1150" b="0">
                          <a:solidFill>
                            <a:srgbClr val="F2F2F5"/>
                          </a:solidFill>
                          <a:latin typeface="Arial"/>
                        </a:rPr>
                        <a:t>268 of 380</a:t>
                      </a:r>
                    </a:p>
                  </a:txBody>
                  <a:tcPr marL="91440" marR="91440" marT="18288" marB="18288" anchor="ctr">
                    <a:solidFill>
                      <a:srgbClr val="15161D"/>
                    </a:solidFill>
                  </a:tcPr>
                </a:tc>
                <a:tc>
                  <a:txBody>
                    <a:bodyPr wrap="square"/>
                    <a:lstStyle/>
                    <a:p>
                      <a:r>
                        <a:rPr sz="1150" b="0">
                          <a:solidFill>
                            <a:srgbClr val="F2F2F5"/>
                          </a:solidFill>
                          <a:latin typeface="Arial"/>
                        </a:rPr>
                        <a:t>reports/archive_report.json</a:t>
                      </a:r>
                    </a:p>
                  </a:txBody>
                  <a:tcPr marL="91440" marR="91440" marT="18288" marB="18288" anchor="ctr">
                    <a:solidFill>
                      <a:srgbClr val="15161D"/>
                    </a:solidFill>
                  </a:tcPr>
                </a:tc>
              </a:tr>
              <a:tr h="332841">
                <a:tc>
                  <a:txBody>
                    <a:bodyPr wrap="square"/>
                    <a:lstStyle/>
                    <a:p>
                      <a:r>
                        <a:rPr sz="1150" b="0">
                          <a:solidFill>
                            <a:srgbClr val="F2F2F5"/>
                          </a:solidFill>
                          <a:latin typeface="Arial"/>
                        </a:rPr>
                        <a:t>F1 rail invariants</a:t>
                      </a:r>
                    </a:p>
                  </a:txBody>
                  <a:tcPr marL="91440" marR="91440" marT="18288" marB="18288" anchor="ctr">
                    <a:solidFill>
                      <a:srgbClr val="15161D"/>
                    </a:solidFill>
                  </a:tcPr>
                </a:tc>
                <a:tc>
                  <a:txBody>
                    <a:bodyPr wrap="square"/>
                    <a:lstStyle/>
                    <a:p>
                      <a:r>
                        <a:rPr sz="1150" b="0">
                          <a:solidFill>
                            <a:srgbClr val="F2F2F5"/>
                          </a:solidFill>
                          <a:latin typeface="Arial"/>
                        </a:rPr>
                        <a:t>126</a:t>
                      </a:r>
                    </a:p>
                  </a:txBody>
                  <a:tcPr marL="91440" marR="91440" marT="18288" marB="18288" anchor="ctr">
                    <a:solidFill>
                      <a:srgbClr val="15161D"/>
                    </a:solidFill>
                  </a:tcPr>
                </a:tc>
                <a:tc>
                  <a:txBody>
                    <a:bodyPr wrap="square"/>
                    <a:lstStyle/>
                    <a:p>
                      <a:r>
                        <a:rPr sz="1150" b="0">
                          <a:solidFill>
                            <a:srgbClr val="F2F2F5"/>
                          </a:solidFill>
                          <a:latin typeface="Arial"/>
                        </a:rPr>
                        <a:t>make sim</a:t>
                      </a:r>
                    </a:p>
                  </a:txBody>
                  <a:tcPr marL="91440" marR="91440" marT="18288" marB="18288" anchor="ctr">
                    <a:solidFill>
                      <a:srgbClr val="15161D"/>
                    </a:solidFill>
                  </a:tcPr>
                </a:tc>
              </a:tr>
              <a:tr h="332841">
                <a:tc>
                  <a:txBody>
                    <a:bodyPr wrap="square"/>
                    <a:lstStyle/>
                    <a:p>
                      <a:r>
                        <a:rPr sz="1150" b="0">
                          <a:solidFill>
                            <a:srgbClr val="F2F2F5"/>
                          </a:solidFill>
                          <a:latin typeface="Arial"/>
                        </a:rPr>
                        <a:t>model features (issuer view)</a:t>
                      </a:r>
                    </a:p>
                  </a:txBody>
                  <a:tcPr marL="91440" marR="91440" marT="18288" marB="18288" anchor="ctr">
                    <a:solidFill>
                      <a:srgbClr val="15161D"/>
                    </a:solidFill>
                  </a:tcPr>
                </a:tc>
                <a:tc>
                  <a:txBody>
                    <a:bodyPr wrap="square"/>
                    <a:lstStyle/>
                    <a:p>
                      <a:r>
                        <a:rPr sz="1150" b="0">
                          <a:solidFill>
                            <a:srgbClr val="F2F2F5"/>
                          </a:solidFill>
                          <a:latin typeface="Arial"/>
                        </a:rPr>
                        <a:t>392 (319)</a:t>
                      </a:r>
                    </a:p>
                  </a:txBody>
                  <a:tcPr marL="91440" marR="91440" marT="18288" marB="18288" anchor="ctr">
                    <a:solidFill>
                      <a:srgbClr val="15161D"/>
                    </a:solidFill>
                  </a:tcPr>
                </a:tc>
                <a:tc>
                  <a:txBody>
                    <a:bodyPr wrap="square"/>
                    <a:lstStyle/>
                    <a:p>
                      <a:r>
                        <a:rPr sz="1150" b="0">
                          <a:solidFill>
                            <a:srgbClr val="F2F2F5"/>
                          </a:solidFill>
                          <a:latin typeface="Arial"/>
                        </a:rPr>
                        <a:t>reports/train_report_issuer.json</a:t>
                      </a:r>
                    </a:p>
                  </a:txBody>
                  <a:tcPr marL="91440" marR="91440" marT="18288" marB="18288" anchor="ctr">
                    <a:solidFill>
                      <a:srgbClr val="15161D"/>
                    </a:solidFill>
                  </a:tcPr>
                </a:tc>
              </a:tr>
              <a:tr h="332841">
                <a:tc>
                  <a:txBody>
                    <a:bodyPr wrap="square"/>
                    <a:lstStyle/>
                    <a:p>
                      <a:r>
                        <a:rPr sz="1150" b="0">
                          <a:solidFill>
                            <a:srgbClr val="F2F2F5"/>
                          </a:solidFill>
                          <a:latin typeface="Arial"/>
                        </a:rPr>
                        <a:t>best boosting iteration</a:t>
                      </a:r>
                    </a:p>
                  </a:txBody>
                  <a:tcPr marL="91440" marR="91440" marT="18288" marB="18288" anchor="ctr">
                    <a:solidFill>
                      <a:srgbClr val="15161D"/>
                    </a:solidFill>
                  </a:tcPr>
                </a:tc>
                <a:tc>
                  <a:txBody>
                    <a:bodyPr wrap="square"/>
                    <a:lstStyle/>
                    <a:p>
                      <a:r>
                        <a:rPr sz="1150" b="0">
                          <a:solidFill>
                            <a:srgbClr val="F2F2F5"/>
                          </a:solidFill>
                          <a:latin typeface="Arial"/>
                        </a:rPr>
                        <a:t>221 of 600</a:t>
                      </a:r>
                    </a:p>
                  </a:txBody>
                  <a:tcPr marL="91440" marR="91440" marT="18288" marB="18288" anchor="ctr">
                    <a:solidFill>
                      <a:srgbClr val="15161D"/>
                    </a:solidFill>
                  </a:tcPr>
                </a:tc>
                <a:tc>
                  <a:txBody>
                    <a:bodyPr wrap="square"/>
                    <a:lstStyle/>
                    <a:p>
                      <a:r>
                        <a:rPr sz="1150" b="0">
                          <a:solidFill>
                            <a:srgbClr val="F2F2F5"/>
                          </a:solidFill>
                          <a:latin typeface="Arial"/>
                        </a:rPr>
                        <a:t>same</a:t>
                      </a:r>
                    </a:p>
                  </a:txBody>
                  <a:tcPr marL="91440" marR="91440" marT="18288" marB="18288" anchor="ctr">
                    <a:solidFill>
                      <a:srgbClr val="15161D"/>
                    </a:solidFill>
                  </a:tcPr>
                </a:tc>
              </a:tr>
              <a:tr h="332841">
                <a:tc>
                  <a:txBody>
                    <a:bodyPr wrap="square"/>
                    <a:lstStyle/>
                    <a:p>
                      <a:r>
                        <a:rPr sz="1150" b="0">
                          <a:solidFill>
                            <a:srgbClr val="F2F2F5"/>
                          </a:solidFill>
                          <a:latin typeface="Arial"/>
                        </a:rPr>
                        <a:t>leakage suite</a:t>
                      </a:r>
                    </a:p>
                  </a:txBody>
                  <a:tcPr marL="91440" marR="91440" marT="18288" marB="18288" anchor="ctr">
                    <a:solidFill>
                      <a:srgbClr val="15161D"/>
                    </a:solidFill>
                  </a:tcPr>
                </a:tc>
                <a:tc>
                  <a:txBody>
                    <a:bodyPr wrap="square"/>
                    <a:lstStyle/>
                    <a:p>
                      <a:r>
                        <a:rPr sz="1150" b="0">
                          <a:solidFill>
                            <a:srgbClr val="F2F2F5"/>
                          </a:solidFill>
                          <a:latin typeface="Arial"/>
                        </a:rPr>
                        <a:t>6/6 PASS</a:t>
                      </a:r>
                    </a:p>
                  </a:txBody>
                  <a:tcPr marL="91440" marR="91440" marT="18288" marB="18288" anchor="ctr">
                    <a:solidFill>
                      <a:srgbClr val="15161D"/>
                    </a:solidFill>
                  </a:tcPr>
                </a:tc>
                <a:tc>
                  <a:txBody>
                    <a:bodyPr wrap="square"/>
                    <a:lstStyle/>
                    <a:p>
                      <a:r>
                        <a:rPr sz="1150" b="0">
                          <a:solidFill>
                            <a:srgbClr val="F2F2F5"/>
                          </a:solidFill>
                          <a:latin typeface="Arial"/>
                        </a:rPr>
                        <a:t>reports/metrics_issuer.json</a:t>
                      </a:r>
                    </a:p>
                  </a:txBody>
                  <a:tcPr marL="91440" marR="91440" marT="18288" marB="18288" anchor="ctr">
                    <a:solidFill>
                      <a:srgbClr val="15161D"/>
                    </a:solidFill>
                  </a:tcPr>
                </a:tc>
              </a:tr>
              <a:tr h="332841">
                <a:tc>
                  <a:txBody>
                    <a:bodyPr wrap="square"/>
                    <a:lstStyle/>
                    <a:p>
                      <a:r>
                        <a:rPr sz="1150" b="0">
                          <a:solidFill>
                            <a:srgbClr val="F2F2F5"/>
                          </a:solidFill>
                          <a:latin typeface="Arial"/>
                        </a:rPr>
                        <a:t>sealed rows excluded from training</a:t>
                      </a:r>
                    </a:p>
                  </a:txBody>
                  <a:tcPr marL="91440" marR="91440" marT="18288" marB="18288" anchor="ctr">
                    <a:solidFill>
                      <a:srgbClr val="15161D"/>
                    </a:solidFill>
                  </a:tcPr>
                </a:tc>
                <a:tc>
                  <a:txBody>
                    <a:bodyPr wrap="square"/>
                    <a:lstStyle/>
                    <a:p>
                      <a:r>
                        <a:rPr sz="1150" b="0">
                          <a:solidFill>
                            <a:srgbClr val="F2F2F5"/>
                          </a:solidFill>
                          <a:latin typeface="Arial"/>
                        </a:rPr>
                        <a:t>1,791,118</a:t>
                      </a:r>
                    </a:p>
                  </a:txBody>
                  <a:tcPr marL="91440" marR="91440" marT="18288" marB="18288" anchor="ctr">
                    <a:solidFill>
                      <a:srgbClr val="15161D"/>
                    </a:solidFill>
                  </a:tcPr>
                </a:tc>
                <a:tc>
                  <a:txBody>
                    <a:bodyPr wrap="square"/>
                    <a:lstStyle/>
                    <a:p>
                      <a:r>
                        <a:rPr sz="1150" b="0">
                          <a:solidFill>
                            <a:srgbClr val="F2F2F5"/>
                          </a:solidFill>
                          <a:latin typeface="Arial"/>
                        </a:rPr>
                        <a:t>same</a:t>
                      </a:r>
                    </a:p>
                  </a:txBody>
                  <a:tcPr marL="91440" marR="91440" marT="18288" marB="18288" anchor="ctr">
                    <a:solidFill>
                      <a:srgbClr val="15161D"/>
                    </a:solidFill>
                  </a:tcPr>
                </a:tc>
              </a:tr>
              <a:tr h="332841">
                <a:tc>
                  <a:txBody>
                    <a:bodyPr wrap="square"/>
                    <a:lstStyle/>
                    <a:p>
                      <a:r>
                        <a:rPr sz="1150" b="0">
                          <a:solidFill>
                            <a:srgbClr val="F2F2F5"/>
                          </a:solidFill>
                          <a:latin typeface="Arial"/>
                        </a:rPr>
                        <a:t>reason codes</a:t>
                      </a:r>
                    </a:p>
                  </a:txBody>
                  <a:tcPr marL="91440" marR="91440" marT="18288" marB="18288" anchor="ctr">
                    <a:solidFill>
                      <a:srgbClr val="15161D"/>
                    </a:solidFill>
                  </a:tcPr>
                </a:tc>
                <a:tc>
                  <a:txBody>
                    <a:bodyPr wrap="square"/>
                    <a:lstStyle/>
                    <a:p>
                      <a:r>
                        <a:rPr sz="1150" b="0">
                          <a:solidFill>
                            <a:srgbClr val="F2F2F5"/>
                          </a:solidFill>
                          <a:latin typeface="Arial"/>
                        </a:rPr>
                        <a:t>54</a:t>
                      </a:r>
                    </a:p>
                  </a:txBody>
                  <a:tcPr marL="91440" marR="91440" marT="18288" marB="18288" anchor="ctr">
                    <a:solidFill>
                      <a:srgbClr val="15161D"/>
                    </a:solidFill>
                  </a:tcPr>
                </a:tc>
                <a:tc>
                  <a:txBody>
                    <a:bodyPr wrap="square"/>
                    <a:lstStyle/>
                    <a:p>
                      <a:r>
                        <a:rPr sz="1150" b="0">
                          <a:solidFill>
                            <a:srgbClr val="F2F2F5"/>
                          </a:solidFill>
                          <a:latin typeface="Arial"/>
                        </a:rPr>
                        <a:t>make grammar</a:t>
                      </a:r>
                    </a:p>
                  </a:txBody>
                  <a:tcPr marL="91440" marR="91440" marT="18288" marB="18288" anchor="ctr">
                    <a:solidFill>
                      <a:srgbClr val="15161D"/>
                    </a:solidFill>
                  </a:tcPr>
                </a:tc>
              </a:tr>
              <a:tr h="332841">
                <a:tc>
                  <a:txBody>
                    <a:bodyPr wrap="square"/>
                    <a:lstStyle/>
                    <a:p>
                      <a:r>
                        <a:rPr sz="1150" b="0">
                          <a:solidFill>
                            <a:srgbClr val="F2F2F5"/>
                          </a:solidFill>
                          <a:latin typeface="Arial"/>
                        </a:rPr>
                        <a:t>fusion arm selected, all four views</a:t>
                      </a:r>
                    </a:p>
                  </a:txBody>
                  <a:tcPr marL="91440" marR="91440" marT="18288" marB="18288" anchor="ctr">
                    <a:solidFill>
                      <a:srgbClr val="15161D"/>
                    </a:solidFill>
                  </a:tcPr>
                </a:tc>
                <a:tc>
                  <a:txBody>
                    <a:bodyPr wrap="square"/>
                    <a:lstStyle/>
                    <a:p>
                      <a:r>
                        <a:rPr sz="1150" b="0">
                          <a:solidFill>
                            <a:srgbClr val="F2F2F5"/>
                          </a:solidFill>
                          <a:latin typeface="Arial"/>
                        </a:rPr>
                        <a:t>g1_only</a:t>
                      </a:r>
                    </a:p>
                  </a:txBody>
                  <a:tcPr marL="91440" marR="91440" marT="18288" marB="18288" anchor="ctr">
                    <a:solidFill>
                      <a:srgbClr val="15161D"/>
                    </a:solidFill>
                  </a:tcPr>
                </a:tc>
                <a:tc>
                  <a:txBody>
                    <a:bodyPr wrap="square"/>
                    <a:lstStyle/>
                    <a:p>
                      <a:r>
                        <a:rPr sz="1150" b="0">
                          <a:solidFill>
                            <a:srgbClr val="F2F2F5"/>
                          </a:solidFill>
                          <a:latin typeface="Arial"/>
                        </a:rPr>
                        <a:t>reports/fusion_ablation_*.json</a:t>
                      </a:r>
                    </a:p>
                  </a:txBody>
                  <a:tcPr marL="91440" marR="91440" marT="18288" marB="18288" anchor="ctr">
                    <a:solidFill>
                      <a:srgbClr val="15161D"/>
                    </a:solidFill>
                  </a:tcPr>
                </a:tc>
              </a:tr>
            </a:tbl>
          </a:graphicData>
        </a:graphic>
      </p:graphicFrame>
      <p:sp>
        <p:nvSpPr>
          <p:cNvPr id="9" name="TextBox 8"/>
          <p:cNvSpPr txBox="1"/>
          <p:nvPr/>
        </p:nvSpPr>
        <p:spPr>
          <a:xfrm>
            <a:off x="548640" y="4892040"/>
            <a:ext cx="11064240" cy="1463040"/>
          </a:xfrm>
          <a:prstGeom prst="rect">
            <a:avLst/>
          </a:prstGeom>
          <a:noFill/>
        </p:spPr>
        <p:txBody>
          <a:bodyPr wrap="square" anchor="t">
            <a:normAutofit/>
          </a:bodyPr>
          <a:lstStyle/>
          <a:p>
            <a:pPr algn="l">
              <a:spcAft>
                <a:spcPts val="800"/>
              </a:spcAft>
            </a:pPr>
            <a:r>
              <a:rPr sz="1200" b="0">
                <a:solidFill>
                  <a:srgbClr val="F5B14C"/>
                </a:solidFill>
                <a:latin typeface="Arial"/>
              </a:rPr>
              <a:t>SAY PRECISELY: precision@k = 0.9953 at k = 641 against 14,918 attacks means the QUEUE IS NEARLY PURE, not that we catch nearly everything. Always pair it with recall 0.3142.</a:t>
            </a:r>
          </a:p>
          <a:p>
            <a:pPr>
              <a:spcAft>
                <a:spcPts val="800"/>
              </a:spcAft>
            </a:pPr>
            <a:r>
              <a:rPr sz="1200" b="0">
                <a:solidFill>
                  <a:srgbClr val="F5B14C"/>
                </a:solidFill>
                <a:latin typeface="Arial"/>
              </a:rPr>
              <a:t>Our headline is measured against ORACLE attack truth. Agreement with the realised label channel is a different question: PR-AUC 0.2573 over 21,723 positives, of which 6,805 (31.3%) are not attacks. Both are reported; neither hides inside the other.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