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52"/>
    <p:restoredTop sz="97020"/>
  </p:normalViewPr>
  <p:slideViewPr>
    <p:cSldViewPr snapToGrid="0" snapToObjects="1">
      <p:cViewPr varScale="1">
        <p:scale>
          <a:sx n="149" d="100"/>
          <a:sy n="149" d="100"/>
        </p:scale>
        <p:origin x="192" y="4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719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35263"/>
            <a:ext cx="10515600" cy="1188720"/>
          </a:xfrm>
          <a:prstGeom prst="rect">
            <a:avLst/>
          </a:prstGeom>
          <a:noFill/>
        </p:spPr>
        <p:txBody>
          <a:bodyPr wrap="square" anchor="t">
            <a:normAutofit/>
          </a:bodyPr>
          <a:lstStyle/>
          <a:p>
            <a:pPr algn="l">
              <a:spcAft>
                <a:spcPts val="0"/>
              </a:spcAft>
            </a:pPr>
            <a:r>
              <a:rPr sz="7200" b="1" dirty="0">
                <a:solidFill>
                  <a:srgbClr val="F2F2F5"/>
                </a:solidFill>
                <a:latin typeface="Arial"/>
              </a:rPr>
              <a:t>VAJRA</a:t>
            </a:r>
          </a:p>
        </p:txBody>
      </p:sp>
      <p:sp>
        <p:nvSpPr>
          <p:cNvPr id="4" name="TextBox 3"/>
          <p:cNvSpPr txBox="1"/>
          <p:nvPr/>
        </p:nvSpPr>
        <p:spPr>
          <a:xfrm>
            <a:off x="822960" y="2600911"/>
            <a:ext cx="10515600" cy="1280160"/>
          </a:xfrm>
          <a:prstGeom prst="rect">
            <a:avLst/>
          </a:prstGeom>
          <a:noFill/>
        </p:spPr>
        <p:txBody>
          <a:bodyPr wrap="square" anchor="t">
            <a:normAutofit/>
          </a:bodyPr>
          <a:lstStyle/>
          <a:p>
            <a:pPr algn="l">
              <a:spcAft>
                <a:spcPts val="1200"/>
              </a:spcAft>
            </a:pPr>
            <a:r>
              <a:rPr sz="2300" b="0" dirty="0">
                <a:solidFill>
                  <a:srgbClr val="F2F2F5"/>
                </a:solidFill>
                <a:latin typeface="Arial"/>
              </a:rPr>
              <a:t>A closed-loop red-team / blue-team system for GenAI payment fraud</a:t>
            </a:r>
          </a:p>
          <a:p>
            <a:pPr>
              <a:spcAft>
                <a:spcPts val="800"/>
              </a:spcAft>
            </a:pPr>
            <a:r>
              <a:rPr sz="1500" b="0" dirty="0">
                <a:solidFill>
                  <a:srgbClr val="9A9AA8"/>
                </a:solidFill>
                <a:latin typeface="Arial"/>
              </a:rPr>
              <a:t>Invent the attack  →  live it out on the rail  →  catch it  →  feed what escaped back in</a:t>
            </a:r>
          </a:p>
        </p:txBody>
      </p:sp>
      <p:sp>
        <p:nvSpPr>
          <p:cNvPr id="5" name="TextBox 4"/>
          <p:cNvSpPr txBox="1"/>
          <p:nvPr/>
        </p:nvSpPr>
        <p:spPr>
          <a:xfrm>
            <a:off x="822960" y="3827233"/>
            <a:ext cx="10515600" cy="365760"/>
          </a:xfrm>
          <a:prstGeom prst="rect">
            <a:avLst/>
          </a:prstGeom>
          <a:noFill/>
        </p:spPr>
        <p:txBody>
          <a:bodyPr wrap="square" anchor="t">
            <a:normAutofit/>
          </a:bodyPr>
          <a:lstStyle/>
          <a:p>
            <a:pPr algn="l">
              <a:spcAft>
                <a:spcPts val="0"/>
              </a:spcAft>
            </a:pPr>
            <a:r>
              <a:rPr sz="1500" b="1" dirty="0">
                <a:solidFill>
                  <a:srgbClr val="4A9EFF"/>
                </a:solidFill>
                <a:latin typeface="Arial"/>
              </a:rPr>
              <a:t>The next twenty minutes are a walk through that loop, in five stops.</a:t>
            </a:r>
          </a:p>
        </p:txBody>
      </p:sp>
      <p:sp>
        <p:nvSpPr>
          <p:cNvPr id="6" name="Rectangle 5"/>
          <p:cNvSpPr/>
          <p:nvPr/>
        </p:nvSpPr>
        <p:spPr>
          <a:xfrm>
            <a:off x="822960" y="4627119"/>
            <a:ext cx="2606040" cy="868680"/>
          </a:xfrm>
          <a:prstGeom prst="rect">
            <a:avLst/>
          </a:prstGeom>
          <a:solidFill>
            <a:srgbClr val="15161D"/>
          </a:solidFill>
          <a:ln w="15240">
            <a:solidFill>
              <a:srgbClr val="E8505B"/>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E8505B"/>
                </a:solidFill>
                <a:latin typeface="Arial"/>
              </a:rPr>
              <a:t>A LANGUAGE</a:t>
            </a:r>
            <a:br/>
            <a:r>
              <a:rPr sz="1200" b="1">
                <a:solidFill>
                  <a:srgbClr val="E8505B"/>
                </a:solidFill>
                <a:latin typeface="Arial"/>
              </a:rPr>
              <a:t>for attacks, not a list</a:t>
            </a:r>
          </a:p>
        </p:txBody>
      </p:sp>
      <p:sp>
        <p:nvSpPr>
          <p:cNvPr id="7" name="Rectangle 6"/>
          <p:cNvSpPr/>
          <p:nvPr/>
        </p:nvSpPr>
        <p:spPr>
          <a:xfrm>
            <a:off x="3630168" y="4627119"/>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A WORLD</a:t>
            </a:r>
            <a:br/>
            <a:r>
              <a:rPr sz="1200" b="1">
                <a:solidFill>
                  <a:srgbClr val="3DD68C"/>
                </a:solidFill>
                <a:latin typeface="Arial"/>
              </a:rPr>
              <a:t>that refuses to cheat</a:t>
            </a:r>
          </a:p>
        </p:txBody>
      </p:sp>
      <p:sp>
        <p:nvSpPr>
          <p:cNvPr id="8" name="Rectangle 7"/>
          <p:cNvSpPr/>
          <p:nvPr/>
        </p:nvSpPr>
        <p:spPr>
          <a:xfrm>
            <a:off x="6437376" y="4627119"/>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A DEFENCE</a:t>
            </a:r>
            <a:br/>
            <a:r>
              <a:rPr sz="1200" b="1">
                <a:solidFill>
                  <a:srgbClr val="4A9EFF"/>
                </a:solidFill>
                <a:latin typeface="Arial"/>
              </a:rPr>
              <a:t>that sees the unseen</a:t>
            </a:r>
          </a:p>
        </p:txBody>
      </p:sp>
      <p:sp>
        <p:nvSpPr>
          <p:cNvPr id="9" name="Rectangle 8"/>
          <p:cNvSpPr/>
          <p:nvPr/>
        </p:nvSpPr>
        <p:spPr>
          <a:xfrm>
            <a:off x="9244584" y="4627119"/>
            <a:ext cx="2606040" cy="868680"/>
          </a:xfrm>
          <a:prstGeom prst="rect">
            <a:avLst/>
          </a:prstGeom>
          <a:solidFill>
            <a:srgbClr val="15161D"/>
          </a:solidFill>
          <a:ln w="15240">
            <a:solidFill>
              <a:srgbClr val="F5B14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F5B14C"/>
                </a:solidFill>
                <a:latin typeface="Arial"/>
              </a:rPr>
              <a:t>AND OUR OWN</a:t>
            </a:r>
            <a:br/>
            <a:r>
              <a:rPr sz="1200" b="1">
                <a:solidFill>
                  <a:srgbClr val="F5B14C"/>
                </a:solidFill>
                <a:latin typeface="Arial"/>
              </a:rPr>
              <a:t>audit of both</a:t>
            </a:r>
          </a:p>
        </p:txBody>
      </p:sp>
      <p:sp>
        <p:nvSpPr>
          <p:cNvPr id="10" name="TextBox 9"/>
          <p:cNvSpPr txBox="1"/>
          <p:nvPr/>
        </p:nvSpPr>
        <p:spPr>
          <a:xfrm>
            <a:off x="548640" y="6496002"/>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Mastercard Innovation Challenge 2026  ·  Global Fintech Fest, Mumbai</a:t>
            </a:r>
          </a:p>
        </p:txBody>
      </p:sp>
      <p:sp>
        <p:nvSpPr>
          <p:cNvPr id="11" name="TextBox 10"/>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4A9EFF"/>
                </a:solidFill>
                <a:latin typeface="Arial"/>
              </a:rPr>
              <a:t>HOW THIS WALK IS LAID OUT</a:t>
            </a:r>
          </a:p>
        </p:txBody>
      </p:sp>
      <p:sp>
        <p:nvSpPr>
          <p:cNvPr id="4" name="TextBox 3"/>
          <p:cNvSpPr txBox="1"/>
          <p:nvPr/>
        </p:nvSpPr>
        <p:spPr>
          <a:xfrm>
            <a:off x="548640" y="740237"/>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Five stops</a:t>
            </a:r>
          </a:p>
        </p:txBody>
      </p:sp>
      <p:sp>
        <p:nvSpPr>
          <p:cNvPr id="5" name="Rectangle 4"/>
          <p:cNvSpPr/>
          <p:nvPr/>
        </p:nvSpPr>
        <p:spPr>
          <a:xfrm>
            <a:off x="668283" y="597689"/>
            <a:ext cx="1280160" cy="2286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4"/>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2</a:t>
            </a:r>
          </a:p>
        </p:txBody>
      </p:sp>
      <p:sp>
        <p:nvSpPr>
          <p:cNvPr id="8" name="Rectangle 7"/>
          <p:cNvSpPr/>
          <p:nvPr/>
        </p:nvSpPr>
        <p:spPr>
          <a:xfrm>
            <a:off x="9866376" y="365760"/>
            <a:ext cx="274320" cy="4572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1 OF 5  ·  THE PROBLEM</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One idea per slide. The figures are the argument; the numbers are all measured.</a:t>
            </a:r>
          </a:p>
        </p:txBody>
      </p:sp>
      <p:sp>
        <p:nvSpPr>
          <p:cNvPr id="15" name="Rectangle 14"/>
          <p:cNvSpPr/>
          <p:nvPr/>
        </p:nvSpPr>
        <p:spPr>
          <a:xfrm>
            <a:off x="548640" y="1965960"/>
            <a:ext cx="2081174" cy="251460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2112264"/>
            <a:ext cx="1678838" cy="2240280"/>
          </a:xfrm>
          <a:prstGeom prst="rect">
            <a:avLst/>
          </a:prstGeom>
          <a:noFill/>
        </p:spPr>
        <p:txBody>
          <a:bodyPr wrap="square" anchor="t">
            <a:normAutofit/>
          </a:bodyPr>
          <a:lstStyle/>
          <a:p>
            <a:pPr algn="l">
              <a:spcAft>
                <a:spcPts val="700"/>
              </a:spcAft>
            </a:pPr>
            <a:r>
              <a:rPr sz="1200" b="1">
                <a:solidFill>
                  <a:srgbClr val="F5B14C"/>
                </a:solidFill>
                <a:latin typeface="Arial"/>
              </a:rPr>
              <a:t>STOP 1</a:t>
            </a:r>
          </a:p>
          <a:p>
            <a:pPr>
              <a:spcAft>
                <a:spcPts val="700"/>
              </a:spcAft>
            </a:pPr>
            <a:r>
              <a:rPr sz="1900" b="0">
                <a:solidFill>
                  <a:srgbClr val="F2F2F5"/>
                </a:solidFill>
                <a:latin typeface="Arial"/>
              </a:rPr>
              <a:t>The problem</a:t>
            </a:r>
          </a:p>
          <a:p>
            <a:pPr>
              <a:spcAft>
                <a:spcPts val="700"/>
              </a:spcAft>
            </a:pPr>
            <a:r>
              <a:rPr sz="1250" b="0">
                <a:solidFill>
                  <a:srgbClr val="F2F2F5"/>
                </a:solidFill>
                <a:latin typeface="Arial"/>
              </a:rPr>
              <a:t>Why fraud detection is hard in a way most demos never show you.</a:t>
            </a:r>
          </a:p>
        </p:txBody>
      </p:sp>
      <p:sp>
        <p:nvSpPr>
          <p:cNvPr id="17" name="Rectangle 16"/>
          <p:cNvSpPr/>
          <p:nvPr/>
        </p:nvSpPr>
        <p:spPr>
          <a:xfrm>
            <a:off x="2794406" y="1965960"/>
            <a:ext cx="2081174" cy="251460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95574" y="2112264"/>
            <a:ext cx="1678838" cy="2240280"/>
          </a:xfrm>
          <a:prstGeom prst="rect">
            <a:avLst/>
          </a:prstGeom>
          <a:noFill/>
        </p:spPr>
        <p:txBody>
          <a:bodyPr wrap="square" anchor="t">
            <a:normAutofit/>
          </a:bodyPr>
          <a:lstStyle/>
          <a:p>
            <a:pPr algn="l">
              <a:spcAft>
                <a:spcPts val="700"/>
              </a:spcAft>
            </a:pPr>
            <a:r>
              <a:rPr sz="1200" b="1">
                <a:solidFill>
                  <a:srgbClr val="E8505B"/>
                </a:solidFill>
                <a:latin typeface="Arial"/>
              </a:rPr>
              <a:t>STOP 2</a:t>
            </a:r>
          </a:p>
          <a:p>
            <a:pPr>
              <a:spcAft>
                <a:spcPts val="700"/>
              </a:spcAft>
            </a:pPr>
            <a:r>
              <a:rPr sz="1900" b="0">
                <a:solidFill>
                  <a:srgbClr val="F2F2F5"/>
                </a:solidFill>
                <a:latin typeface="Arial"/>
              </a:rPr>
              <a:t>The attacks</a:t>
            </a:r>
          </a:p>
          <a:p>
            <a:pPr>
              <a:spcAft>
                <a:spcPts val="700"/>
              </a:spcAft>
            </a:pPr>
            <a:r>
              <a:rPr sz="1250" b="0">
                <a:solidFill>
                  <a:srgbClr val="F2F2F5"/>
                </a:solidFill>
                <a:latin typeface="Arial"/>
              </a:rPr>
              <a:t>How we invent them, and why there are fifteen thousand of them.</a:t>
            </a:r>
          </a:p>
        </p:txBody>
      </p:sp>
      <p:sp>
        <p:nvSpPr>
          <p:cNvPr id="19" name="Rectangle 18"/>
          <p:cNvSpPr/>
          <p:nvPr/>
        </p:nvSpPr>
        <p:spPr>
          <a:xfrm>
            <a:off x="5040172" y="1965960"/>
            <a:ext cx="2081174" cy="251460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41340" y="2112264"/>
            <a:ext cx="1678838" cy="2240280"/>
          </a:xfrm>
          <a:prstGeom prst="rect">
            <a:avLst/>
          </a:prstGeom>
          <a:noFill/>
        </p:spPr>
        <p:txBody>
          <a:bodyPr wrap="square" anchor="t">
            <a:normAutofit/>
          </a:bodyPr>
          <a:lstStyle/>
          <a:p>
            <a:pPr algn="l">
              <a:spcAft>
                <a:spcPts val="700"/>
              </a:spcAft>
            </a:pPr>
            <a:r>
              <a:rPr sz="1200" b="1">
                <a:solidFill>
                  <a:srgbClr val="3DD68C"/>
                </a:solidFill>
                <a:latin typeface="Arial"/>
              </a:rPr>
              <a:t>STOP 3</a:t>
            </a:r>
          </a:p>
          <a:p>
            <a:pPr>
              <a:spcAft>
                <a:spcPts val="700"/>
              </a:spcAft>
            </a:pPr>
            <a:r>
              <a:rPr sz="1900" b="0">
                <a:solidFill>
                  <a:srgbClr val="F2F2F5"/>
                </a:solidFill>
                <a:latin typeface="Arial"/>
              </a:rPr>
              <a:t>The machine</a:t>
            </a:r>
          </a:p>
          <a:p>
            <a:pPr>
              <a:spcAft>
                <a:spcPts val="700"/>
              </a:spcAft>
            </a:pPr>
            <a:r>
              <a:rPr sz="1250" b="0">
                <a:solidFill>
                  <a:srgbClr val="F2F2F5"/>
                </a:solidFill>
                <a:latin typeface="Arial"/>
              </a:rPr>
              <a:t>The three parts, walked one at a time, then closed into a loop.</a:t>
            </a:r>
          </a:p>
        </p:txBody>
      </p:sp>
      <p:sp>
        <p:nvSpPr>
          <p:cNvPr id="21" name="Rectangle 20"/>
          <p:cNvSpPr/>
          <p:nvPr/>
        </p:nvSpPr>
        <p:spPr>
          <a:xfrm>
            <a:off x="7285938" y="1965960"/>
            <a:ext cx="2081174" cy="251460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87106" y="2112264"/>
            <a:ext cx="1678838" cy="2240280"/>
          </a:xfrm>
          <a:prstGeom prst="rect">
            <a:avLst/>
          </a:prstGeom>
          <a:noFill/>
        </p:spPr>
        <p:txBody>
          <a:bodyPr wrap="square" anchor="t">
            <a:normAutofit/>
          </a:bodyPr>
          <a:lstStyle/>
          <a:p>
            <a:pPr algn="l">
              <a:spcAft>
                <a:spcPts val="700"/>
              </a:spcAft>
            </a:pPr>
            <a:r>
              <a:rPr sz="1200" b="1">
                <a:solidFill>
                  <a:srgbClr val="4A9EFF"/>
                </a:solidFill>
                <a:latin typeface="Arial"/>
              </a:rPr>
              <a:t>STOP 4</a:t>
            </a:r>
          </a:p>
          <a:p>
            <a:pPr>
              <a:spcAft>
                <a:spcPts val="700"/>
              </a:spcAft>
            </a:pPr>
            <a:r>
              <a:rPr sz="1900" b="0">
                <a:solidFill>
                  <a:srgbClr val="F2F2F5"/>
                </a:solidFill>
                <a:latin typeface="Arial"/>
              </a:rPr>
              <a:t>The results</a:t>
            </a:r>
          </a:p>
          <a:p>
            <a:pPr>
              <a:spcAft>
                <a:spcPts val="700"/>
              </a:spcAft>
            </a:pPr>
            <a:r>
              <a:rPr sz="1250" b="0">
                <a:solidFill>
                  <a:srgbClr val="F2F2F5"/>
                </a:solidFill>
                <a:latin typeface="Arial"/>
              </a:rPr>
              <a:t>What it catches — including attacks it has never seen.</a:t>
            </a:r>
          </a:p>
        </p:txBody>
      </p:sp>
      <p:sp>
        <p:nvSpPr>
          <p:cNvPr id="23" name="Rectangle 22"/>
          <p:cNvSpPr/>
          <p:nvPr/>
        </p:nvSpPr>
        <p:spPr>
          <a:xfrm>
            <a:off x="9531704" y="1965960"/>
            <a:ext cx="2081174" cy="2514600"/>
          </a:xfrm>
          <a:prstGeom prst="rect">
            <a:avLst/>
          </a:prstGeom>
          <a:solidFill>
            <a:srgbClr val="15161D"/>
          </a:solidFill>
          <a:ln w="15875">
            <a:solidFill>
              <a:srgbClr val="A97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32872" y="2112264"/>
            <a:ext cx="1678838" cy="2240280"/>
          </a:xfrm>
          <a:prstGeom prst="rect">
            <a:avLst/>
          </a:prstGeom>
          <a:noFill/>
        </p:spPr>
        <p:txBody>
          <a:bodyPr wrap="square" anchor="t">
            <a:normAutofit/>
          </a:bodyPr>
          <a:lstStyle/>
          <a:p>
            <a:pPr algn="l">
              <a:spcAft>
                <a:spcPts val="700"/>
              </a:spcAft>
            </a:pPr>
            <a:r>
              <a:rPr sz="1200" b="1">
                <a:solidFill>
                  <a:srgbClr val="A97BF0"/>
                </a:solidFill>
                <a:latin typeface="Arial"/>
              </a:rPr>
              <a:t>STOP 5</a:t>
            </a:r>
          </a:p>
          <a:p>
            <a:pPr>
              <a:spcAft>
                <a:spcPts val="700"/>
              </a:spcAft>
            </a:pPr>
            <a:r>
              <a:rPr sz="1900" b="0">
                <a:solidFill>
                  <a:srgbClr val="F2F2F5"/>
                </a:solidFill>
                <a:latin typeface="Arial"/>
              </a:rPr>
              <a:t>The honesty</a:t>
            </a:r>
          </a:p>
          <a:p>
            <a:pPr>
              <a:spcAft>
                <a:spcPts val="700"/>
              </a:spcAft>
            </a:pPr>
            <a:r>
              <a:rPr sz="1250" b="0">
                <a:solidFill>
                  <a:srgbClr val="F2F2F5"/>
                </a:solidFill>
                <a:latin typeface="Arial"/>
              </a:rPr>
              <a:t>The defects we found in ourselves, and what we still cannot do.</a:t>
            </a:r>
          </a:p>
        </p:txBody>
      </p:sp>
      <p:sp>
        <p:nvSpPr>
          <p:cNvPr id="25" name="TextBox 24"/>
          <p:cNvSpPr txBox="1"/>
          <p:nvPr/>
        </p:nvSpPr>
        <p:spPr>
          <a:xfrm>
            <a:off x="548640" y="4892040"/>
            <a:ext cx="11064240" cy="767280"/>
          </a:xfrm>
          <a:prstGeom prst="rect">
            <a:avLst/>
          </a:prstGeom>
          <a:noFill/>
        </p:spPr>
        <p:txBody>
          <a:bodyPr wrap="square" anchor="t">
            <a:normAutofit/>
          </a:bodyPr>
          <a:lstStyle/>
          <a:p>
            <a:pPr algn="l">
              <a:spcAft>
                <a:spcPts val="0"/>
              </a:spcAft>
            </a:pPr>
            <a:r>
              <a:rPr sz="1600" b="0">
                <a:solidFill>
                  <a:srgbClr val="F2F2F5"/>
                </a:solidFill>
                <a:latin typeface="Arial"/>
              </a:rPr>
              <a:t>We end at honesty on purpose. Everything before it is a claim; stop 5 is the evidence that we went looking for our own mistakes before you did.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STOP 1 · THE PROBLEM</a:t>
            </a:r>
          </a:p>
        </p:txBody>
      </p:sp>
      <p:sp>
        <p:nvSpPr>
          <p:cNvPr id="4" name="TextBox 3"/>
          <p:cNvSpPr txBox="1"/>
          <p:nvPr/>
        </p:nvSpPr>
        <p:spPr>
          <a:xfrm>
            <a:off x="548640" y="63768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When you have to decide, you do not know the answer</a:t>
            </a:r>
          </a:p>
        </p:txBody>
      </p:sp>
      <p:sp>
        <p:nvSpPr>
          <p:cNvPr id="5" name="Rectangle 4"/>
          <p:cNvSpPr/>
          <p:nvPr/>
        </p:nvSpPr>
        <p:spPr>
          <a:xfrm>
            <a:off x="676828" y="572053"/>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3"/>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3</a:t>
            </a:r>
          </a:p>
        </p:txBody>
      </p:sp>
      <p:sp>
        <p:nvSpPr>
          <p:cNvPr id="8" name="Rectangle 7"/>
          <p:cNvSpPr/>
          <p:nvPr/>
        </p:nvSpPr>
        <p:spPr>
          <a:xfrm>
            <a:off x="9866376" y="365760"/>
            <a:ext cx="274320" cy="4572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1 OF 5  ·  THE PROBLEM</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Everything about our design follows from this one picture.</a:t>
            </a:r>
          </a:p>
        </p:txBody>
      </p:sp>
      <p:pic>
        <p:nvPicPr>
          <p:cNvPr id="15" name="Picture 14" descr="maturity.png"/>
          <p:cNvPicPr>
            <a:picLocks noChangeAspect="1"/>
          </p:cNvPicPr>
          <p:nvPr/>
        </p:nvPicPr>
        <p:blipFill>
          <a:blip r:embed="rId3"/>
          <a:stretch>
            <a:fillRect/>
          </a:stretch>
        </p:blipFill>
        <p:spPr>
          <a:xfrm>
            <a:off x="1538502" y="1783080"/>
            <a:ext cx="2866596" cy="3291840"/>
          </a:xfrm>
          <a:prstGeom prst="rect">
            <a:avLst/>
          </a:prstGeom>
        </p:spPr>
      </p:pic>
      <p:sp>
        <p:nvSpPr>
          <p:cNvPr id="16" name="Rectangle 15"/>
          <p:cNvSpPr/>
          <p:nvPr/>
        </p:nvSpPr>
        <p:spPr>
          <a:xfrm>
            <a:off x="5806440" y="1810512"/>
            <a:ext cx="5833872" cy="1874519"/>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07608" y="1956816"/>
            <a:ext cx="5431536" cy="1600199"/>
          </a:xfrm>
          <a:prstGeom prst="rect">
            <a:avLst/>
          </a:prstGeom>
          <a:noFill/>
        </p:spPr>
        <p:txBody>
          <a:bodyPr wrap="square" anchor="t">
            <a:normAutofit/>
          </a:bodyPr>
          <a:lstStyle/>
          <a:p>
            <a:pPr algn="l">
              <a:spcAft>
                <a:spcPts val="700"/>
              </a:spcAft>
            </a:pPr>
            <a:r>
              <a:rPr sz="1200" b="1">
                <a:solidFill>
                  <a:srgbClr val="F5B14C"/>
                </a:solidFill>
                <a:latin typeface="Arial"/>
              </a:rPr>
              <a:t>A FRAUD LABEL ARRIVES LONG AFTER THE DECISION</a:t>
            </a:r>
          </a:p>
          <a:p>
            <a:pPr>
              <a:spcAft>
                <a:spcPts val="700"/>
              </a:spcAft>
            </a:pPr>
            <a:r>
              <a:rPr sz="1450" b="0">
                <a:solidFill>
                  <a:srgbClr val="F2F2F5"/>
                </a:solidFill>
                <a:latin typeface="Arial"/>
              </a:rPr>
              <a:t>An analyst may call it in hours. An issuer tag takes days. A chargeback or a network report takes 45 to 120 days.</a:t>
            </a:r>
          </a:p>
        </p:txBody>
      </p:sp>
      <p:sp>
        <p:nvSpPr>
          <p:cNvPr id="18" name="Rectangle 17"/>
          <p:cNvSpPr/>
          <p:nvPr/>
        </p:nvSpPr>
        <p:spPr>
          <a:xfrm>
            <a:off x="5806440" y="3858768"/>
            <a:ext cx="5833872" cy="1874519"/>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07608" y="4005072"/>
            <a:ext cx="5431536" cy="1600199"/>
          </a:xfrm>
          <a:prstGeom prst="rect">
            <a:avLst/>
          </a:prstGeom>
          <a:noFill/>
        </p:spPr>
        <p:txBody>
          <a:bodyPr wrap="square" anchor="t">
            <a:normAutofit/>
          </a:bodyPr>
          <a:lstStyle/>
          <a:p>
            <a:pPr algn="l">
              <a:spcAft>
                <a:spcPts val="700"/>
              </a:spcAft>
            </a:pPr>
            <a:r>
              <a:rPr sz="1200" b="1" dirty="0">
                <a:solidFill>
                  <a:srgbClr val="3DD68C"/>
                </a:solidFill>
                <a:latin typeface="Arial"/>
              </a:rPr>
              <a:t>SO WE NEVER PRETEND OTHERWISE</a:t>
            </a:r>
          </a:p>
          <a:p>
            <a:pPr>
              <a:spcAft>
                <a:spcPts val="700"/>
              </a:spcAft>
            </a:pPr>
            <a:r>
              <a:rPr sz="1450" b="0" dirty="0">
                <a:solidFill>
                  <a:srgbClr val="F2F2F5"/>
                </a:solidFill>
                <a:latin typeface="Arial"/>
              </a:rPr>
              <a:t>We train on the labels that actually exist at decision time, weighted by how mature they are, and we correct for the fact that the old policy already blocked some attacks and we will never learn what they would have done.</a:t>
            </a:r>
          </a:p>
        </p:txBody>
      </p:sp>
      <p:sp>
        <p:nvSpPr>
          <p:cNvPr id="20" name="TextBox 19"/>
          <p:cNvSpPr txBox="1"/>
          <p:nvPr/>
        </p:nvSpPr>
        <p:spPr>
          <a:xfrm>
            <a:off x="548640" y="5257800"/>
            <a:ext cx="4846320" cy="1005840"/>
          </a:xfrm>
          <a:prstGeom prst="rect">
            <a:avLst/>
          </a:prstGeom>
          <a:noFill/>
        </p:spPr>
        <p:txBody>
          <a:bodyPr wrap="square" anchor="t">
            <a:normAutofit/>
          </a:bodyPr>
          <a:lstStyle/>
          <a:p>
            <a:pPr algn="l">
              <a:spcAft>
                <a:spcPts val="0"/>
              </a:spcAft>
            </a:pPr>
            <a:r>
              <a:rPr sz="1350" b="0" dirty="0">
                <a:solidFill>
                  <a:srgbClr val="F5B14C"/>
                </a:solidFill>
                <a:latin typeface="Arial"/>
              </a:rPr>
              <a:t>The easy alternative</a:t>
            </a:r>
            <a:r>
              <a:rPr lang="en-US" sz="1350" b="0" dirty="0">
                <a:solidFill>
                  <a:srgbClr val="F5B14C"/>
                </a:solidFill>
                <a:latin typeface="Arial"/>
              </a:rPr>
              <a:t>,</a:t>
            </a:r>
            <a:r>
              <a:rPr sz="1350" b="0" dirty="0">
                <a:solidFill>
                  <a:srgbClr val="F5B14C"/>
                </a:solidFill>
                <a:latin typeface="Arial"/>
              </a:rPr>
              <a:t> call everything </a:t>
            </a:r>
            <a:r>
              <a:rPr sz="1350" b="0" dirty="0" err="1">
                <a:solidFill>
                  <a:srgbClr val="F5B14C"/>
                </a:solidFill>
                <a:latin typeface="Arial"/>
              </a:rPr>
              <a:t>unlabelled</a:t>
            </a:r>
            <a:r>
              <a:rPr sz="1350" b="0" dirty="0">
                <a:solidFill>
                  <a:srgbClr val="F5B14C"/>
                </a:solidFill>
                <a:latin typeface="Arial"/>
              </a:rPr>
              <a:t> "legitimate" teaches a model that no complaint means no crime.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E8505B"/>
                </a:solidFill>
                <a:latin typeface="Arial"/>
              </a:rPr>
              <a:t>STOP 2 · THE ATTACKS</a:t>
            </a:r>
          </a:p>
        </p:txBody>
      </p:sp>
      <p:sp>
        <p:nvSpPr>
          <p:cNvPr id="4" name="TextBox 3"/>
          <p:cNvSpPr txBox="1"/>
          <p:nvPr/>
        </p:nvSpPr>
        <p:spPr>
          <a:xfrm>
            <a:off x="548640" y="706056"/>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We did not list attacks. We built a language for them.</a:t>
            </a:r>
          </a:p>
        </p:txBody>
      </p:sp>
      <p:sp>
        <p:nvSpPr>
          <p:cNvPr id="5" name="Rectangle 4"/>
          <p:cNvSpPr/>
          <p:nvPr/>
        </p:nvSpPr>
        <p:spPr>
          <a:xfrm>
            <a:off x="668281" y="580644"/>
            <a:ext cx="1280160" cy="2286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2"/>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4</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2 OF 5  ·  THE ATTACKS</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Six slots, each a choice. Pick one from each and you have described an attack.</a:t>
            </a:r>
          </a:p>
        </p:txBody>
      </p:sp>
      <p:pic>
        <p:nvPicPr>
          <p:cNvPr id="15" name="Picture 14" descr="funnel.png"/>
          <p:cNvPicPr>
            <a:picLocks noChangeAspect="1"/>
          </p:cNvPicPr>
          <p:nvPr/>
        </p:nvPicPr>
        <p:blipFill>
          <a:blip r:embed="rId3"/>
          <a:stretch>
            <a:fillRect/>
          </a:stretch>
        </p:blipFill>
        <p:spPr>
          <a:xfrm>
            <a:off x="1697322" y="1783080"/>
            <a:ext cx="8766876" cy="2240280"/>
          </a:xfrm>
          <a:prstGeom prst="rect">
            <a:avLst/>
          </a:prstGeom>
        </p:spPr>
      </p:pic>
      <p:sp>
        <p:nvSpPr>
          <p:cNvPr id="16" name="Rectangle 15"/>
          <p:cNvSpPr/>
          <p:nvPr/>
        </p:nvSpPr>
        <p:spPr>
          <a:xfrm>
            <a:off x="548640" y="4206240"/>
            <a:ext cx="3566160" cy="192024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4352544"/>
            <a:ext cx="3163824" cy="1645920"/>
          </a:xfrm>
          <a:prstGeom prst="rect">
            <a:avLst/>
          </a:prstGeom>
          <a:noFill/>
        </p:spPr>
        <p:txBody>
          <a:bodyPr wrap="square" anchor="t">
            <a:normAutofit/>
          </a:bodyPr>
          <a:lstStyle/>
          <a:p>
            <a:pPr algn="l">
              <a:spcAft>
                <a:spcPts val="700"/>
              </a:spcAft>
            </a:pPr>
            <a:r>
              <a:rPr sz="1200" b="1">
                <a:solidFill>
                  <a:srgbClr val="E8505B"/>
                </a:solidFill>
                <a:latin typeface="Arial"/>
              </a:rPr>
              <a:t>THE SIX CHOICES</a:t>
            </a:r>
          </a:p>
          <a:p>
            <a:pPr>
              <a:spcAft>
                <a:spcPts val="700"/>
              </a:spcAft>
            </a:pPr>
            <a:r>
              <a:rPr sz="1350" b="0">
                <a:solidFill>
                  <a:srgbClr val="F2F2F5"/>
                </a:solidFill>
                <a:latin typeface="Arial"/>
              </a:rPr>
              <a:t>How they get in · whose trust they borrow · which rail they ride · how they stay quiet · how the money leaves · what the victim will eventually call it.</a:t>
            </a:r>
          </a:p>
        </p:txBody>
      </p:sp>
      <p:sp>
        <p:nvSpPr>
          <p:cNvPr id="18" name="Rectangle 17"/>
          <p:cNvSpPr/>
          <p:nvPr/>
        </p:nvSpPr>
        <p:spPr>
          <a:xfrm>
            <a:off x="4297680" y="4206240"/>
            <a:ext cx="3566160" cy="192024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98848" y="4352544"/>
            <a:ext cx="3163824" cy="1645920"/>
          </a:xfrm>
          <a:prstGeom prst="rect">
            <a:avLst/>
          </a:prstGeom>
          <a:noFill/>
        </p:spPr>
        <p:txBody>
          <a:bodyPr wrap="square" anchor="t">
            <a:normAutofit/>
          </a:bodyPr>
          <a:lstStyle/>
          <a:p>
            <a:pPr algn="l">
              <a:spcAft>
                <a:spcPts val="700"/>
              </a:spcAft>
            </a:pPr>
            <a:r>
              <a:rPr sz="1200" b="1">
                <a:solidFill>
                  <a:srgbClr val="4A9EFF"/>
                </a:solidFill>
                <a:latin typeface="Arial"/>
              </a:rPr>
              <a:t>MOST COMBINATIONS ARE IMPOSSIBLE</a:t>
            </a:r>
          </a:p>
          <a:p>
            <a:pPr>
              <a:spcAft>
                <a:spcPts val="700"/>
              </a:spcAft>
            </a:pPr>
            <a:r>
              <a:rPr sz="1350" b="0">
                <a:solidFill>
                  <a:srgbClr val="F2F2F5"/>
                </a:solidFill>
                <a:latin typeface="Arial"/>
              </a:rPr>
              <a:t>A rail that ends in physical cash has no beneficiary to name. We reject 172,889 such strings, and the rejection explains itself.</a:t>
            </a:r>
          </a:p>
        </p:txBody>
      </p:sp>
      <p:sp>
        <p:nvSpPr>
          <p:cNvPr id="20" name="Rectangle 19"/>
          <p:cNvSpPr/>
          <p:nvPr/>
        </p:nvSpPr>
        <p:spPr>
          <a:xfrm>
            <a:off x="8046720" y="4206240"/>
            <a:ext cx="3566160" cy="192024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7888" y="4352544"/>
            <a:ext cx="3163824" cy="1645920"/>
          </a:xfrm>
          <a:prstGeom prst="rect">
            <a:avLst/>
          </a:prstGeom>
          <a:noFill/>
        </p:spPr>
        <p:txBody>
          <a:bodyPr wrap="square" anchor="t">
            <a:normAutofit/>
          </a:bodyPr>
          <a:lstStyle/>
          <a:p>
            <a:pPr algn="l">
              <a:spcAft>
                <a:spcPts val="700"/>
              </a:spcAft>
            </a:pPr>
            <a:r>
              <a:rPr sz="1200" b="1">
                <a:solidFill>
                  <a:srgbClr val="F5B14C"/>
                </a:solidFill>
                <a:latin typeface="Arial"/>
              </a:rPr>
              <a:t>WE PUBLISH OUR OWN CEILING</a:t>
            </a:r>
          </a:p>
          <a:p>
            <a:pPr>
              <a:spcAft>
                <a:spcPts val="700"/>
              </a:spcAft>
            </a:pPr>
            <a:r>
              <a:rPr sz="1350" b="0">
                <a:solidFill>
                  <a:srgbClr val="F2F2F5"/>
                </a:solidFill>
                <a:latin typeface="Arial"/>
              </a:rPr>
              <a:t>We have reached 268 of the 380 regions this space can hold — 70.5%. We would rather show you the number than let you assume it was 100%.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616184" y="365760"/>
            <a:ext cx="274320" cy="4572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3 OF 5  ·  THE MACHINE</a:t>
            </a:r>
          </a:p>
        </p:txBody>
      </p:sp>
      <p:sp>
        <p:nvSpPr>
          <p:cNvPr id="9" name="TextBox 8"/>
          <p:cNvSpPr txBox="1"/>
          <p:nvPr/>
        </p:nvSpPr>
        <p:spPr>
          <a:xfrm>
            <a:off x="548640" y="310896"/>
            <a:ext cx="6949440" cy="365760"/>
          </a:xfrm>
          <a:prstGeom prst="rect">
            <a:avLst/>
          </a:prstGeom>
          <a:noFill/>
        </p:spPr>
        <p:txBody>
          <a:bodyPr wrap="square" anchor="t">
            <a:normAutofit/>
          </a:bodyPr>
          <a:lstStyle/>
          <a:p>
            <a:pPr algn="l">
              <a:spcAft>
                <a:spcPts val="0"/>
              </a:spcAft>
            </a:pPr>
            <a:r>
              <a:rPr sz="1400" b="1" dirty="0">
                <a:solidFill>
                  <a:srgbClr val="3DD68C"/>
                </a:solidFill>
                <a:latin typeface="Arial"/>
              </a:rPr>
              <a:t>STOP 3 · THE MACHINE, ALL AT ONCE — THEN ONE PART AT A TIME</a:t>
            </a:r>
          </a:p>
        </p:txBody>
      </p:sp>
      <p:pic>
        <p:nvPicPr>
          <p:cNvPr id="10" name="Picture 9" descr="architecture-dark.png"/>
          <p:cNvPicPr>
            <a:picLocks noChangeAspect="1"/>
          </p:cNvPicPr>
          <p:nvPr/>
        </p:nvPicPr>
        <p:blipFill>
          <a:blip r:embed="rId3"/>
          <a:stretch>
            <a:fillRect/>
          </a:stretch>
        </p:blipFill>
        <p:spPr>
          <a:xfrm>
            <a:off x="1128044" y="724170"/>
            <a:ext cx="9387555" cy="5530326"/>
          </a:xfrm>
          <a:prstGeom prst="rect">
            <a:avLst/>
          </a:prstGeom>
        </p:spPr>
      </p:pic>
      <p:sp>
        <p:nvSpPr>
          <p:cNvPr id="11" name="TextBox 10"/>
          <p:cNvSpPr txBox="1"/>
          <p:nvPr/>
        </p:nvSpPr>
        <p:spPr>
          <a:xfrm>
            <a:off x="548640" y="6291072"/>
            <a:ext cx="11064240" cy="384048"/>
          </a:xfrm>
          <a:prstGeom prst="rect">
            <a:avLst/>
          </a:prstGeom>
          <a:noFill/>
        </p:spPr>
        <p:txBody>
          <a:bodyPr wrap="square" anchor="t">
            <a:normAutofit/>
          </a:bodyPr>
          <a:lstStyle/>
          <a:p>
            <a:pPr algn="l">
              <a:spcAft>
                <a:spcPts val="0"/>
              </a:spcAft>
            </a:pPr>
            <a:r>
              <a:rPr sz="1050" b="0">
                <a:solidFill>
                  <a:srgbClr val="F5B14C"/>
                </a:solidFill>
                <a:latin typeface="Arial"/>
              </a:rPr>
              <a:t>Drawn during design, so its quantities are TARGETS. Every number elsewhere in this deck is a measured result and supersedes it.</a:t>
            </a:r>
          </a:p>
        </p:txBody>
      </p:sp>
      <p:sp>
        <p:nvSpPr>
          <p:cNvPr id="12" name="TextBox 11"/>
          <p:cNvSpPr txBox="1"/>
          <p:nvPr/>
        </p:nvSpPr>
        <p:spPr>
          <a:xfrm>
            <a:off x="548640" y="654727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13" name="TextBox 12"/>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E8505B"/>
                </a:solidFill>
                <a:latin typeface="Arial"/>
              </a:rPr>
              <a:t>STOP 3 · PART ONE OF THREE</a:t>
            </a:r>
          </a:p>
        </p:txBody>
      </p:sp>
      <p:sp>
        <p:nvSpPr>
          <p:cNvPr id="4" name="TextBox 3"/>
          <p:cNvSpPr txBox="1"/>
          <p:nvPr/>
        </p:nvSpPr>
        <p:spPr>
          <a:xfrm>
            <a:off x="548640" y="671872"/>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The attacker</a:t>
            </a:r>
          </a:p>
        </p:txBody>
      </p:sp>
      <p:sp>
        <p:nvSpPr>
          <p:cNvPr id="5" name="Rectangle 4"/>
          <p:cNvSpPr/>
          <p:nvPr/>
        </p:nvSpPr>
        <p:spPr>
          <a:xfrm>
            <a:off x="668283" y="580598"/>
            <a:ext cx="1280160" cy="2286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4"/>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6</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3 OF 5  ·  THE MACHINE</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Its job: keep finding attacks the current defence has no answer for.</a:t>
            </a:r>
          </a:p>
        </p:txBody>
      </p:sp>
      <p:sp>
        <p:nvSpPr>
          <p:cNvPr id="15" name="Rectangle 14"/>
          <p:cNvSpPr/>
          <p:nvPr/>
        </p:nvSpPr>
        <p:spPr>
          <a:xfrm>
            <a:off x="548640" y="1783080"/>
            <a:ext cx="4297680" cy="429768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1929384"/>
            <a:ext cx="3895344" cy="4023360"/>
          </a:xfrm>
          <a:prstGeom prst="rect">
            <a:avLst/>
          </a:prstGeom>
          <a:noFill/>
        </p:spPr>
        <p:txBody>
          <a:bodyPr wrap="square" anchor="t">
            <a:normAutofit/>
          </a:bodyPr>
          <a:lstStyle/>
          <a:p>
            <a:pPr algn="l">
              <a:spcAft>
                <a:spcPts val="700"/>
              </a:spcAft>
            </a:pPr>
            <a:r>
              <a:rPr sz="4600" b="1">
                <a:solidFill>
                  <a:srgbClr val="E8505B"/>
                </a:solidFill>
                <a:latin typeface="Arial"/>
              </a:rPr>
              <a:t>01</a:t>
            </a:r>
          </a:p>
          <a:p>
            <a:pPr>
              <a:spcAft>
                <a:spcPts val="700"/>
              </a:spcAft>
            </a:pPr>
            <a:r>
              <a:rPr sz="2200" b="0">
                <a:solidFill>
                  <a:srgbClr val="F2F2F5"/>
                </a:solidFill>
                <a:latin typeface="Arial"/>
              </a:rPr>
              <a:t>THE ATTACKER</a:t>
            </a:r>
          </a:p>
          <a:p>
            <a:pPr>
              <a:spcAft>
                <a:spcPts val="700"/>
              </a:spcAft>
            </a:pPr>
            <a:r>
              <a:rPr sz="1500" b="0">
                <a:solidFill>
                  <a:srgbClr val="F2F2F5"/>
                </a:solidFill>
                <a:latin typeface="Arial"/>
              </a:rPr>
              <a:t>It does not sample randomly. It keeps a map of the attack space and deliberately pushes into the regions where the defence is currently blind — then breeds the survivors.</a:t>
            </a:r>
          </a:p>
        </p:txBody>
      </p:sp>
      <p:sp>
        <p:nvSpPr>
          <p:cNvPr id="17" name="Rectangle 16"/>
          <p:cNvSpPr/>
          <p:nvPr/>
        </p:nvSpPr>
        <p:spPr>
          <a:xfrm>
            <a:off x="5074920" y="1783080"/>
            <a:ext cx="6565392" cy="132588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6088" y="1929384"/>
            <a:ext cx="6163056" cy="1051560"/>
          </a:xfrm>
          <a:prstGeom prst="rect">
            <a:avLst/>
          </a:prstGeom>
          <a:noFill/>
        </p:spPr>
        <p:txBody>
          <a:bodyPr wrap="square" anchor="t">
            <a:normAutofit/>
          </a:bodyPr>
          <a:lstStyle/>
          <a:p>
            <a:pPr algn="l">
              <a:spcAft>
                <a:spcPts val="700"/>
              </a:spcAft>
            </a:pPr>
            <a:r>
              <a:rPr sz="1150" b="1" dirty="0">
                <a:solidFill>
                  <a:srgbClr val="4A9EFF"/>
                </a:solidFill>
                <a:latin typeface="Arial"/>
              </a:rPr>
              <a:t>A LANGUAGE MODEL, USED SPARINGLY</a:t>
            </a:r>
          </a:p>
          <a:p>
            <a:pPr>
              <a:spcAft>
                <a:spcPts val="700"/>
              </a:spcAft>
            </a:pPr>
            <a:r>
              <a:rPr sz="1350" b="0" dirty="0">
                <a:solidFill>
                  <a:srgbClr val="F2F2F5"/>
                </a:solidFill>
                <a:latin typeface="Arial"/>
              </a:rPr>
              <a:t>It proposes variations once per round</a:t>
            </a:r>
            <a:r>
              <a:rPr lang="en-US" sz="1350" b="0" dirty="0">
                <a:solidFill>
                  <a:srgbClr val="F2F2F5"/>
                </a:solidFill>
                <a:latin typeface="Arial"/>
              </a:rPr>
              <a:t>,</a:t>
            </a:r>
            <a:r>
              <a:rPr sz="1350" b="0" dirty="0">
                <a:solidFill>
                  <a:srgbClr val="F2F2F5"/>
                </a:solidFill>
                <a:latin typeface="Arial"/>
              </a:rPr>
              <a:t> never once per transaction. The run stays seeded and reproducible.</a:t>
            </a:r>
          </a:p>
        </p:txBody>
      </p:sp>
      <p:sp>
        <p:nvSpPr>
          <p:cNvPr id="19" name="Rectangle 18"/>
          <p:cNvSpPr/>
          <p:nvPr/>
        </p:nvSpPr>
        <p:spPr>
          <a:xfrm>
            <a:off x="5074920" y="3246120"/>
            <a:ext cx="6565392" cy="132588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76088" y="3392424"/>
            <a:ext cx="6163056" cy="1051560"/>
          </a:xfrm>
          <a:prstGeom prst="rect">
            <a:avLst/>
          </a:prstGeom>
          <a:noFill/>
        </p:spPr>
        <p:txBody>
          <a:bodyPr wrap="square" anchor="t">
            <a:normAutofit/>
          </a:bodyPr>
          <a:lstStyle/>
          <a:p>
            <a:pPr algn="l">
              <a:spcAft>
                <a:spcPts val="700"/>
              </a:spcAft>
            </a:pPr>
            <a:r>
              <a:rPr sz="1150" b="1">
                <a:solidFill>
                  <a:srgbClr val="F5B14C"/>
                </a:solidFill>
                <a:latin typeface="Arial"/>
              </a:rPr>
              <a:t>A BUDGET, NOT A FIREHOSE</a:t>
            </a:r>
          </a:p>
          <a:p>
            <a:pPr>
              <a:spcAft>
                <a:spcPts val="700"/>
              </a:spcAft>
            </a:pPr>
            <a:r>
              <a:rPr sz="1350" b="0">
                <a:solidFill>
                  <a:srgbClr val="F2F2F5"/>
                </a:solidFill>
                <a:latin typeface="Arial"/>
              </a:rPr>
              <a:t>Each campaign has a profit-and-loss budget and has to earn its next move, the way a real fraud crew does.</a:t>
            </a:r>
          </a:p>
        </p:txBody>
      </p:sp>
      <p:sp>
        <p:nvSpPr>
          <p:cNvPr id="21" name="Rectangle 20"/>
          <p:cNvSpPr/>
          <p:nvPr/>
        </p:nvSpPr>
        <p:spPr>
          <a:xfrm>
            <a:off x="5074920" y="4709160"/>
            <a:ext cx="6565392" cy="132588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76088" y="4855464"/>
            <a:ext cx="6163056" cy="1051560"/>
          </a:xfrm>
          <a:prstGeom prst="rect">
            <a:avLst/>
          </a:prstGeom>
          <a:noFill/>
        </p:spPr>
        <p:txBody>
          <a:bodyPr wrap="square" anchor="t">
            <a:normAutofit/>
          </a:bodyPr>
          <a:lstStyle/>
          <a:p>
            <a:pPr algn="l">
              <a:spcAft>
                <a:spcPts val="700"/>
              </a:spcAft>
            </a:pPr>
            <a:r>
              <a:rPr sz="1150" b="1">
                <a:solidFill>
                  <a:srgbClr val="3DD68C"/>
                </a:solidFill>
                <a:latin typeface="Arial"/>
              </a:rPr>
              <a:t>THE MAP IS THE CURRICULUM</a:t>
            </a:r>
          </a:p>
          <a:p>
            <a:pPr>
              <a:spcAft>
                <a:spcPts val="700"/>
              </a:spcAft>
            </a:pPr>
            <a:r>
              <a:rPr sz="1350" b="0">
                <a:solidFill>
                  <a:srgbClr val="F2F2F5"/>
                </a:solidFill>
                <a:latin typeface="Arial"/>
              </a:rPr>
              <a:t>Regions where the defence catches nothing get sampled MORE next round. The defence's weakness sets the attacker's agenda.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3DD68C"/>
                </a:solidFill>
                <a:latin typeface="Arial"/>
              </a:rPr>
              <a:t>STOP 3 · PART TWO OF THREE</a:t>
            </a:r>
          </a:p>
        </p:txBody>
      </p:sp>
      <p:sp>
        <p:nvSpPr>
          <p:cNvPr id="4" name="TextBox 3"/>
          <p:cNvSpPr txBox="1"/>
          <p:nvPr/>
        </p:nvSpPr>
        <p:spPr>
          <a:xfrm>
            <a:off x="548640" y="697510"/>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The world</a:t>
            </a:r>
          </a:p>
        </p:txBody>
      </p:sp>
      <p:sp>
        <p:nvSpPr>
          <p:cNvPr id="5" name="Rectangle 4"/>
          <p:cNvSpPr/>
          <p:nvPr/>
        </p:nvSpPr>
        <p:spPr>
          <a:xfrm>
            <a:off x="642643" y="580644"/>
            <a:ext cx="1280160" cy="2286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7</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3 OF 5  ·  THE MACHINE</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dirty="0">
                <a:solidFill>
                  <a:srgbClr val="9A9AA8"/>
                </a:solidFill>
                <a:latin typeface="Arial"/>
              </a:rPr>
              <a:t>Its job: make the attack actually happen, on a rail that behaves like the real one.</a:t>
            </a:r>
          </a:p>
        </p:txBody>
      </p:sp>
      <p:sp>
        <p:nvSpPr>
          <p:cNvPr id="15" name="Rectangle 14"/>
          <p:cNvSpPr/>
          <p:nvPr/>
        </p:nvSpPr>
        <p:spPr>
          <a:xfrm>
            <a:off x="548640" y="1783080"/>
            <a:ext cx="4297680" cy="429768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1929384"/>
            <a:ext cx="3895344" cy="4023360"/>
          </a:xfrm>
          <a:prstGeom prst="rect">
            <a:avLst/>
          </a:prstGeom>
          <a:noFill/>
        </p:spPr>
        <p:txBody>
          <a:bodyPr wrap="square" anchor="t">
            <a:normAutofit/>
          </a:bodyPr>
          <a:lstStyle/>
          <a:p>
            <a:pPr algn="l">
              <a:spcAft>
                <a:spcPts val="700"/>
              </a:spcAft>
            </a:pPr>
            <a:r>
              <a:rPr sz="4600" b="1">
                <a:solidFill>
                  <a:srgbClr val="3DD68C"/>
                </a:solidFill>
                <a:latin typeface="Arial"/>
              </a:rPr>
              <a:t>02</a:t>
            </a:r>
          </a:p>
          <a:p>
            <a:pPr>
              <a:spcAft>
                <a:spcPts val="700"/>
              </a:spcAft>
            </a:pPr>
            <a:r>
              <a:rPr sz="2200" b="0">
                <a:solidFill>
                  <a:srgbClr val="F2F2F5"/>
                </a:solidFill>
                <a:latin typeface="Arial"/>
              </a:rPr>
              <a:t>THE WORLD</a:t>
            </a:r>
          </a:p>
          <a:p>
            <a:pPr>
              <a:spcAft>
                <a:spcPts val="700"/>
              </a:spcAft>
            </a:pPr>
            <a:r>
              <a:rPr sz="1500" b="0">
                <a:solidFill>
                  <a:srgbClr val="F2F2F5"/>
                </a:solidFill>
                <a:latin typeface="Arial"/>
              </a:rPr>
              <a:t>Nine point nine million payment events across twelve rails, with the old fraud policy running alongside so we can see what it would have blocked, and labels that arrive late the way real ones do.</a:t>
            </a:r>
          </a:p>
        </p:txBody>
      </p:sp>
      <p:sp>
        <p:nvSpPr>
          <p:cNvPr id="17" name="Rectangle 16"/>
          <p:cNvSpPr/>
          <p:nvPr/>
        </p:nvSpPr>
        <p:spPr>
          <a:xfrm>
            <a:off x="5074920" y="1783080"/>
            <a:ext cx="6565392" cy="132588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6088" y="1929384"/>
            <a:ext cx="6163056" cy="1051560"/>
          </a:xfrm>
          <a:prstGeom prst="rect">
            <a:avLst/>
          </a:prstGeom>
          <a:noFill/>
        </p:spPr>
        <p:txBody>
          <a:bodyPr wrap="square" anchor="t">
            <a:normAutofit/>
          </a:bodyPr>
          <a:lstStyle/>
          <a:p>
            <a:pPr algn="l">
              <a:spcAft>
                <a:spcPts val="700"/>
              </a:spcAft>
            </a:pPr>
            <a:r>
              <a:rPr sz="1150" b="1">
                <a:solidFill>
                  <a:srgbClr val="3DD68C"/>
                </a:solidFill>
                <a:latin typeface="Arial"/>
              </a:rPr>
              <a:t>126 RULES THE BUILD WILL NOT LET US BREAK</a:t>
            </a:r>
          </a:p>
          <a:p>
            <a:pPr>
              <a:spcAft>
                <a:spcPts val="700"/>
              </a:spcAft>
            </a:pPr>
            <a:r>
              <a:rPr sz="1350" b="0">
                <a:solidFill>
                  <a:srgbClr val="F2F2F5"/>
                </a:solidFill>
                <a:latin typeface="Arial"/>
              </a:rPr>
              <a:t>Authorisation before presentment. Clearing spills forward, never backwards. A derived leg cannot precede the thing it derives from.</a:t>
            </a:r>
          </a:p>
        </p:txBody>
      </p:sp>
      <p:sp>
        <p:nvSpPr>
          <p:cNvPr id="19" name="Rectangle 18"/>
          <p:cNvSpPr/>
          <p:nvPr/>
        </p:nvSpPr>
        <p:spPr>
          <a:xfrm>
            <a:off x="5074920" y="3246120"/>
            <a:ext cx="6565392" cy="132588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76088" y="3392424"/>
            <a:ext cx="6163056" cy="1051560"/>
          </a:xfrm>
          <a:prstGeom prst="rect">
            <a:avLst/>
          </a:prstGeom>
          <a:noFill/>
        </p:spPr>
        <p:txBody>
          <a:bodyPr wrap="square" anchor="t">
            <a:normAutofit/>
          </a:bodyPr>
          <a:lstStyle/>
          <a:p>
            <a:pPr algn="l">
              <a:spcAft>
                <a:spcPts val="700"/>
              </a:spcAft>
            </a:pPr>
            <a:r>
              <a:rPr sz="1150" b="1">
                <a:solidFill>
                  <a:srgbClr val="F5B14C"/>
                </a:solidFill>
                <a:latin typeface="Arial"/>
              </a:rPr>
              <a:t>THESE ARE GATES, NOT TESTS</a:t>
            </a:r>
          </a:p>
          <a:p>
            <a:pPr>
              <a:spcAft>
                <a:spcPts val="700"/>
              </a:spcAft>
            </a:pPr>
            <a:r>
              <a:rPr sz="1350" b="0">
                <a:solidFill>
                  <a:srgbClr val="F2F2F5"/>
                </a:solidFill>
                <a:latin typeface="Arial"/>
              </a:rPr>
              <a:t>At one point they stopped the build 13,009 times. We fixed the generator, not the rules.</a:t>
            </a:r>
          </a:p>
        </p:txBody>
      </p:sp>
      <p:sp>
        <p:nvSpPr>
          <p:cNvPr id="21" name="Rectangle 20"/>
          <p:cNvSpPr/>
          <p:nvPr/>
        </p:nvSpPr>
        <p:spPr>
          <a:xfrm>
            <a:off x="5074920" y="4709160"/>
            <a:ext cx="6565392" cy="132588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76088" y="4855464"/>
            <a:ext cx="6163056" cy="1051560"/>
          </a:xfrm>
          <a:prstGeom prst="rect">
            <a:avLst/>
          </a:prstGeom>
          <a:noFill/>
        </p:spPr>
        <p:txBody>
          <a:bodyPr wrap="square" anchor="t">
            <a:normAutofit/>
          </a:bodyPr>
          <a:lstStyle/>
          <a:p>
            <a:pPr algn="l">
              <a:spcAft>
                <a:spcPts val="700"/>
              </a:spcAft>
            </a:pPr>
            <a:r>
              <a:rPr sz="1150" b="1">
                <a:solidFill>
                  <a:srgbClr val="4A9EFF"/>
                </a:solidFill>
                <a:latin typeface="Arial"/>
              </a:rPr>
              <a:t>THE ATTACK RATE IS CONTROLLED, NOT ASSUMED</a:t>
            </a:r>
          </a:p>
          <a:p>
            <a:pPr>
              <a:spcAft>
                <a:spcPts val="700"/>
              </a:spcAft>
            </a:pPr>
            <a:r>
              <a:rPr sz="1350" b="0">
                <a:solidFill>
                  <a:srgbClr val="F2F2F5"/>
                </a:solidFill>
                <a:latin typeface="Arial"/>
              </a:rPr>
              <a:t>We aimed at 0.50% and landed at 0.69%, and the trainer uses what we actually got rather than what we asked for.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4A9EFF"/>
                </a:solidFill>
                <a:latin typeface="Arial"/>
              </a:rPr>
              <a:t>STOP 3 · PART THREE OF THREE</a:t>
            </a:r>
          </a:p>
        </p:txBody>
      </p:sp>
      <p:sp>
        <p:nvSpPr>
          <p:cNvPr id="4" name="TextBox 3"/>
          <p:cNvSpPr txBox="1"/>
          <p:nvPr/>
        </p:nvSpPr>
        <p:spPr>
          <a:xfrm>
            <a:off x="548640" y="60350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The defence</a:t>
            </a:r>
          </a:p>
        </p:txBody>
      </p:sp>
      <p:sp>
        <p:nvSpPr>
          <p:cNvPr id="5" name="Rectangle 4"/>
          <p:cNvSpPr/>
          <p:nvPr/>
        </p:nvSpPr>
        <p:spPr>
          <a:xfrm>
            <a:off x="668284" y="563508"/>
            <a:ext cx="1280160" cy="2286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70"/>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8</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3 OF 5  ·  THE MACHINE</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Its job: turn a stream of events into an action a bank can actually take.</a:t>
            </a:r>
          </a:p>
        </p:txBody>
      </p:sp>
      <p:sp>
        <p:nvSpPr>
          <p:cNvPr id="15" name="Rectangle 14"/>
          <p:cNvSpPr/>
          <p:nvPr/>
        </p:nvSpPr>
        <p:spPr>
          <a:xfrm>
            <a:off x="548640" y="1783080"/>
            <a:ext cx="4297680" cy="429768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1929384"/>
            <a:ext cx="3895344" cy="4023360"/>
          </a:xfrm>
          <a:prstGeom prst="rect">
            <a:avLst/>
          </a:prstGeom>
          <a:noFill/>
        </p:spPr>
        <p:txBody>
          <a:bodyPr wrap="square" anchor="t">
            <a:normAutofit/>
          </a:bodyPr>
          <a:lstStyle/>
          <a:p>
            <a:pPr algn="l">
              <a:spcAft>
                <a:spcPts val="700"/>
              </a:spcAft>
            </a:pPr>
            <a:r>
              <a:rPr sz="4600" b="1">
                <a:solidFill>
                  <a:srgbClr val="4A9EFF"/>
                </a:solidFill>
                <a:latin typeface="Arial"/>
              </a:rPr>
              <a:t>03</a:t>
            </a:r>
          </a:p>
          <a:p>
            <a:pPr>
              <a:spcAft>
                <a:spcPts val="700"/>
              </a:spcAft>
            </a:pPr>
            <a:r>
              <a:rPr sz="2200" b="0">
                <a:solidFill>
                  <a:srgbClr val="F2F2F5"/>
                </a:solidFill>
                <a:latin typeface="Arial"/>
              </a:rPr>
              <a:t>THE DEFENCE</a:t>
            </a:r>
          </a:p>
          <a:p>
            <a:pPr>
              <a:spcAft>
                <a:spcPts val="700"/>
              </a:spcAft>
            </a:pPr>
            <a:r>
              <a:rPr sz="1500" b="0">
                <a:solidFill>
                  <a:srgbClr val="F2F2F5"/>
                </a:solidFill>
                <a:latin typeface="Arial"/>
              </a:rPr>
              <a:t>Four layers. First refuse what is structurally impossible. Then score. Then ask how unusual and how confident. Then choose an action the rail actually supports.</a:t>
            </a:r>
          </a:p>
        </p:txBody>
      </p:sp>
      <p:sp>
        <p:nvSpPr>
          <p:cNvPr id="17" name="Rectangle 16"/>
          <p:cNvSpPr/>
          <p:nvPr/>
        </p:nvSpPr>
        <p:spPr>
          <a:xfrm>
            <a:off x="5074920" y="1783080"/>
            <a:ext cx="6565392" cy="1325880"/>
          </a:xfrm>
          <a:prstGeom prst="rect">
            <a:avLst/>
          </a:prstGeom>
          <a:solidFill>
            <a:srgbClr val="15161D"/>
          </a:solidFill>
          <a:ln w="15875">
            <a:solidFill>
              <a:srgbClr val="A97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6088" y="1929384"/>
            <a:ext cx="6163056" cy="1051560"/>
          </a:xfrm>
          <a:prstGeom prst="rect">
            <a:avLst/>
          </a:prstGeom>
          <a:noFill/>
        </p:spPr>
        <p:txBody>
          <a:bodyPr wrap="square" anchor="t">
            <a:normAutofit/>
          </a:bodyPr>
          <a:lstStyle/>
          <a:p>
            <a:pPr algn="l">
              <a:spcAft>
                <a:spcPts val="700"/>
              </a:spcAft>
            </a:pPr>
            <a:r>
              <a:rPr sz="1150" b="1" dirty="0">
                <a:solidFill>
                  <a:srgbClr val="A97BF0"/>
                </a:solidFill>
                <a:latin typeface="Arial"/>
              </a:rPr>
              <a:t>IT IS ALLOWED TO SAY "I DO NOT KNOW"</a:t>
            </a:r>
          </a:p>
          <a:p>
            <a:pPr>
              <a:spcAft>
                <a:spcPts val="700"/>
              </a:spcAft>
            </a:pPr>
            <a:r>
              <a:rPr sz="1350" b="0" dirty="0">
                <a:solidFill>
                  <a:srgbClr val="F2F2F5"/>
                </a:solidFill>
                <a:latin typeface="Arial"/>
              </a:rPr>
              <a:t>Uncertain cases are routed to a human instead of guessed at</a:t>
            </a:r>
            <a:r>
              <a:rPr lang="en-US" sz="1350" b="0" dirty="0">
                <a:solidFill>
                  <a:srgbClr val="F2F2F5"/>
                </a:solidFill>
                <a:latin typeface="Arial"/>
              </a:rPr>
              <a:t>,</a:t>
            </a:r>
            <a:r>
              <a:rPr sz="1350" b="0" dirty="0">
                <a:solidFill>
                  <a:srgbClr val="F2F2F5"/>
                </a:solidFill>
                <a:latin typeface="Arial"/>
              </a:rPr>
              <a:t> and we count that cost rather than treating abstention as free.</a:t>
            </a:r>
          </a:p>
        </p:txBody>
      </p:sp>
      <p:sp>
        <p:nvSpPr>
          <p:cNvPr id="19" name="Rectangle 18"/>
          <p:cNvSpPr/>
          <p:nvPr/>
        </p:nvSpPr>
        <p:spPr>
          <a:xfrm>
            <a:off x="5074920" y="3246120"/>
            <a:ext cx="6565392" cy="132588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76088" y="3392424"/>
            <a:ext cx="6163056" cy="1051560"/>
          </a:xfrm>
          <a:prstGeom prst="rect">
            <a:avLst/>
          </a:prstGeom>
          <a:noFill/>
        </p:spPr>
        <p:txBody>
          <a:bodyPr wrap="square" anchor="t">
            <a:normAutofit/>
          </a:bodyPr>
          <a:lstStyle/>
          <a:p>
            <a:pPr algn="l">
              <a:spcAft>
                <a:spcPts val="700"/>
              </a:spcAft>
            </a:pPr>
            <a:r>
              <a:rPr sz="1150" b="1">
                <a:solidFill>
                  <a:srgbClr val="4A9EFF"/>
                </a:solidFill>
                <a:latin typeface="Arial"/>
              </a:rPr>
              <a:t>EVERY DECISION CARRIES A REASON</a:t>
            </a:r>
          </a:p>
          <a:p>
            <a:pPr>
              <a:spcAft>
                <a:spcPts val="700"/>
              </a:spcAft>
            </a:pPr>
            <a:r>
              <a:rPr sz="1350" b="0">
                <a:solidFill>
                  <a:srgbClr val="F2F2F5"/>
                </a:solidFill>
                <a:latin typeface="Arial"/>
              </a:rPr>
              <a:t>54 fixed reason codes. A score with no explanation is not something an issuer can act on.</a:t>
            </a:r>
          </a:p>
        </p:txBody>
      </p:sp>
      <p:sp>
        <p:nvSpPr>
          <p:cNvPr id="21" name="Rectangle 20"/>
          <p:cNvSpPr/>
          <p:nvPr/>
        </p:nvSpPr>
        <p:spPr>
          <a:xfrm>
            <a:off x="5074920" y="4709160"/>
            <a:ext cx="6565392" cy="132588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76088" y="4855464"/>
            <a:ext cx="6163056" cy="1051560"/>
          </a:xfrm>
          <a:prstGeom prst="rect">
            <a:avLst/>
          </a:prstGeom>
          <a:noFill/>
        </p:spPr>
        <p:txBody>
          <a:bodyPr wrap="square" anchor="t">
            <a:normAutofit/>
          </a:bodyPr>
          <a:lstStyle/>
          <a:p>
            <a:pPr algn="l">
              <a:spcAft>
                <a:spcPts val="700"/>
              </a:spcAft>
            </a:pPr>
            <a:r>
              <a:rPr sz="1150" b="1">
                <a:solidFill>
                  <a:srgbClr val="3DD68C"/>
                </a:solidFill>
                <a:latin typeface="Arial"/>
              </a:rPr>
              <a:t>THREE STRENGTHS, NOT ONE SWITCH</a:t>
            </a:r>
          </a:p>
          <a:p>
            <a:pPr>
              <a:spcAft>
                <a:spcPts val="700"/>
              </a:spcAft>
            </a:pPr>
            <a:r>
              <a:rPr sz="1350" b="0">
                <a:solidFill>
                  <a:srgbClr val="F2F2F5"/>
                </a:solidFill>
                <a:latin typeface="Arial"/>
              </a:rPr>
              <a:t>Add friction, send to review, or decline — fitted separately for each rail, because you cannot decline a clearing record.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STOP 3 · WHAT JOINS THEM</a:t>
            </a:r>
          </a:p>
        </p:txBody>
      </p:sp>
      <p:sp>
        <p:nvSpPr>
          <p:cNvPr id="4" name="TextBox 3"/>
          <p:cNvSpPr txBox="1"/>
          <p:nvPr/>
        </p:nvSpPr>
        <p:spPr>
          <a:xfrm>
            <a:off x="548640" y="714602"/>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The part that makes it a loop</a:t>
            </a:r>
          </a:p>
        </p:txBody>
      </p:sp>
      <p:sp>
        <p:nvSpPr>
          <p:cNvPr id="5" name="Rectangle 4"/>
          <p:cNvSpPr/>
          <p:nvPr/>
        </p:nvSpPr>
        <p:spPr>
          <a:xfrm>
            <a:off x="634099" y="589143"/>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9</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3 OF 5  ·  THE MACHINE</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A pipeline runs once. This one feeds its own failures back to the attacker.</a:t>
            </a:r>
          </a:p>
        </p:txBody>
      </p:sp>
      <p:sp>
        <p:nvSpPr>
          <p:cNvPr id="15" name="Rectangle 14"/>
          <p:cNvSpPr/>
          <p:nvPr/>
        </p:nvSpPr>
        <p:spPr>
          <a:xfrm>
            <a:off x="548640" y="1828800"/>
            <a:ext cx="1722119" cy="228600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1975104"/>
            <a:ext cx="1319783" cy="2011680"/>
          </a:xfrm>
          <a:prstGeom prst="rect">
            <a:avLst/>
          </a:prstGeom>
          <a:noFill/>
        </p:spPr>
        <p:txBody>
          <a:bodyPr wrap="square" anchor="t">
            <a:normAutofit/>
          </a:bodyPr>
          <a:lstStyle/>
          <a:p>
            <a:pPr algn="l">
              <a:spcAft>
                <a:spcPts val="700"/>
              </a:spcAft>
            </a:pPr>
            <a:r>
              <a:rPr sz="2600" b="1">
                <a:solidFill>
                  <a:srgbClr val="E8505B"/>
                </a:solidFill>
                <a:latin typeface="Arial"/>
              </a:rPr>
              <a:t>1</a:t>
            </a:r>
          </a:p>
          <a:p>
            <a:pPr>
              <a:spcAft>
                <a:spcPts val="700"/>
              </a:spcAft>
            </a:pPr>
            <a:r>
              <a:rPr sz="1150" b="0">
                <a:solidFill>
                  <a:srgbClr val="F2F2F5"/>
                </a:solidFill>
                <a:latin typeface="Arial"/>
              </a:rPr>
              <a:t>PICK A TARGET</a:t>
            </a:r>
          </a:p>
          <a:p>
            <a:pPr>
              <a:spcAft>
                <a:spcPts val="700"/>
              </a:spcAft>
            </a:pPr>
            <a:r>
              <a:rPr sz="1150" b="0">
                <a:solidFill>
                  <a:srgbClr val="F2F2F5"/>
                </a:solidFill>
                <a:latin typeface="Arial"/>
              </a:rPr>
              <a:t>choose a region of the attack space — preferring the blind ones</a:t>
            </a:r>
          </a:p>
        </p:txBody>
      </p:sp>
      <p:sp>
        <p:nvSpPr>
          <p:cNvPr id="17" name="Rectangle 16"/>
          <p:cNvSpPr/>
          <p:nvPr/>
        </p:nvSpPr>
        <p:spPr>
          <a:xfrm>
            <a:off x="2417063" y="1828800"/>
            <a:ext cx="1722119" cy="228600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18231" y="1975104"/>
            <a:ext cx="1319783" cy="2011680"/>
          </a:xfrm>
          <a:prstGeom prst="rect">
            <a:avLst/>
          </a:prstGeom>
          <a:noFill/>
        </p:spPr>
        <p:txBody>
          <a:bodyPr wrap="square" anchor="t">
            <a:normAutofit/>
          </a:bodyPr>
          <a:lstStyle/>
          <a:p>
            <a:pPr algn="l">
              <a:spcAft>
                <a:spcPts val="700"/>
              </a:spcAft>
            </a:pPr>
            <a:r>
              <a:rPr sz="2600" b="1">
                <a:solidFill>
                  <a:srgbClr val="E8505B"/>
                </a:solidFill>
                <a:latin typeface="Arial"/>
              </a:rPr>
              <a:t>2</a:t>
            </a:r>
          </a:p>
          <a:p>
            <a:pPr>
              <a:spcAft>
                <a:spcPts val="700"/>
              </a:spcAft>
            </a:pPr>
            <a:r>
              <a:rPr sz="1150" b="0">
                <a:solidFill>
                  <a:srgbClr val="F2F2F5"/>
                </a:solidFill>
                <a:latin typeface="Arial"/>
              </a:rPr>
              <a:t>INVENT</a:t>
            </a:r>
          </a:p>
          <a:p>
            <a:pPr>
              <a:spcAft>
                <a:spcPts val="700"/>
              </a:spcAft>
            </a:pPr>
            <a:r>
              <a:rPr sz="1150" b="0">
                <a:solidFill>
                  <a:srgbClr val="F2F2F5"/>
                </a:solidFill>
                <a:latin typeface="Arial"/>
              </a:rPr>
              <a:t>propose variations inside that region</a:t>
            </a:r>
          </a:p>
        </p:txBody>
      </p:sp>
      <p:sp>
        <p:nvSpPr>
          <p:cNvPr id="19" name="Rectangle 18"/>
          <p:cNvSpPr/>
          <p:nvPr/>
        </p:nvSpPr>
        <p:spPr>
          <a:xfrm>
            <a:off x="4285486" y="1828800"/>
            <a:ext cx="1722119" cy="228600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6654" y="1975104"/>
            <a:ext cx="1319783" cy="2011680"/>
          </a:xfrm>
          <a:prstGeom prst="rect">
            <a:avLst/>
          </a:prstGeom>
          <a:noFill/>
        </p:spPr>
        <p:txBody>
          <a:bodyPr wrap="square" anchor="t">
            <a:normAutofit/>
          </a:bodyPr>
          <a:lstStyle/>
          <a:p>
            <a:pPr algn="l">
              <a:spcAft>
                <a:spcPts val="700"/>
              </a:spcAft>
            </a:pPr>
            <a:r>
              <a:rPr sz="2600" b="1">
                <a:solidFill>
                  <a:srgbClr val="3DD68C"/>
                </a:solidFill>
                <a:latin typeface="Arial"/>
              </a:rPr>
              <a:t>3</a:t>
            </a:r>
          </a:p>
          <a:p>
            <a:pPr>
              <a:spcAft>
                <a:spcPts val="700"/>
              </a:spcAft>
            </a:pPr>
            <a:r>
              <a:rPr sz="1150" b="0">
                <a:solidFill>
                  <a:srgbClr val="F2F2F5"/>
                </a:solidFill>
                <a:latin typeface="Arial"/>
              </a:rPr>
              <a:t>LIVE IT OUT</a:t>
            </a:r>
          </a:p>
          <a:p>
            <a:pPr>
              <a:spcAft>
                <a:spcPts val="700"/>
              </a:spcAft>
            </a:pPr>
            <a:r>
              <a:rPr sz="1150" b="0">
                <a:solidFill>
                  <a:srgbClr val="F2F2F5"/>
                </a:solidFill>
                <a:latin typeface="Arial"/>
              </a:rPr>
              <a:t>run the campaign on the rail, under budget</a:t>
            </a:r>
          </a:p>
        </p:txBody>
      </p:sp>
      <p:sp>
        <p:nvSpPr>
          <p:cNvPr id="21" name="Rectangle 20"/>
          <p:cNvSpPr/>
          <p:nvPr/>
        </p:nvSpPr>
        <p:spPr>
          <a:xfrm>
            <a:off x="6153909" y="1828800"/>
            <a:ext cx="1722119" cy="228600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7" y="1975104"/>
            <a:ext cx="1319783" cy="2011680"/>
          </a:xfrm>
          <a:prstGeom prst="rect">
            <a:avLst/>
          </a:prstGeom>
          <a:noFill/>
        </p:spPr>
        <p:txBody>
          <a:bodyPr wrap="square" anchor="t">
            <a:normAutofit/>
          </a:bodyPr>
          <a:lstStyle/>
          <a:p>
            <a:pPr algn="l">
              <a:spcAft>
                <a:spcPts val="700"/>
              </a:spcAft>
            </a:pPr>
            <a:r>
              <a:rPr sz="2600" b="1">
                <a:solidFill>
                  <a:srgbClr val="4A9EFF"/>
                </a:solidFill>
                <a:latin typeface="Arial"/>
              </a:rPr>
              <a:t>4</a:t>
            </a:r>
          </a:p>
          <a:p>
            <a:pPr>
              <a:spcAft>
                <a:spcPts val="700"/>
              </a:spcAft>
            </a:pPr>
            <a:r>
              <a:rPr sz="1150" b="0">
                <a:solidFill>
                  <a:srgbClr val="F2F2F5"/>
                </a:solidFill>
                <a:latin typeface="Arial"/>
              </a:rPr>
              <a:t>DECIDE</a:t>
            </a:r>
          </a:p>
          <a:p>
            <a:pPr>
              <a:spcAft>
                <a:spcPts val="700"/>
              </a:spcAft>
            </a:pPr>
            <a:r>
              <a:rPr sz="1150" b="0">
                <a:solidFill>
                  <a:srgbClr val="F2F2F5"/>
                </a:solidFill>
                <a:latin typeface="Arial"/>
              </a:rPr>
              <a:t>score it from every deployment position</a:t>
            </a:r>
          </a:p>
        </p:txBody>
      </p:sp>
      <p:sp>
        <p:nvSpPr>
          <p:cNvPr id="23" name="Rectangle 22"/>
          <p:cNvSpPr/>
          <p:nvPr/>
        </p:nvSpPr>
        <p:spPr>
          <a:xfrm>
            <a:off x="8022332" y="1828800"/>
            <a:ext cx="1722119" cy="228600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3500" y="1975104"/>
            <a:ext cx="1319783" cy="2011680"/>
          </a:xfrm>
          <a:prstGeom prst="rect">
            <a:avLst/>
          </a:prstGeom>
          <a:noFill/>
        </p:spPr>
        <p:txBody>
          <a:bodyPr wrap="square" anchor="t">
            <a:normAutofit/>
          </a:bodyPr>
          <a:lstStyle/>
          <a:p>
            <a:pPr algn="l">
              <a:spcAft>
                <a:spcPts val="700"/>
              </a:spcAft>
            </a:pPr>
            <a:r>
              <a:rPr sz="2600" b="1">
                <a:solidFill>
                  <a:srgbClr val="F5B14C"/>
                </a:solidFill>
                <a:latin typeface="Arial"/>
              </a:rPr>
              <a:t>5</a:t>
            </a:r>
          </a:p>
          <a:p>
            <a:pPr>
              <a:spcAft>
                <a:spcPts val="700"/>
              </a:spcAft>
            </a:pPr>
            <a:r>
              <a:rPr sz="1150" b="0">
                <a:solidFill>
                  <a:srgbClr val="F2F2F5"/>
                </a:solidFill>
                <a:latin typeface="Arial"/>
              </a:rPr>
              <a:t>FIND WHAT ESCAPED</a:t>
            </a:r>
          </a:p>
          <a:p>
            <a:pPr>
              <a:spcAft>
                <a:spcPts val="700"/>
              </a:spcAft>
            </a:pPr>
            <a:r>
              <a:rPr sz="1150" b="0">
                <a:solidFill>
                  <a:srgbClr val="F2F2F5"/>
                </a:solidFill>
                <a:latin typeface="Arial"/>
              </a:rPr>
              <a:t>cluster the misses into named gaps</a:t>
            </a:r>
          </a:p>
        </p:txBody>
      </p:sp>
      <p:sp>
        <p:nvSpPr>
          <p:cNvPr id="25" name="Rectangle 24"/>
          <p:cNvSpPr/>
          <p:nvPr/>
        </p:nvSpPr>
        <p:spPr>
          <a:xfrm>
            <a:off x="9890755" y="1828800"/>
            <a:ext cx="1722119" cy="228600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91923" y="1975104"/>
            <a:ext cx="1319783" cy="2011680"/>
          </a:xfrm>
          <a:prstGeom prst="rect">
            <a:avLst/>
          </a:prstGeom>
          <a:noFill/>
        </p:spPr>
        <p:txBody>
          <a:bodyPr wrap="square" anchor="t">
            <a:normAutofit/>
          </a:bodyPr>
          <a:lstStyle/>
          <a:p>
            <a:pPr algn="l">
              <a:spcAft>
                <a:spcPts val="700"/>
              </a:spcAft>
            </a:pPr>
            <a:r>
              <a:rPr sz="2600" b="1">
                <a:solidFill>
                  <a:srgbClr val="4A9EFF"/>
                </a:solidFill>
                <a:latin typeface="Arial"/>
              </a:rPr>
              <a:t>6</a:t>
            </a:r>
          </a:p>
          <a:p>
            <a:pPr>
              <a:spcAft>
                <a:spcPts val="700"/>
              </a:spcAft>
            </a:pPr>
            <a:r>
              <a:rPr sz="1150" b="0">
                <a:solidFill>
                  <a:srgbClr val="F2F2F5"/>
                </a:solidFill>
                <a:latin typeface="Arial"/>
              </a:rPr>
              <a:t>REBUILD</a:t>
            </a:r>
          </a:p>
          <a:p>
            <a:pPr>
              <a:spcAft>
                <a:spcPts val="700"/>
              </a:spcAft>
            </a:pPr>
            <a:r>
              <a:rPr sz="1150" b="0">
                <a:solidFill>
                  <a:srgbClr val="F2F2F5"/>
                </a:solidFill>
                <a:latin typeface="Arial"/>
              </a:rPr>
              <a:t>retrain, and only promote if it is genuinely better</a:t>
            </a:r>
          </a:p>
        </p:txBody>
      </p:sp>
      <p:sp>
        <p:nvSpPr>
          <p:cNvPr id="27" name="Rectangle 26"/>
          <p:cNvSpPr/>
          <p:nvPr/>
        </p:nvSpPr>
        <p:spPr>
          <a:xfrm>
            <a:off x="548640" y="4434840"/>
            <a:ext cx="11064240" cy="160020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9808" y="4581144"/>
            <a:ext cx="10661904" cy="1325880"/>
          </a:xfrm>
          <a:prstGeom prst="rect">
            <a:avLst/>
          </a:prstGeom>
          <a:noFill/>
        </p:spPr>
        <p:txBody>
          <a:bodyPr wrap="square" anchor="t">
            <a:normAutofit/>
          </a:bodyPr>
          <a:lstStyle/>
          <a:p>
            <a:pPr algn="l">
              <a:spcAft>
                <a:spcPts val="700"/>
              </a:spcAft>
            </a:pPr>
            <a:r>
              <a:rPr sz="1300" b="1">
                <a:solidFill>
                  <a:srgbClr val="F5B14C"/>
                </a:solidFill>
                <a:latin typeface="Arial"/>
              </a:rPr>
              <a:t>AND THEN STEP 5 CHANGES STEP 1</a:t>
            </a:r>
          </a:p>
          <a:p>
            <a:pPr>
              <a:spcAft>
                <a:spcPts val="700"/>
              </a:spcAft>
            </a:pPr>
            <a:r>
              <a:rPr sz="1600" b="0">
                <a:solidFill>
                  <a:srgbClr val="F2F2F5"/>
                </a:solidFill>
                <a:latin typeface="Arial"/>
              </a:rPr>
              <a:t>The gaps the defence leaves raise the sampling weight of the regions that produced them. That single arrow is the difference between a system that improves and a demo that finishes. We also ran it with that arrow cut, so the contribution is compared rather than asserted.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3DD68C"/>
                </a:solidFill>
                <a:latin typeface="Arial"/>
              </a:rPr>
              <a:t>STOP 4 · THE RESULTS</a:t>
            </a:r>
          </a:p>
        </p:txBody>
      </p:sp>
      <p:sp>
        <p:nvSpPr>
          <p:cNvPr id="4" name="TextBox 3"/>
          <p:cNvSpPr txBox="1"/>
          <p:nvPr/>
        </p:nvSpPr>
        <p:spPr>
          <a:xfrm>
            <a:off x="548640" y="60350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What it catches</a:t>
            </a:r>
          </a:p>
        </p:txBody>
      </p:sp>
      <p:sp>
        <p:nvSpPr>
          <p:cNvPr id="5" name="Rectangle 4"/>
          <p:cNvSpPr/>
          <p:nvPr/>
        </p:nvSpPr>
        <p:spPr>
          <a:xfrm>
            <a:off x="651191" y="597688"/>
            <a:ext cx="1280160" cy="2286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10</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4 OF 5  ·  THE RESULTS</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Two point six million events it has never seen · 14,918 attacks · one in every 180 events is an attack.</a:t>
            </a:r>
          </a:p>
        </p:txBody>
      </p:sp>
      <p:pic>
        <p:nvPicPr>
          <p:cNvPr id="15" name="Picture 14" descr="headline.png"/>
          <p:cNvPicPr>
            <a:picLocks noChangeAspect="1"/>
          </p:cNvPicPr>
          <p:nvPr/>
        </p:nvPicPr>
        <p:blipFill>
          <a:blip r:embed="rId3"/>
          <a:stretch>
            <a:fillRect/>
          </a:stretch>
        </p:blipFill>
        <p:spPr>
          <a:xfrm>
            <a:off x="1650192" y="1810512"/>
            <a:ext cx="8861135" cy="2194560"/>
          </a:xfrm>
          <a:prstGeom prst="rect">
            <a:avLst/>
          </a:prstGeom>
        </p:spPr>
      </p:pic>
      <p:sp>
        <p:nvSpPr>
          <p:cNvPr id="16" name="Rectangle 15"/>
          <p:cNvSpPr/>
          <p:nvPr/>
        </p:nvSpPr>
        <p:spPr>
          <a:xfrm>
            <a:off x="548640" y="4206240"/>
            <a:ext cx="5440680" cy="1874519"/>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4352544"/>
            <a:ext cx="5038344" cy="1600199"/>
          </a:xfrm>
          <a:prstGeom prst="rect">
            <a:avLst/>
          </a:prstGeom>
          <a:noFill/>
        </p:spPr>
        <p:txBody>
          <a:bodyPr wrap="square" anchor="t">
            <a:normAutofit/>
          </a:bodyPr>
          <a:lstStyle/>
          <a:p>
            <a:pPr algn="l">
              <a:spcAft>
                <a:spcPts val="700"/>
              </a:spcAft>
            </a:pPr>
            <a:r>
              <a:rPr sz="1200" b="1">
                <a:solidFill>
                  <a:srgbClr val="3DD68C"/>
                </a:solidFill>
                <a:latin typeface="Arial"/>
              </a:rPr>
              <a:t>READ THE THIRD CARD CAREFULLY</a:t>
            </a:r>
          </a:p>
          <a:p>
            <a:pPr>
              <a:spcAft>
                <a:spcPts val="700"/>
              </a:spcAft>
            </a:pPr>
            <a:r>
              <a:rPr sz="1400" b="0">
                <a:solidFill>
                  <a:srgbClr val="F2F2F5"/>
                </a:solidFill>
                <a:latin typeface="Arial"/>
              </a:rPr>
              <a:t>A team can work about 641 cases in this window. Of the 641 we hand them, 638 are real attacks. That is a clean queue — not a claim that we catch everything.</a:t>
            </a:r>
          </a:p>
        </p:txBody>
      </p:sp>
      <p:sp>
        <p:nvSpPr>
          <p:cNvPr id="18" name="Rectangle 17"/>
          <p:cNvSpPr/>
          <p:nvPr/>
        </p:nvSpPr>
        <p:spPr>
          <a:xfrm>
            <a:off x="6172200" y="4206240"/>
            <a:ext cx="5468112" cy="1874519"/>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73368" y="4352544"/>
            <a:ext cx="5065776" cy="1600199"/>
          </a:xfrm>
          <a:prstGeom prst="rect">
            <a:avLst/>
          </a:prstGeom>
          <a:noFill/>
        </p:spPr>
        <p:txBody>
          <a:bodyPr wrap="square" anchor="t">
            <a:normAutofit/>
          </a:bodyPr>
          <a:lstStyle/>
          <a:p>
            <a:pPr algn="l">
              <a:spcAft>
                <a:spcPts val="700"/>
              </a:spcAft>
            </a:pPr>
            <a:r>
              <a:rPr sz="1200" b="1">
                <a:solidFill>
                  <a:srgbClr val="4A9EFF"/>
                </a:solidFill>
                <a:latin typeface="Arial"/>
              </a:rPr>
              <a:t>SO ALWAYS SAY BOTH NUMBERS</a:t>
            </a:r>
          </a:p>
          <a:p>
            <a:pPr>
              <a:spcAft>
                <a:spcPts val="700"/>
              </a:spcAft>
            </a:pPr>
            <a:r>
              <a:rPr sz="1400" b="0">
                <a:solidFill>
                  <a:srgbClr val="F2F2F5"/>
                </a:solidFill>
                <a:latin typeface="Arial"/>
              </a:rPr>
              <a:t>We catch 31% of attacks at a false-positive rate of one in a thousand. Precision without recall beside it is the oldest way to mislead with a fraud metric.</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4A9EFF"/>
                </a:solidFill>
                <a:latin typeface="Arial"/>
              </a:rPr>
              <a:t>STOP 4 · THE QUESTION THAT ACTUALLY MATTERS</a:t>
            </a:r>
          </a:p>
        </p:txBody>
      </p:sp>
      <p:sp>
        <p:nvSpPr>
          <p:cNvPr id="4" name="TextBox 3"/>
          <p:cNvSpPr txBox="1"/>
          <p:nvPr/>
        </p:nvSpPr>
        <p:spPr>
          <a:xfrm>
            <a:off x="548640" y="68041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Can it catch an attack nobody has ever shown it?</a:t>
            </a:r>
          </a:p>
        </p:txBody>
      </p:sp>
      <p:sp>
        <p:nvSpPr>
          <p:cNvPr id="5" name="Rectangle 4"/>
          <p:cNvSpPr/>
          <p:nvPr/>
        </p:nvSpPr>
        <p:spPr>
          <a:xfrm>
            <a:off x="634099" y="588002"/>
            <a:ext cx="1280160" cy="25146"/>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11</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4 OF 5  ·  THE RESULTS</a:t>
            </a:r>
          </a:p>
        </p:txBody>
      </p:sp>
      <p:sp>
        <p:nvSpPr>
          <p:cNvPr id="14" name="TextBox 13"/>
          <p:cNvSpPr txBox="1"/>
          <p:nvPr/>
        </p:nvSpPr>
        <p:spPr>
          <a:xfrm>
            <a:off x="548640" y="1426464"/>
            <a:ext cx="11064240" cy="310896"/>
          </a:xfrm>
          <a:prstGeom prst="rect">
            <a:avLst/>
          </a:prstGeom>
          <a:noFill/>
        </p:spPr>
        <p:txBody>
          <a:bodyPr wrap="square" anchor="t">
            <a:normAutofit lnSpcReduction="10000"/>
          </a:bodyPr>
          <a:lstStyle/>
          <a:p>
            <a:pPr algn="l">
              <a:spcAft>
                <a:spcPts val="0"/>
              </a:spcAft>
            </a:pPr>
            <a:r>
              <a:rPr sz="1500" b="0">
                <a:solidFill>
                  <a:srgbClr val="4A9EFF"/>
                </a:solidFill>
                <a:latin typeface="Arial"/>
              </a:rPr>
              <a:t>This is what the challenge is really asking. It is the only number that answers it.</a:t>
            </a:r>
          </a:p>
        </p:txBody>
      </p:sp>
      <p:pic>
        <p:nvPicPr>
          <p:cNvPr id="15" name="Picture 14" descr="generalisation.png"/>
          <p:cNvPicPr>
            <a:picLocks noChangeAspect="1"/>
          </p:cNvPicPr>
          <p:nvPr/>
        </p:nvPicPr>
        <p:blipFill>
          <a:blip r:embed="rId3"/>
          <a:stretch>
            <a:fillRect/>
          </a:stretch>
        </p:blipFill>
        <p:spPr>
          <a:xfrm>
            <a:off x="457200" y="1903931"/>
            <a:ext cx="5852160" cy="3781658"/>
          </a:xfrm>
          <a:prstGeom prst="rect">
            <a:avLst/>
          </a:prstGeom>
        </p:spPr>
      </p:pic>
      <p:sp>
        <p:nvSpPr>
          <p:cNvPr id="16" name="Rectangle 15"/>
          <p:cNvSpPr/>
          <p:nvPr/>
        </p:nvSpPr>
        <p:spPr>
          <a:xfrm>
            <a:off x="6583680" y="1828800"/>
            <a:ext cx="5056632" cy="123444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784848" y="1975104"/>
            <a:ext cx="4654296" cy="960120"/>
          </a:xfrm>
          <a:prstGeom prst="rect">
            <a:avLst/>
          </a:prstGeom>
          <a:noFill/>
        </p:spPr>
        <p:txBody>
          <a:bodyPr wrap="square" anchor="t">
            <a:normAutofit/>
          </a:bodyPr>
          <a:lstStyle/>
          <a:p>
            <a:pPr algn="l">
              <a:spcAft>
                <a:spcPts val="700"/>
              </a:spcAft>
            </a:pPr>
            <a:r>
              <a:rPr sz="1150" b="1">
                <a:solidFill>
                  <a:srgbClr val="4A9EFF"/>
                </a:solidFill>
                <a:latin typeface="Arial"/>
              </a:rPr>
              <a:t>WE LOCKED AWAY THE MAJORITY</a:t>
            </a:r>
          </a:p>
          <a:p>
            <a:pPr>
              <a:spcAft>
                <a:spcPts val="700"/>
              </a:spcAft>
            </a:pPr>
            <a:r>
              <a:rPr sz="1300" b="0">
                <a:solidFill>
                  <a:srgbClr val="F2F2F5"/>
                </a:solidFill>
                <a:latin typeface="Arial"/>
              </a:rPr>
              <a:t>52% of the attacks in the test window are kinds the model was never trained on. We sealed twelve whole families and one entire evasion technique.</a:t>
            </a:r>
          </a:p>
        </p:txBody>
      </p:sp>
      <p:sp>
        <p:nvSpPr>
          <p:cNvPr id="18" name="Rectangle 17"/>
          <p:cNvSpPr/>
          <p:nvPr/>
        </p:nvSpPr>
        <p:spPr>
          <a:xfrm>
            <a:off x="6583680" y="3200400"/>
            <a:ext cx="5056632" cy="123444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84848" y="3346704"/>
            <a:ext cx="4654296" cy="960120"/>
          </a:xfrm>
          <a:prstGeom prst="rect">
            <a:avLst/>
          </a:prstGeom>
          <a:noFill/>
        </p:spPr>
        <p:txBody>
          <a:bodyPr wrap="square" anchor="t">
            <a:normAutofit/>
          </a:bodyPr>
          <a:lstStyle/>
          <a:p>
            <a:pPr algn="l">
              <a:spcAft>
                <a:spcPts val="700"/>
              </a:spcAft>
            </a:pPr>
            <a:r>
              <a:rPr sz="1150" b="1">
                <a:solidFill>
                  <a:srgbClr val="3DD68C"/>
                </a:solidFill>
                <a:latin typeface="Arial"/>
              </a:rPr>
              <a:t>IT KEEPS TWO THIRDS OF ITS EDGE</a:t>
            </a:r>
          </a:p>
          <a:p>
            <a:pPr>
              <a:spcAft>
                <a:spcPts val="700"/>
              </a:spcAft>
            </a:pPr>
            <a:r>
              <a:rPr sz="1300" b="0">
                <a:solidFill>
                  <a:srgbClr val="F2F2F5"/>
                </a:solidFill>
                <a:latin typeface="Arial"/>
              </a:rPr>
              <a:t>On attacks it has never seen it retains 65% of the performance it has on ones it has.</a:t>
            </a:r>
          </a:p>
        </p:txBody>
      </p:sp>
      <p:sp>
        <p:nvSpPr>
          <p:cNvPr id="20" name="Rectangle 19"/>
          <p:cNvSpPr/>
          <p:nvPr/>
        </p:nvSpPr>
        <p:spPr>
          <a:xfrm>
            <a:off x="6583680" y="4572000"/>
            <a:ext cx="5056632" cy="123444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84848" y="4718304"/>
            <a:ext cx="4654296" cy="960120"/>
          </a:xfrm>
          <a:prstGeom prst="rect">
            <a:avLst/>
          </a:prstGeom>
          <a:noFill/>
        </p:spPr>
        <p:txBody>
          <a:bodyPr wrap="square" anchor="t">
            <a:normAutofit/>
          </a:bodyPr>
          <a:lstStyle/>
          <a:p>
            <a:pPr algn="l">
              <a:spcAft>
                <a:spcPts val="700"/>
              </a:spcAft>
            </a:pPr>
            <a:r>
              <a:rPr sz="1150" b="1">
                <a:solidFill>
                  <a:srgbClr val="F5B14C"/>
                </a:solidFill>
                <a:latin typeface="Arial"/>
              </a:rPr>
              <a:t>A RANDOMLY SPLIT MODEL CANNOT ANSWER THIS</a:t>
            </a:r>
          </a:p>
          <a:p>
            <a:pPr>
              <a:spcAft>
                <a:spcPts val="700"/>
              </a:spcAft>
            </a:pPr>
            <a:r>
              <a:rPr sz="1300" b="0">
                <a:solidFill>
                  <a:srgbClr val="F2F2F5"/>
                </a:solidFill>
                <a:latin typeface="Arial"/>
              </a:rPr>
              <a:t>It has already seen every kind. There is no number it can put here, which is the point.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3DD68C"/>
                </a:solidFill>
                <a:latin typeface="Arial"/>
              </a:rPr>
              <a:t>STOP 4 · BEFORE YOU BELIEVE ANY OF IT</a:t>
            </a:r>
          </a:p>
        </p:txBody>
      </p:sp>
      <p:sp>
        <p:nvSpPr>
          <p:cNvPr id="4" name="TextBox 3"/>
          <p:cNvSpPr txBox="1"/>
          <p:nvPr/>
        </p:nvSpPr>
        <p:spPr>
          <a:xfrm>
            <a:off x="548640" y="68041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Six ways we tried to catch ourselves cheating</a:t>
            </a:r>
          </a:p>
        </p:txBody>
      </p:sp>
      <p:sp>
        <p:nvSpPr>
          <p:cNvPr id="5" name="Rectangle 4"/>
          <p:cNvSpPr/>
          <p:nvPr/>
        </p:nvSpPr>
        <p:spPr>
          <a:xfrm>
            <a:off x="685376" y="589143"/>
            <a:ext cx="1280160" cy="2286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9"/>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12</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4 OF 5  ·  THE RESULTS</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All six run on every build. Any one of them failing stops the build.</a:t>
            </a:r>
          </a:p>
        </p:txBody>
      </p:sp>
      <p:sp>
        <p:nvSpPr>
          <p:cNvPr id="15" name="Rectangle 14"/>
          <p:cNvSpPr/>
          <p:nvPr/>
        </p:nvSpPr>
        <p:spPr>
          <a:xfrm>
            <a:off x="548640" y="1828800"/>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1975104"/>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WE WROTE THE ANSWERS DOWN FIRST</a:t>
            </a:r>
          </a:p>
          <a:p>
            <a:pPr>
              <a:spcAft>
                <a:spcPts val="700"/>
              </a:spcAft>
            </a:pPr>
            <a:r>
              <a:rPr sz="1250" b="0">
                <a:solidFill>
                  <a:srgbClr val="F2F2F5"/>
                </a:solidFill>
                <a:latin typeface="Arial"/>
              </a:rPr>
              <a:t>Version-control history proves the sealed attack list was committed before a single line of detector code existed. This is a control on us, not on the model.</a:t>
            </a:r>
          </a:p>
          <a:p>
            <a:pPr>
              <a:spcAft>
                <a:spcPts val="700"/>
              </a:spcAft>
            </a:pPr>
            <a:r>
              <a:rPr sz="1200" b="0">
                <a:solidFill>
                  <a:srgbClr val="F2F2F5"/>
                </a:solidFill>
                <a:latin typeface="Arial"/>
              </a:rPr>
              <a:t>PASS</a:t>
            </a:r>
          </a:p>
        </p:txBody>
      </p:sp>
      <p:sp>
        <p:nvSpPr>
          <p:cNvPr id="17" name="Rectangle 16"/>
          <p:cNvSpPr/>
          <p:nvPr/>
        </p:nvSpPr>
        <p:spPr>
          <a:xfrm>
            <a:off x="4297680" y="1828800"/>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98848" y="1975104"/>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NO TIME TRAVEL</a:t>
            </a:r>
          </a:p>
          <a:p>
            <a:pPr>
              <a:spcAft>
                <a:spcPts val="700"/>
              </a:spcAft>
            </a:pPr>
            <a:r>
              <a:rPr sz="1250" b="0">
                <a:solidFill>
                  <a:srgbClr val="F2F2F5"/>
                </a:solidFill>
                <a:latin typeface="Arial"/>
              </a:rPr>
              <a:t>Training strictly precedes testing, with a five-day gap on each side of the boundary. 791,973 rows near the seam are thrown away rather than risked.</a:t>
            </a:r>
          </a:p>
          <a:p>
            <a:pPr>
              <a:spcAft>
                <a:spcPts val="700"/>
              </a:spcAft>
            </a:pPr>
            <a:r>
              <a:rPr sz="1200" b="0">
                <a:solidFill>
                  <a:srgbClr val="F2F2F5"/>
                </a:solidFill>
                <a:latin typeface="Arial"/>
              </a:rPr>
              <a:t>PASS</a:t>
            </a:r>
          </a:p>
        </p:txBody>
      </p:sp>
      <p:sp>
        <p:nvSpPr>
          <p:cNvPr id="19" name="Rectangle 18"/>
          <p:cNvSpPr/>
          <p:nvPr/>
        </p:nvSpPr>
        <p:spPr>
          <a:xfrm>
            <a:off x="8046720" y="1828800"/>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47888" y="1975104"/>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NO SHARED PEOPLE</a:t>
            </a:r>
          </a:p>
          <a:p>
            <a:pPr>
              <a:spcAft>
                <a:spcPts val="700"/>
              </a:spcAft>
            </a:pPr>
            <a:r>
              <a:rPr sz="1250" b="0">
                <a:solidFill>
                  <a:srgbClr val="F2F2F5"/>
                </a:solidFill>
                <a:latin typeface="Arial"/>
              </a:rPr>
              <a:t>No account, device or merchant appears both in training and in the held-out attacks. 1,791,118 rows were excluded from training to keep it that way.</a:t>
            </a:r>
          </a:p>
          <a:p>
            <a:pPr>
              <a:spcAft>
                <a:spcPts val="700"/>
              </a:spcAft>
            </a:pPr>
            <a:r>
              <a:rPr sz="1200" b="0">
                <a:solidFill>
                  <a:srgbClr val="F2F2F5"/>
                </a:solidFill>
                <a:latin typeface="Arial"/>
              </a:rPr>
              <a:t>PASS</a:t>
            </a:r>
          </a:p>
        </p:txBody>
      </p:sp>
      <p:sp>
        <p:nvSpPr>
          <p:cNvPr id="21" name="Rectangle 20"/>
          <p:cNvSpPr/>
          <p:nvPr/>
        </p:nvSpPr>
        <p:spPr>
          <a:xfrm>
            <a:off x="548640" y="3950208"/>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4096512"/>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NO LABEL THAT ARRIVED TOO EARLY</a:t>
            </a:r>
          </a:p>
          <a:p>
            <a:pPr>
              <a:spcAft>
                <a:spcPts val="700"/>
              </a:spcAft>
            </a:pPr>
            <a:r>
              <a:rPr sz="1250" b="0">
                <a:solidFill>
                  <a:srgbClr val="F2F2F5"/>
                </a:solidFill>
                <a:latin typeface="Arial"/>
              </a:rPr>
              <a:t>Every label used is checked to have arrived after its own event and inside its real window.</a:t>
            </a:r>
          </a:p>
          <a:p>
            <a:pPr>
              <a:spcAft>
                <a:spcPts val="700"/>
              </a:spcAft>
            </a:pPr>
            <a:r>
              <a:rPr sz="1200" b="0">
                <a:solidFill>
                  <a:srgbClr val="F2F2F5"/>
                </a:solidFill>
                <a:latin typeface="Arial"/>
              </a:rPr>
              <a:t>PASS</a:t>
            </a:r>
          </a:p>
        </p:txBody>
      </p:sp>
      <p:sp>
        <p:nvSpPr>
          <p:cNvPr id="23" name="Rectangle 22"/>
          <p:cNvSpPr/>
          <p:nvPr/>
        </p:nvSpPr>
        <p:spPr>
          <a:xfrm>
            <a:off x="4297680" y="3950208"/>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4096512"/>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NO STATISTIC FITTED ON THE FUTURE</a:t>
            </a:r>
          </a:p>
          <a:p>
            <a:pPr>
              <a:spcAft>
                <a:spcPts val="700"/>
              </a:spcAft>
            </a:pPr>
            <a:r>
              <a:rPr sz="1250" b="0">
                <a:solidFill>
                  <a:srgbClr val="F2F2F5"/>
                </a:solidFill>
                <a:latin typeface="Arial"/>
              </a:rPr>
              <a:t>Baselines, thresholds and cold-start priors are all fitted on the training slice only.</a:t>
            </a:r>
          </a:p>
          <a:p>
            <a:pPr>
              <a:spcAft>
                <a:spcPts val="700"/>
              </a:spcAft>
            </a:pPr>
            <a:r>
              <a:rPr sz="1200" b="0">
                <a:solidFill>
                  <a:srgbClr val="F2F2F5"/>
                </a:solidFill>
                <a:latin typeface="Arial"/>
              </a:rPr>
              <a:t>PASS</a:t>
            </a:r>
          </a:p>
        </p:txBody>
      </p:sp>
      <p:sp>
        <p:nvSpPr>
          <p:cNvPr id="25" name="Rectangle 24"/>
          <p:cNvSpPr/>
          <p:nvPr/>
        </p:nvSpPr>
        <p:spPr>
          <a:xfrm>
            <a:off x="8046720" y="3950208"/>
            <a:ext cx="3566160"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47888" y="4096512"/>
            <a:ext cx="3163824" cy="1691640"/>
          </a:xfrm>
          <a:prstGeom prst="rect">
            <a:avLst/>
          </a:prstGeom>
          <a:noFill/>
        </p:spPr>
        <p:txBody>
          <a:bodyPr wrap="square" anchor="t">
            <a:normAutofit/>
          </a:bodyPr>
          <a:lstStyle/>
          <a:p>
            <a:pPr algn="l">
              <a:spcAft>
                <a:spcPts val="700"/>
              </a:spcAft>
            </a:pPr>
            <a:r>
              <a:rPr sz="1150" b="1">
                <a:solidFill>
                  <a:srgbClr val="3DD68C"/>
                </a:solidFill>
                <a:latin typeface="Arial"/>
              </a:rPr>
              <a:t>NO ACCIDENTAL NAME LEAK</a:t>
            </a:r>
          </a:p>
          <a:p>
            <a:pPr>
              <a:spcAft>
                <a:spcPts val="700"/>
              </a:spcAft>
            </a:pPr>
            <a:r>
              <a:rPr sz="1250" b="0">
                <a:solidFill>
                  <a:srgbClr val="F2F2F5"/>
                </a:solidFill>
                <a:latin typeface="Arial"/>
              </a:rPr>
              <a:t>An automated check confirms no feature, rule or setting so much as mentions a held-out family.</a:t>
            </a:r>
          </a:p>
          <a:p>
            <a:pPr>
              <a:spcAft>
                <a:spcPts val="700"/>
              </a:spcAft>
            </a:pPr>
            <a:r>
              <a:rPr sz="1200" b="0">
                <a:solidFill>
                  <a:srgbClr val="F2F2F5"/>
                </a:solidFill>
                <a:latin typeface="Arial"/>
              </a:rPr>
              <a:t>PASS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STOP 5 · THE HONESTY</a:t>
            </a:r>
          </a:p>
        </p:txBody>
      </p:sp>
      <p:sp>
        <p:nvSpPr>
          <p:cNvPr id="4" name="TextBox 3"/>
          <p:cNvSpPr txBox="1"/>
          <p:nvPr/>
        </p:nvSpPr>
        <p:spPr>
          <a:xfrm>
            <a:off x="548640" y="697510"/>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We scored every part of the defense on its own</a:t>
            </a:r>
            <a:r>
              <a:rPr lang="en-US" sz="2800" b="1" dirty="0">
                <a:solidFill>
                  <a:srgbClr val="F2F2F5"/>
                </a:solidFill>
                <a:latin typeface="Arial"/>
              </a:rPr>
              <a:t>:</a:t>
            </a:r>
            <a:r>
              <a:rPr sz="2800" b="1" dirty="0">
                <a:solidFill>
                  <a:srgbClr val="F2F2F5"/>
                </a:solidFill>
                <a:latin typeface="Arial"/>
              </a:rPr>
              <a:t> two were dead</a:t>
            </a:r>
          </a:p>
        </p:txBody>
      </p:sp>
      <p:sp>
        <p:nvSpPr>
          <p:cNvPr id="5" name="Rectangle 4"/>
          <p:cNvSpPr/>
          <p:nvPr/>
        </p:nvSpPr>
        <p:spPr>
          <a:xfrm>
            <a:off x="668283" y="572052"/>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8"/>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13</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5 OF 5  ·  THE HONESTY</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Nobody does this, it costs almost nothing, and it is how we found the next slide.</a:t>
            </a:r>
          </a:p>
        </p:txBody>
      </p:sp>
      <p:pic>
        <p:nvPicPr>
          <p:cNvPr id="15" name="Picture 14" descr="channels.png"/>
          <p:cNvPicPr>
            <a:picLocks noChangeAspect="1"/>
          </p:cNvPicPr>
          <p:nvPr/>
        </p:nvPicPr>
        <p:blipFill>
          <a:blip r:embed="rId3"/>
          <a:stretch>
            <a:fillRect/>
          </a:stretch>
        </p:blipFill>
        <p:spPr>
          <a:xfrm>
            <a:off x="1763157" y="1810512"/>
            <a:ext cx="8635205" cy="3657600"/>
          </a:xfrm>
          <a:prstGeom prst="rect">
            <a:avLst/>
          </a:prstGeom>
        </p:spPr>
      </p:pic>
      <p:sp>
        <p:nvSpPr>
          <p:cNvPr id="16" name="TextBox 15"/>
          <p:cNvSpPr txBox="1"/>
          <p:nvPr/>
        </p:nvSpPr>
        <p:spPr>
          <a:xfrm>
            <a:off x="548640" y="5623560"/>
            <a:ext cx="11064240" cy="685800"/>
          </a:xfrm>
          <a:prstGeom prst="rect">
            <a:avLst/>
          </a:prstGeom>
          <a:noFill/>
        </p:spPr>
        <p:txBody>
          <a:bodyPr wrap="square" anchor="t">
            <a:normAutofit/>
          </a:bodyPr>
          <a:lstStyle/>
          <a:p>
            <a:pPr algn="l">
              <a:spcAft>
                <a:spcPts val="0"/>
              </a:spcAft>
            </a:pPr>
            <a:r>
              <a:rPr sz="1450" b="0">
                <a:solidFill>
                  <a:srgbClr val="F5B14C"/>
                </a:solidFill>
                <a:latin typeface="Arial"/>
              </a:rPr>
              <a:t>One of them returned the SAME VALUE for all 2.6 million rows. Another was reliably WRONG — worse than a coin. Between them they carried a fifth of the final score.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STOP 5 · WHAT THAT LED US TO</a:t>
            </a:r>
          </a:p>
        </p:txBody>
      </p:sp>
      <p:sp>
        <p:nvSpPr>
          <p:cNvPr id="4" name="TextBox 3"/>
          <p:cNvSpPr txBox="1"/>
          <p:nvPr/>
        </p:nvSpPr>
        <p:spPr>
          <a:xfrm>
            <a:off x="548640" y="714602"/>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Our own combiner was throwing away a model four times better</a:t>
            </a:r>
          </a:p>
        </p:txBody>
      </p:sp>
      <p:sp>
        <p:nvSpPr>
          <p:cNvPr id="5" name="Rectangle 4"/>
          <p:cNvSpPr/>
          <p:nvPr/>
        </p:nvSpPr>
        <p:spPr>
          <a:xfrm>
            <a:off x="676829" y="572052"/>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9"/>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14</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5 OF 5  ·  THE HONESTY</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The bar on the left is what we would have submitted. The bar on the right is the same model, combined properly.</a:t>
            </a:r>
          </a:p>
        </p:txBody>
      </p:sp>
      <p:pic>
        <p:nvPicPr>
          <p:cNvPr id="15" name="Picture 14" descr="fusion_arms.png"/>
          <p:cNvPicPr>
            <a:picLocks noChangeAspect="1"/>
          </p:cNvPicPr>
          <p:nvPr/>
        </p:nvPicPr>
        <p:blipFill>
          <a:blip r:embed="rId3"/>
          <a:stretch>
            <a:fillRect/>
          </a:stretch>
        </p:blipFill>
        <p:spPr>
          <a:xfrm>
            <a:off x="2283349" y="1828800"/>
            <a:ext cx="7594822" cy="3200400"/>
          </a:xfrm>
          <a:prstGeom prst="rect">
            <a:avLst/>
          </a:prstGeom>
        </p:spPr>
      </p:pic>
      <p:sp>
        <p:nvSpPr>
          <p:cNvPr id="16" name="Rectangle 15"/>
          <p:cNvSpPr/>
          <p:nvPr/>
        </p:nvSpPr>
        <p:spPr>
          <a:xfrm>
            <a:off x="548640" y="5166360"/>
            <a:ext cx="5440680" cy="96012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5312664"/>
            <a:ext cx="5038344" cy="685800"/>
          </a:xfrm>
          <a:prstGeom prst="rect">
            <a:avLst/>
          </a:prstGeom>
          <a:noFill/>
        </p:spPr>
        <p:txBody>
          <a:bodyPr wrap="square" anchor="t">
            <a:normAutofit fontScale="77500" lnSpcReduction="20000"/>
          </a:bodyPr>
          <a:lstStyle/>
          <a:p>
            <a:pPr algn="l">
              <a:spcAft>
                <a:spcPts val="700"/>
              </a:spcAft>
            </a:pPr>
            <a:r>
              <a:rPr sz="1150" b="1">
                <a:solidFill>
                  <a:srgbClr val="F5B14C"/>
                </a:solidFill>
                <a:latin typeface="Arial"/>
              </a:rPr>
              <a:t>WHY IT WAS INVISIBLE</a:t>
            </a:r>
          </a:p>
          <a:p>
            <a:pPr>
              <a:spcAft>
                <a:spcPts val="700"/>
              </a:spcAft>
            </a:pPr>
            <a:r>
              <a:rPr sz="1300" b="0">
                <a:solidFill>
                  <a:srgbClr val="F2F2F5"/>
                </a:solidFill>
                <a:latin typeface="Arial"/>
              </a:rPr>
              <a:t>Averaging ranks is scale-free, so a component weighted a tenth can still reorder the cases that matter — and the top of our queue is packed that tightly.</a:t>
            </a:r>
          </a:p>
        </p:txBody>
      </p:sp>
      <p:sp>
        <p:nvSpPr>
          <p:cNvPr id="18" name="Rectangle 17"/>
          <p:cNvSpPr/>
          <p:nvPr/>
        </p:nvSpPr>
        <p:spPr>
          <a:xfrm>
            <a:off x="6172200" y="5166360"/>
            <a:ext cx="5468112" cy="96012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73368" y="5312664"/>
            <a:ext cx="5065776" cy="685800"/>
          </a:xfrm>
          <a:prstGeom prst="rect">
            <a:avLst/>
          </a:prstGeom>
          <a:noFill/>
        </p:spPr>
        <p:txBody>
          <a:bodyPr wrap="square" anchor="t">
            <a:normAutofit fontScale="77500" lnSpcReduction="20000"/>
          </a:bodyPr>
          <a:lstStyle/>
          <a:p>
            <a:pPr algn="l">
              <a:spcAft>
                <a:spcPts val="700"/>
              </a:spcAft>
            </a:pPr>
            <a:r>
              <a:rPr sz="1150" b="1">
                <a:solidFill>
                  <a:srgbClr val="3DD68C"/>
                </a:solidFill>
                <a:latin typeface="Arial"/>
              </a:rPr>
              <a:t>FOUR MORE WE CAUGHT THE SAME WAY</a:t>
            </a:r>
          </a:p>
          <a:p>
            <a:pPr>
              <a:spcAft>
                <a:spcPts val="700"/>
              </a:spcAft>
            </a:pPr>
            <a:r>
              <a:rPr sz="1250" b="0">
                <a:solidFill>
                  <a:srgbClr val="F2F2F5"/>
                </a:solidFill>
                <a:latin typeface="Arial"/>
              </a:rPr>
              <a:t>A safety cap that could escalate a whole rail into automatic declines · two features that separated attacks perfectly, deleted · an instrument reporting a fabricated zero · a guard that refused to ship a collapsed action ladder.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STOP 5 · WHERE WE FLATTER OURSELVES</a:t>
            </a:r>
          </a:p>
        </p:txBody>
      </p:sp>
      <p:sp>
        <p:nvSpPr>
          <p:cNvPr id="4" name="TextBox 3"/>
          <p:cNvSpPr txBox="1"/>
          <p:nvPr/>
        </p:nvSpPr>
        <p:spPr>
          <a:xfrm>
            <a:off x="548640" y="663326"/>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Two of our signals are too good, and we say so first</a:t>
            </a:r>
          </a:p>
        </p:txBody>
      </p:sp>
      <p:sp>
        <p:nvSpPr>
          <p:cNvPr id="5" name="Rectangle 4"/>
          <p:cNvSpPr/>
          <p:nvPr/>
        </p:nvSpPr>
        <p:spPr>
          <a:xfrm>
            <a:off x="651190" y="580599"/>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69"/>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15</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5 OF 5  ·  THE HONESTY</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dirty="0">
                <a:solidFill>
                  <a:srgbClr val="9A9AA8"/>
                </a:solidFill>
                <a:latin typeface="Arial"/>
              </a:rPr>
              <a:t>We ranked every feature by how well it alone separates attacks, and went looking for ones that were suspiciously strong.</a:t>
            </a:r>
          </a:p>
        </p:txBody>
      </p:sp>
      <p:pic>
        <p:nvPicPr>
          <p:cNvPr id="15" name="Picture 14" descr="artifacts.png"/>
          <p:cNvPicPr>
            <a:picLocks noChangeAspect="1"/>
          </p:cNvPicPr>
          <p:nvPr/>
        </p:nvPicPr>
        <p:blipFill>
          <a:blip r:embed="rId3"/>
          <a:stretch>
            <a:fillRect/>
          </a:stretch>
        </p:blipFill>
        <p:spPr>
          <a:xfrm>
            <a:off x="1587155" y="1828800"/>
            <a:ext cx="8987209" cy="3154680"/>
          </a:xfrm>
          <a:prstGeom prst="rect">
            <a:avLst/>
          </a:prstGeom>
        </p:spPr>
      </p:pic>
      <p:sp>
        <p:nvSpPr>
          <p:cNvPr id="16" name="Rectangle 15"/>
          <p:cNvSpPr/>
          <p:nvPr/>
        </p:nvSpPr>
        <p:spPr>
          <a:xfrm>
            <a:off x="548640" y="5120640"/>
            <a:ext cx="5440680" cy="100584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5266944"/>
            <a:ext cx="5038344" cy="731520"/>
          </a:xfrm>
          <a:prstGeom prst="rect">
            <a:avLst/>
          </a:prstGeom>
          <a:noFill/>
        </p:spPr>
        <p:txBody>
          <a:bodyPr wrap="square" anchor="t">
            <a:normAutofit fontScale="85000" lnSpcReduction="20000"/>
          </a:bodyPr>
          <a:lstStyle/>
          <a:p>
            <a:pPr algn="l">
              <a:spcAft>
                <a:spcPts val="700"/>
              </a:spcAft>
            </a:pPr>
            <a:r>
              <a:rPr sz="1150" b="1" dirty="0">
                <a:solidFill>
                  <a:srgbClr val="F5B14C"/>
                </a:solidFill>
                <a:latin typeface="Arial"/>
              </a:rPr>
              <a:t>SESSION DURATION</a:t>
            </a:r>
            <a:r>
              <a:rPr lang="en-US" sz="1150" b="1" dirty="0">
                <a:solidFill>
                  <a:srgbClr val="F5B14C"/>
                </a:solidFill>
                <a:latin typeface="Arial"/>
              </a:rPr>
              <a:t>:</a:t>
            </a:r>
            <a:r>
              <a:rPr sz="1150" b="1" dirty="0">
                <a:solidFill>
                  <a:srgbClr val="F5B14C"/>
                </a:solidFill>
                <a:latin typeface="Arial"/>
              </a:rPr>
              <a:t> REAL MECHANISM, TOO CLEAN A DRAW</a:t>
            </a:r>
          </a:p>
          <a:p>
            <a:pPr>
              <a:spcAft>
                <a:spcPts val="700"/>
              </a:spcAft>
            </a:pPr>
            <a:r>
              <a:rPr sz="1250" b="0" dirty="0">
                <a:solidFill>
                  <a:srgbClr val="F2F2F5"/>
                </a:solidFill>
                <a:latin typeface="Arial"/>
              </a:rPr>
              <a:t>Coerced victims really do sit through hour-long sessions. But our ordinary sessions are drawn too tidily, so the separation is sharper here than in production. Bounded at 21% of the headline.</a:t>
            </a:r>
          </a:p>
        </p:txBody>
      </p:sp>
      <p:sp>
        <p:nvSpPr>
          <p:cNvPr id="18" name="Rectangle 17"/>
          <p:cNvSpPr/>
          <p:nvPr/>
        </p:nvSpPr>
        <p:spPr>
          <a:xfrm>
            <a:off x="6172200" y="5120640"/>
            <a:ext cx="5468112" cy="100584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73368" y="5266944"/>
            <a:ext cx="5065776" cy="731520"/>
          </a:xfrm>
          <a:prstGeom prst="rect">
            <a:avLst/>
          </a:prstGeom>
          <a:noFill/>
        </p:spPr>
        <p:txBody>
          <a:bodyPr wrap="square" anchor="t">
            <a:normAutofit fontScale="85000" lnSpcReduction="20000"/>
          </a:bodyPr>
          <a:lstStyle/>
          <a:p>
            <a:pPr algn="l">
              <a:spcAft>
                <a:spcPts val="700"/>
              </a:spcAft>
            </a:pPr>
            <a:r>
              <a:rPr sz="1150" b="1">
                <a:solidFill>
                  <a:srgbClr val="3DD68C"/>
                </a:solidFill>
                <a:latin typeface="Arial"/>
              </a:rPr>
              <a:t>AND ONE WE CHOSE NOT TO BUILD</a:t>
            </a:r>
          </a:p>
          <a:p>
            <a:pPr>
              <a:spcAft>
                <a:spcPts val="700"/>
              </a:spcAft>
            </a:pPr>
            <a:r>
              <a:rPr sz="1250" b="0">
                <a:solidFill>
                  <a:srgbClr val="F2F2F5"/>
                </a:solidFill>
                <a:latin typeface="Arial"/>
              </a:rPr>
              <a:t>Attack cash-outs land on exactly ₹5,000, so an amount-collision feature would have topped this chart. We left it out and recorded the decision, rather than banking a number our own generator handed 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E8505B"/>
                </a:solidFill>
                <a:latin typeface="Arial"/>
              </a:rPr>
              <a:t>STOP 5 · THE COMPARISON WE COULD HAVE HIDDEN</a:t>
            </a:r>
          </a:p>
        </p:txBody>
      </p:sp>
      <p:sp>
        <p:nvSpPr>
          <p:cNvPr id="4" name="TextBox 3"/>
          <p:cNvSpPr txBox="1"/>
          <p:nvPr/>
        </p:nvSpPr>
        <p:spPr>
          <a:xfrm>
            <a:off x="548640" y="714601"/>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A conventional model beats us, and here is why that is the point</a:t>
            </a:r>
          </a:p>
        </p:txBody>
      </p:sp>
      <p:sp>
        <p:nvSpPr>
          <p:cNvPr id="5" name="Rectangle 4"/>
          <p:cNvSpPr/>
          <p:nvPr/>
        </p:nvSpPr>
        <p:spPr>
          <a:xfrm>
            <a:off x="668283" y="563505"/>
            <a:ext cx="1280160" cy="2286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70"/>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16</a:t>
            </a:r>
          </a:p>
        </p:txBody>
      </p:sp>
      <p:sp>
        <p:nvSpPr>
          <p:cNvPr id="8" name="Rectangle 7"/>
          <p:cNvSpPr/>
          <p:nvPr/>
        </p:nvSpPr>
        <p:spPr>
          <a:xfrm>
            <a:off x="9866376"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41280"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6184"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991088" y="365760"/>
            <a:ext cx="274320" cy="45720"/>
          </a:xfrm>
          <a:prstGeom prst="rect">
            <a:avLst/>
          </a:prstGeom>
          <a:solidFill>
            <a:srgbClr val="2A2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65992" y="365760"/>
            <a:ext cx="274320" cy="4572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512064"/>
            <a:ext cx="3959352" cy="274320"/>
          </a:xfrm>
          <a:prstGeom prst="rect">
            <a:avLst/>
          </a:prstGeom>
          <a:noFill/>
        </p:spPr>
        <p:txBody>
          <a:bodyPr wrap="square" anchor="t">
            <a:normAutofit/>
          </a:bodyPr>
          <a:lstStyle/>
          <a:p>
            <a:pPr algn="r">
              <a:spcAft>
                <a:spcPts val="0"/>
              </a:spcAft>
            </a:pPr>
            <a:r>
              <a:rPr sz="900" b="1">
                <a:solidFill>
                  <a:srgbClr val="5A5B66"/>
                </a:solidFill>
                <a:latin typeface="Arial"/>
              </a:rPr>
              <a:t>STOP 5 OF 5  ·  THE HONESTY</a:t>
            </a:r>
          </a:p>
        </p:txBody>
      </p:sp>
      <p:sp>
        <p:nvSpPr>
          <p:cNvPr id="14" name="TextBox 13"/>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Same features. Same library. Same settings. We changed only the methodology.</a:t>
            </a:r>
          </a:p>
        </p:txBody>
      </p:sp>
      <p:pic>
        <p:nvPicPr>
          <p:cNvPr id="15" name="Picture 14" descr="baseline.png"/>
          <p:cNvPicPr>
            <a:picLocks noChangeAspect="1"/>
          </p:cNvPicPr>
          <p:nvPr/>
        </p:nvPicPr>
        <p:blipFill>
          <a:blip r:embed="rId3"/>
          <a:stretch>
            <a:fillRect/>
          </a:stretch>
        </p:blipFill>
        <p:spPr>
          <a:xfrm>
            <a:off x="777240" y="2163696"/>
            <a:ext cx="6492240" cy="3262128"/>
          </a:xfrm>
          <a:prstGeom prst="rect">
            <a:avLst/>
          </a:prstGeom>
        </p:spPr>
      </p:pic>
      <p:sp>
        <p:nvSpPr>
          <p:cNvPr id="16" name="Rectangle 15"/>
          <p:cNvSpPr/>
          <p:nvPr/>
        </p:nvSpPr>
        <p:spPr>
          <a:xfrm>
            <a:off x="7543800" y="1874519"/>
            <a:ext cx="4096512" cy="123444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44968" y="2020823"/>
            <a:ext cx="3694176" cy="960120"/>
          </a:xfrm>
          <a:prstGeom prst="rect">
            <a:avLst/>
          </a:prstGeom>
          <a:noFill/>
        </p:spPr>
        <p:txBody>
          <a:bodyPr wrap="square" anchor="t">
            <a:normAutofit/>
          </a:bodyPr>
          <a:lstStyle/>
          <a:p>
            <a:pPr algn="l">
              <a:spcAft>
                <a:spcPts val="700"/>
              </a:spcAft>
            </a:pPr>
            <a:r>
              <a:rPr sz="1150" b="1" dirty="0">
                <a:solidFill>
                  <a:srgbClr val="E8505B"/>
                </a:solidFill>
                <a:latin typeface="Arial"/>
              </a:rPr>
              <a:t>IT WINS BY 0.07</a:t>
            </a:r>
            <a:r>
              <a:rPr lang="en-US" sz="1150" b="1" dirty="0">
                <a:solidFill>
                  <a:srgbClr val="E8505B"/>
                </a:solidFill>
                <a:latin typeface="Arial"/>
              </a:rPr>
              <a:t>:</a:t>
            </a:r>
            <a:r>
              <a:rPr sz="1150" b="1" dirty="0">
                <a:solidFill>
                  <a:srgbClr val="E8505B"/>
                </a:solidFill>
                <a:latin typeface="Arial"/>
              </a:rPr>
              <a:t> AND WE ARE SHOWING YOU</a:t>
            </a:r>
          </a:p>
          <a:p>
            <a:pPr>
              <a:spcAft>
                <a:spcPts val="700"/>
              </a:spcAft>
            </a:pPr>
            <a:r>
              <a:rPr sz="1250" b="0" dirty="0">
                <a:solidFill>
                  <a:srgbClr val="F2F2F5"/>
                </a:solidFill>
                <a:latin typeface="Arial"/>
              </a:rPr>
              <a:t>We executed the conventional approach rather than describing it.</a:t>
            </a:r>
          </a:p>
        </p:txBody>
      </p:sp>
      <p:sp>
        <p:nvSpPr>
          <p:cNvPr id="18" name="Rectangle 17"/>
          <p:cNvSpPr/>
          <p:nvPr/>
        </p:nvSpPr>
        <p:spPr>
          <a:xfrm>
            <a:off x="7543800" y="3246119"/>
            <a:ext cx="4096512" cy="123444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44968" y="3392423"/>
            <a:ext cx="3694176" cy="960120"/>
          </a:xfrm>
          <a:prstGeom prst="rect">
            <a:avLst/>
          </a:prstGeom>
          <a:noFill/>
        </p:spPr>
        <p:txBody>
          <a:bodyPr wrap="square" anchor="t">
            <a:normAutofit fontScale="92500" lnSpcReduction="20000"/>
          </a:bodyPr>
          <a:lstStyle/>
          <a:p>
            <a:pPr algn="l">
              <a:spcAft>
                <a:spcPts val="700"/>
              </a:spcAft>
            </a:pPr>
            <a:r>
              <a:rPr sz="1150" b="1">
                <a:solidFill>
                  <a:srgbClr val="F5B14C"/>
                </a:solidFill>
                <a:latin typeface="Arial"/>
              </a:rPr>
              <a:t>BECAUSE IT WAS TOLD THE ANSWERS</a:t>
            </a:r>
          </a:p>
          <a:p>
            <a:pPr>
              <a:spcAft>
                <a:spcPts val="700"/>
              </a:spcAft>
            </a:pPr>
            <a:r>
              <a:rPr sz="1250" b="0">
                <a:solidFill>
                  <a:srgbClr val="F2F2F5"/>
                </a:solidFill>
                <a:latin typeface="Arial"/>
              </a:rPr>
              <a:t>It trains on a random slice of the whole timeline, on labels that had months to mature, counting everything unlabelled as clean. None of that is available on the day.</a:t>
            </a:r>
          </a:p>
        </p:txBody>
      </p:sp>
      <p:sp>
        <p:nvSpPr>
          <p:cNvPr id="20" name="Rectangle 19"/>
          <p:cNvSpPr/>
          <p:nvPr/>
        </p:nvSpPr>
        <p:spPr>
          <a:xfrm>
            <a:off x="7543800" y="4617719"/>
            <a:ext cx="4096512" cy="123444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44968" y="4764023"/>
            <a:ext cx="3694176" cy="960120"/>
          </a:xfrm>
          <a:prstGeom prst="rect">
            <a:avLst/>
          </a:prstGeom>
          <a:noFill/>
        </p:spPr>
        <p:txBody>
          <a:bodyPr wrap="square" anchor="t">
            <a:normAutofit/>
          </a:bodyPr>
          <a:lstStyle/>
          <a:p>
            <a:pPr algn="l">
              <a:spcAft>
                <a:spcPts val="700"/>
              </a:spcAft>
            </a:pPr>
            <a:r>
              <a:rPr sz="1150" b="1">
                <a:solidFill>
                  <a:srgbClr val="3DD68C"/>
                </a:solidFill>
                <a:latin typeface="Arial"/>
              </a:rPr>
              <a:t>THE RIGHT-HAND BAR IS WHAT SURVIVES</a:t>
            </a:r>
          </a:p>
          <a:p>
            <a:pPr>
              <a:spcAft>
                <a:spcPts val="700"/>
              </a:spcAft>
            </a:pPr>
            <a:r>
              <a:rPr sz="1250" b="0">
                <a:solidFill>
                  <a:srgbClr val="F2F2F5"/>
                </a:solidFill>
                <a:latin typeface="Arial"/>
              </a:rPr>
              <a:t>Remove the future, and 0.3464 is what is left. That is the number an issuer could actually have had.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4A9EFF"/>
                </a:solidFill>
                <a:latin typeface="Arial"/>
              </a:rPr>
              <a:t>COULD THIS ACTUALLY RUN</a:t>
            </a:r>
          </a:p>
        </p:txBody>
      </p:sp>
      <p:sp>
        <p:nvSpPr>
          <p:cNvPr id="4" name="TextBox 3"/>
          <p:cNvSpPr txBox="1"/>
          <p:nvPr/>
        </p:nvSpPr>
        <p:spPr>
          <a:xfrm>
            <a:off x="548640" y="68041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Four places you could install it, and what each can see</a:t>
            </a:r>
          </a:p>
        </p:txBody>
      </p:sp>
      <p:sp>
        <p:nvSpPr>
          <p:cNvPr id="5" name="Rectangle 4"/>
          <p:cNvSpPr/>
          <p:nvPr/>
        </p:nvSpPr>
        <p:spPr>
          <a:xfrm>
            <a:off x="668283" y="580597"/>
            <a:ext cx="1280160" cy="2286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72913"/>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17</a:t>
            </a:r>
          </a:p>
        </p:txBody>
      </p:sp>
      <p:sp>
        <p:nvSpPr>
          <p:cNvPr id="8" name="TextBox 7"/>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We measured all four rather than assuming the network position is best.</a:t>
            </a:r>
          </a:p>
        </p:txBody>
      </p:sp>
      <p:pic>
        <p:nvPicPr>
          <p:cNvPr id="9" name="Picture 8" descr="views.png"/>
          <p:cNvPicPr>
            <a:picLocks noChangeAspect="1"/>
          </p:cNvPicPr>
          <p:nvPr/>
        </p:nvPicPr>
        <p:blipFill>
          <a:blip r:embed="rId3"/>
          <a:stretch>
            <a:fillRect/>
          </a:stretch>
        </p:blipFill>
        <p:spPr>
          <a:xfrm>
            <a:off x="457200" y="1973149"/>
            <a:ext cx="5852160" cy="3423765"/>
          </a:xfrm>
          <a:prstGeom prst="rect">
            <a:avLst/>
          </a:prstGeom>
        </p:spPr>
      </p:pic>
      <p:sp>
        <p:nvSpPr>
          <p:cNvPr id="10" name="Rectangle 9"/>
          <p:cNvSpPr/>
          <p:nvPr/>
        </p:nvSpPr>
        <p:spPr>
          <a:xfrm>
            <a:off x="6583680" y="1828800"/>
            <a:ext cx="5056632" cy="123444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84848" y="1975104"/>
            <a:ext cx="4654296" cy="960120"/>
          </a:xfrm>
          <a:prstGeom prst="rect">
            <a:avLst/>
          </a:prstGeom>
          <a:noFill/>
        </p:spPr>
        <p:txBody>
          <a:bodyPr wrap="square" anchor="t">
            <a:normAutofit/>
          </a:bodyPr>
          <a:lstStyle/>
          <a:p>
            <a:pPr algn="l">
              <a:spcAft>
                <a:spcPts val="700"/>
              </a:spcAft>
            </a:pPr>
            <a:r>
              <a:rPr sz="1150" b="1" dirty="0">
                <a:solidFill>
                  <a:srgbClr val="4A9EFF"/>
                </a:solidFill>
                <a:latin typeface="Arial"/>
              </a:rPr>
              <a:t>MISSING MEANS MISSING, NOT ZERO</a:t>
            </a:r>
          </a:p>
          <a:p>
            <a:pPr>
              <a:spcAft>
                <a:spcPts val="700"/>
              </a:spcAft>
            </a:pPr>
            <a:r>
              <a:rPr sz="1250" b="0" dirty="0">
                <a:solidFill>
                  <a:srgbClr val="F2F2F5"/>
                </a:solidFill>
                <a:latin typeface="Arial"/>
              </a:rPr>
              <a:t>If an institution genuinely cannot compute something, we leave it absent. Filling in zero would assert that the account has no fan-out</a:t>
            </a:r>
            <a:r>
              <a:rPr lang="en-US" sz="1250" b="0" dirty="0">
                <a:solidFill>
                  <a:srgbClr val="F2F2F5"/>
                </a:solidFill>
                <a:latin typeface="Arial"/>
              </a:rPr>
              <a:t>,</a:t>
            </a:r>
            <a:r>
              <a:rPr sz="1250" b="0" dirty="0">
                <a:solidFill>
                  <a:srgbClr val="F2F2F5"/>
                </a:solidFill>
                <a:latin typeface="Arial"/>
              </a:rPr>
              <a:t> a different and false claim.</a:t>
            </a:r>
          </a:p>
        </p:txBody>
      </p:sp>
      <p:sp>
        <p:nvSpPr>
          <p:cNvPr id="12" name="Rectangle 11"/>
          <p:cNvSpPr/>
          <p:nvPr/>
        </p:nvSpPr>
        <p:spPr>
          <a:xfrm>
            <a:off x="6583680" y="3200400"/>
            <a:ext cx="5056632" cy="123444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84848" y="3346704"/>
            <a:ext cx="4654296" cy="960120"/>
          </a:xfrm>
          <a:prstGeom prst="rect">
            <a:avLst/>
          </a:prstGeom>
          <a:noFill/>
        </p:spPr>
        <p:txBody>
          <a:bodyPr wrap="square" anchor="t">
            <a:normAutofit/>
          </a:bodyPr>
          <a:lstStyle/>
          <a:p>
            <a:pPr algn="l">
              <a:spcAft>
                <a:spcPts val="700"/>
              </a:spcAft>
            </a:pPr>
            <a:r>
              <a:rPr sz="1150" b="1" dirty="0">
                <a:solidFill>
                  <a:srgbClr val="F5B14C"/>
                </a:solidFill>
                <a:latin typeface="Arial"/>
              </a:rPr>
              <a:t>THE ISSUER SEES MOST</a:t>
            </a:r>
            <a:r>
              <a:rPr lang="en-US" sz="1150" b="1" dirty="0">
                <a:solidFill>
                  <a:srgbClr val="F5B14C"/>
                </a:solidFill>
                <a:latin typeface="Arial"/>
              </a:rPr>
              <a:t>:</a:t>
            </a:r>
            <a:r>
              <a:rPr sz="1150" b="1" dirty="0">
                <a:solidFill>
                  <a:srgbClr val="F5B14C"/>
                </a:solidFill>
                <a:latin typeface="Arial"/>
              </a:rPr>
              <a:t> NOT THE NETWORK</a:t>
            </a:r>
          </a:p>
          <a:p>
            <a:pPr>
              <a:spcAft>
                <a:spcPts val="700"/>
              </a:spcAft>
            </a:pPr>
            <a:r>
              <a:rPr sz="1250" b="0" dirty="0">
                <a:solidFill>
                  <a:srgbClr val="F2F2F5"/>
                </a:solidFill>
                <a:latin typeface="Arial"/>
              </a:rPr>
              <a:t>We report that even though the opposite would tell a better story at this event.</a:t>
            </a:r>
          </a:p>
        </p:txBody>
      </p:sp>
      <p:sp>
        <p:nvSpPr>
          <p:cNvPr id="14" name="Rectangle 13"/>
          <p:cNvSpPr/>
          <p:nvPr/>
        </p:nvSpPr>
        <p:spPr>
          <a:xfrm>
            <a:off x="6583680" y="4572000"/>
            <a:ext cx="5056632" cy="123444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84848" y="4718304"/>
            <a:ext cx="4654296" cy="960120"/>
          </a:xfrm>
          <a:prstGeom prst="rect">
            <a:avLst/>
          </a:prstGeom>
          <a:noFill/>
        </p:spPr>
        <p:txBody>
          <a:bodyPr wrap="square" anchor="t">
            <a:normAutofit/>
          </a:bodyPr>
          <a:lstStyle/>
          <a:p>
            <a:pPr algn="l">
              <a:spcAft>
                <a:spcPts val="700"/>
              </a:spcAft>
            </a:pPr>
            <a:r>
              <a:rPr sz="1150" b="1">
                <a:solidFill>
                  <a:srgbClr val="3DD68C"/>
                </a:solidFill>
                <a:latin typeface="Arial"/>
              </a:rPr>
              <a:t>SO WHAT THE NETWORK UNIQUELY ADDS IS REACH</a:t>
            </a:r>
          </a:p>
          <a:p>
            <a:pPr>
              <a:spcAft>
                <a:spcPts val="700"/>
              </a:spcAft>
            </a:pPr>
            <a:r>
              <a:rPr sz="1250" b="0">
                <a:solidFill>
                  <a:srgbClr val="F2F2F5"/>
                </a:solidFill>
                <a:latin typeface="Arial"/>
              </a:rPr>
              <a:t>A privacy-preserving exchange lets one issuer receive mule risk it could never observe alone, without any personal data crossing.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4A9EFF"/>
                </a:solidFill>
                <a:latin typeface="Arial"/>
              </a:rPr>
              <a:t>COULD THIS ACTUALLY RUN</a:t>
            </a:r>
          </a:p>
        </p:txBody>
      </p:sp>
      <p:sp>
        <p:nvSpPr>
          <p:cNvPr id="4" name="TextBox 3"/>
          <p:cNvSpPr txBox="1"/>
          <p:nvPr/>
        </p:nvSpPr>
        <p:spPr>
          <a:xfrm>
            <a:off x="548640" y="68896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The action, not the score</a:t>
            </a:r>
          </a:p>
        </p:txBody>
      </p:sp>
      <p:sp>
        <p:nvSpPr>
          <p:cNvPr id="5" name="Rectangle 4"/>
          <p:cNvSpPr/>
          <p:nvPr/>
        </p:nvSpPr>
        <p:spPr>
          <a:xfrm>
            <a:off x="659735" y="580644"/>
            <a:ext cx="1280160" cy="22860"/>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4"/>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18</a:t>
            </a:r>
          </a:p>
        </p:txBody>
      </p:sp>
      <p:sp>
        <p:nvSpPr>
          <p:cNvPr id="8" name="TextBox 7"/>
          <p:cNvSpPr txBox="1"/>
          <p:nvPr/>
        </p:nvSpPr>
        <p:spPr>
          <a:xfrm>
            <a:off x="548640" y="1221361"/>
            <a:ext cx="11064240" cy="310896"/>
          </a:xfrm>
          <a:prstGeom prst="rect">
            <a:avLst/>
          </a:prstGeom>
          <a:noFill/>
        </p:spPr>
        <p:txBody>
          <a:bodyPr wrap="square" anchor="t">
            <a:normAutofit/>
          </a:bodyPr>
          <a:lstStyle/>
          <a:p>
            <a:pPr algn="l">
              <a:spcAft>
                <a:spcPts val="0"/>
              </a:spcAft>
            </a:pPr>
            <a:r>
              <a:rPr sz="1400" b="0" dirty="0">
                <a:solidFill>
                  <a:srgbClr val="9A9AA8"/>
                </a:solidFill>
                <a:latin typeface="Arial"/>
              </a:rPr>
              <a:t>A score is a number. What a bank needs is the specific thing to do on that specific rail.</a:t>
            </a:r>
          </a:p>
        </p:txBody>
      </p:sp>
      <p:graphicFrame>
        <p:nvGraphicFramePr>
          <p:cNvPr id="9" name="Table 8"/>
          <p:cNvGraphicFramePr>
            <a:graphicFrameLocks noGrp="1"/>
          </p:cNvGraphicFramePr>
          <p:nvPr>
            <p:extLst>
              <p:ext uri="{D42A27DB-BD31-4B8C-83A1-F6EECF244321}">
                <p14:modId xmlns:p14="http://schemas.microsoft.com/office/powerpoint/2010/main" val="1530078576"/>
              </p:ext>
            </p:extLst>
          </p:nvPr>
        </p:nvGraphicFramePr>
        <p:xfrm>
          <a:off x="548640" y="1623700"/>
          <a:ext cx="6858000" cy="2867557"/>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409651">
                <a:tc>
                  <a:txBody>
                    <a:bodyPr/>
                    <a:lstStyle/>
                    <a:p>
                      <a:r>
                        <a:rPr sz="1150" b="1">
                          <a:solidFill>
                            <a:srgbClr val="4A9EFF"/>
                          </a:solidFill>
                          <a:latin typeface="Arial"/>
                        </a:rPr>
                        <a:t>on this rail</a:t>
                      </a:r>
                    </a:p>
                  </a:txBody>
                  <a:tcPr marT="18288" marB="18288" anchor="ctr">
                    <a:solidFill>
                      <a:srgbClr val="0B0B0F"/>
                    </a:solidFill>
                  </a:tcPr>
                </a:tc>
                <a:tc>
                  <a:txBody>
                    <a:bodyPr/>
                    <a:lstStyle/>
                    <a:p>
                      <a:r>
                        <a:rPr sz="1150" b="1">
                          <a:solidFill>
                            <a:srgbClr val="4A9EFF"/>
                          </a:solidFill>
                          <a:latin typeface="Arial"/>
                        </a:rPr>
                        <a:t>add friction</a:t>
                      </a:r>
                    </a:p>
                  </a:txBody>
                  <a:tcPr marT="18288" marB="18288" anchor="ctr">
                    <a:solidFill>
                      <a:srgbClr val="0B0B0F"/>
                    </a:solidFill>
                  </a:tcPr>
                </a:tc>
                <a:tc>
                  <a:txBody>
                    <a:bodyPr/>
                    <a:lstStyle/>
                    <a:p>
                      <a:r>
                        <a:rPr sz="1150" b="1">
                          <a:solidFill>
                            <a:srgbClr val="4A9EFF"/>
                          </a:solidFill>
                          <a:latin typeface="Arial"/>
                        </a:rPr>
                        <a:t>or stop it</a:t>
                      </a:r>
                    </a:p>
                  </a:txBody>
                  <a:tcPr marT="18288" marB="18288" anchor="ctr">
                    <a:solidFill>
                      <a:srgbClr val="0B0B0F"/>
                    </a:solidFill>
                  </a:tcPr>
                </a:tc>
                <a:extLst>
                  <a:ext uri="{0D108BD9-81ED-4DB2-BD59-A6C34878D82A}">
                    <a16:rowId xmlns:a16="http://schemas.microsoft.com/office/drawing/2014/main" val="10000"/>
                  </a:ext>
                </a:extLst>
              </a:tr>
              <a:tr h="409651">
                <a:tc>
                  <a:txBody>
                    <a:bodyPr/>
                    <a:lstStyle/>
                    <a:p>
                      <a:r>
                        <a:rPr sz="1250" b="0">
                          <a:solidFill>
                            <a:srgbClr val="F2F2F5"/>
                          </a:solidFill>
                          <a:latin typeface="Arial"/>
                        </a:rPr>
                        <a:t>card, online with 3-D Secure</a:t>
                      </a:r>
                    </a:p>
                  </a:txBody>
                  <a:tcPr marT="18288" marB="18288" anchor="ctr">
                    <a:solidFill>
                      <a:srgbClr val="15161D"/>
                    </a:solidFill>
                  </a:tcPr>
                </a:tc>
                <a:tc>
                  <a:txBody>
                    <a:bodyPr/>
                    <a:lstStyle/>
                    <a:p>
                      <a:r>
                        <a:rPr sz="1250" b="0">
                          <a:solidFill>
                            <a:srgbClr val="F2F2F5"/>
                          </a:solidFill>
                          <a:latin typeface="Arial"/>
                        </a:rPr>
                        <a:t>step-up challenge</a:t>
                      </a:r>
                    </a:p>
                  </a:txBody>
                  <a:tcPr marT="18288" marB="18288" anchor="ctr">
                    <a:solidFill>
                      <a:srgbClr val="15161D"/>
                    </a:solidFill>
                  </a:tcPr>
                </a:tc>
                <a:tc>
                  <a:txBody>
                    <a:bodyPr/>
                    <a:lstStyle/>
                    <a:p>
                      <a:r>
                        <a:rPr sz="1250" b="0">
                          <a:solidFill>
                            <a:srgbClr val="F2F2F5"/>
                          </a:solidFill>
                          <a:latin typeface="Arial"/>
                        </a:rPr>
                        <a:t>decline</a:t>
                      </a:r>
                    </a:p>
                  </a:txBody>
                  <a:tcPr marT="18288" marB="18288" anchor="ctr">
                    <a:solidFill>
                      <a:srgbClr val="15161D"/>
                    </a:solidFill>
                  </a:tcPr>
                </a:tc>
                <a:extLst>
                  <a:ext uri="{0D108BD9-81ED-4DB2-BD59-A6C34878D82A}">
                    <a16:rowId xmlns:a16="http://schemas.microsoft.com/office/drawing/2014/main" val="10001"/>
                  </a:ext>
                </a:extLst>
              </a:tr>
              <a:tr h="409651">
                <a:tc>
                  <a:txBody>
                    <a:bodyPr/>
                    <a:lstStyle/>
                    <a:p>
                      <a:r>
                        <a:rPr sz="1250" b="0">
                          <a:solidFill>
                            <a:srgbClr val="F2F2F5"/>
                          </a:solidFill>
                          <a:latin typeface="Arial"/>
                        </a:rPr>
                        <a:t>UPI payment</a:t>
                      </a:r>
                    </a:p>
                  </a:txBody>
                  <a:tcPr marT="18288" marB="18288" anchor="ctr">
                    <a:solidFill>
                      <a:srgbClr val="15161D"/>
                    </a:solidFill>
                  </a:tcPr>
                </a:tc>
                <a:tc>
                  <a:txBody>
                    <a:bodyPr/>
                    <a:lstStyle/>
                    <a:p>
                      <a:r>
                        <a:rPr sz="1250" b="0">
                          <a:solidFill>
                            <a:srgbClr val="F2F2F5"/>
                          </a:solidFill>
                          <a:latin typeface="Arial"/>
                        </a:rPr>
                        <a:t>interstitial warning</a:t>
                      </a:r>
                    </a:p>
                  </a:txBody>
                  <a:tcPr marT="18288" marB="18288" anchor="ctr">
                    <a:solidFill>
                      <a:srgbClr val="15161D"/>
                    </a:solidFill>
                  </a:tcPr>
                </a:tc>
                <a:tc>
                  <a:txBody>
                    <a:bodyPr/>
                    <a:lstStyle/>
                    <a:p>
                      <a:r>
                        <a:rPr sz="1250" b="0">
                          <a:solidFill>
                            <a:srgbClr val="F2F2F5"/>
                          </a:solidFill>
                          <a:latin typeface="Arial"/>
                        </a:rPr>
                        <a:t>cooling-off delay</a:t>
                      </a:r>
                    </a:p>
                  </a:txBody>
                  <a:tcPr marT="18288" marB="18288" anchor="ctr">
                    <a:solidFill>
                      <a:srgbClr val="15161D"/>
                    </a:solidFill>
                  </a:tcPr>
                </a:tc>
                <a:extLst>
                  <a:ext uri="{0D108BD9-81ED-4DB2-BD59-A6C34878D82A}">
                    <a16:rowId xmlns:a16="http://schemas.microsoft.com/office/drawing/2014/main" val="10002"/>
                  </a:ext>
                </a:extLst>
              </a:tr>
              <a:tr h="409651">
                <a:tc>
                  <a:txBody>
                    <a:bodyPr/>
                    <a:lstStyle/>
                    <a:p>
                      <a:r>
                        <a:rPr sz="1250" b="0">
                          <a:solidFill>
                            <a:srgbClr val="F2F2F5"/>
                          </a:solidFill>
                          <a:latin typeface="Arial"/>
                        </a:rPr>
                        <a:t>UPI autopay mandate</a:t>
                      </a:r>
                    </a:p>
                  </a:txBody>
                  <a:tcPr marT="18288" marB="18288" anchor="ctr">
                    <a:solidFill>
                      <a:srgbClr val="15161D"/>
                    </a:solidFill>
                  </a:tcPr>
                </a:tc>
                <a:tc>
                  <a:txBody>
                    <a:bodyPr/>
                    <a:lstStyle/>
                    <a:p>
                      <a:r>
                        <a:rPr sz="1250" b="0">
                          <a:solidFill>
                            <a:srgbClr val="F2F2F5"/>
                          </a:solidFill>
                          <a:latin typeface="Arial"/>
                        </a:rPr>
                        <a:t>refuse the mandate</a:t>
                      </a:r>
                    </a:p>
                  </a:txBody>
                  <a:tcPr marT="18288" marB="18288" anchor="ctr">
                    <a:solidFill>
                      <a:srgbClr val="15161D"/>
                    </a:solidFill>
                  </a:tcPr>
                </a:tc>
                <a:tc>
                  <a:txBody>
                    <a:bodyPr/>
                    <a:lstStyle/>
                    <a:p>
                      <a:r>
                        <a:rPr sz="1250" b="0">
                          <a:solidFill>
                            <a:srgbClr val="F2F2F5"/>
                          </a:solidFill>
                          <a:latin typeface="Arial"/>
                        </a:rPr>
                        <a:t>refuse the mandate</a:t>
                      </a:r>
                    </a:p>
                  </a:txBody>
                  <a:tcPr marT="18288" marB="18288" anchor="ctr">
                    <a:solidFill>
                      <a:srgbClr val="15161D"/>
                    </a:solidFill>
                  </a:tcPr>
                </a:tc>
                <a:extLst>
                  <a:ext uri="{0D108BD9-81ED-4DB2-BD59-A6C34878D82A}">
                    <a16:rowId xmlns:a16="http://schemas.microsoft.com/office/drawing/2014/main" val="10003"/>
                  </a:ext>
                </a:extLst>
              </a:tr>
              <a:tr h="409651">
                <a:tc>
                  <a:txBody>
                    <a:bodyPr/>
                    <a:lstStyle/>
                    <a:p>
                      <a:r>
                        <a:rPr sz="1250" b="0">
                          <a:solidFill>
                            <a:srgbClr val="F2F2F5"/>
                          </a:solidFill>
                          <a:latin typeface="Arial"/>
                        </a:rPr>
                        <a:t>account-to-account transfer</a:t>
                      </a:r>
                    </a:p>
                  </a:txBody>
                  <a:tcPr marT="18288" marB="18288" anchor="ctr">
                    <a:solidFill>
                      <a:srgbClr val="15161D"/>
                    </a:solidFill>
                  </a:tcPr>
                </a:tc>
                <a:tc>
                  <a:txBody>
                    <a:bodyPr/>
                    <a:lstStyle/>
                    <a:p>
                      <a:r>
                        <a:rPr sz="1250" b="0">
                          <a:solidFill>
                            <a:srgbClr val="F2F2F5"/>
                          </a:solidFill>
                          <a:latin typeface="Arial"/>
                        </a:rPr>
                        <a:t>name-mismatch warning</a:t>
                      </a:r>
                    </a:p>
                  </a:txBody>
                  <a:tcPr marT="18288" marB="18288" anchor="ctr">
                    <a:solidFill>
                      <a:srgbClr val="15161D"/>
                    </a:solidFill>
                  </a:tcPr>
                </a:tc>
                <a:tc>
                  <a:txBody>
                    <a:bodyPr/>
                    <a:lstStyle/>
                    <a:p>
                      <a:r>
                        <a:rPr sz="1250" b="0">
                          <a:solidFill>
                            <a:srgbClr val="F2F2F5"/>
                          </a:solidFill>
                          <a:latin typeface="Arial"/>
                        </a:rPr>
                        <a:t>hold the funds</a:t>
                      </a:r>
                    </a:p>
                  </a:txBody>
                  <a:tcPr marT="18288" marB="18288" anchor="ctr">
                    <a:solidFill>
                      <a:srgbClr val="15161D"/>
                    </a:solidFill>
                  </a:tcPr>
                </a:tc>
                <a:extLst>
                  <a:ext uri="{0D108BD9-81ED-4DB2-BD59-A6C34878D82A}">
                    <a16:rowId xmlns:a16="http://schemas.microsoft.com/office/drawing/2014/main" val="10004"/>
                  </a:ext>
                </a:extLst>
              </a:tr>
              <a:tr h="409651">
                <a:tc>
                  <a:txBody>
                    <a:bodyPr/>
                    <a:lstStyle/>
                    <a:p>
                      <a:r>
                        <a:rPr sz="1250" b="0">
                          <a:solidFill>
                            <a:srgbClr val="F2F2F5"/>
                          </a:solidFill>
                          <a:latin typeface="Arial"/>
                        </a:rPr>
                        <a:t>card clearing and dispute</a:t>
                      </a:r>
                    </a:p>
                  </a:txBody>
                  <a:tcPr marT="18288" marB="18288" anchor="ctr">
                    <a:solidFill>
                      <a:srgbClr val="15161D"/>
                    </a:solidFill>
                  </a:tcPr>
                </a:tc>
                <a:tc>
                  <a:txBody>
                    <a:bodyPr/>
                    <a:lstStyle/>
                    <a:p>
                      <a:r>
                        <a:rPr sz="1250" b="0">
                          <a:solidFill>
                            <a:srgbClr val="F2F2F5"/>
                          </a:solidFill>
                          <a:latin typeface="Arial"/>
                        </a:rPr>
                        <a:t>route to review</a:t>
                      </a:r>
                    </a:p>
                  </a:txBody>
                  <a:tcPr marT="18288" marB="18288" anchor="ctr">
                    <a:solidFill>
                      <a:srgbClr val="15161D"/>
                    </a:solidFill>
                  </a:tcPr>
                </a:tc>
                <a:tc>
                  <a:txBody>
                    <a:bodyPr/>
                    <a:lstStyle/>
                    <a:p>
                      <a:r>
                        <a:rPr sz="1250" b="0">
                          <a:solidFill>
                            <a:srgbClr val="F2F2F5"/>
                          </a:solidFill>
                          <a:latin typeface="Arial"/>
                        </a:rPr>
                        <a:t>route to review</a:t>
                      </a:r>
                    </a:p>
                  </a:txBody>
                  <a:tcPr marT="18288" marB="18288" anchor="ctr">
                    <a:solidFill>
                      <a:srgbClr val="15161D"/>
                    </a:solidFill>
                  </a:tcPr>
                </a:tc>
                <a:extLst>
                  <a:ext uri="{0D108BD9-81ED-4DB2-BD59-A6C34878D82A}">
                    <a16:rowId xmlns:a16="http://schemas.microsoft.com/office/drawing/2014/main" val="10005"/>
                  </a:ext>
                </a:extLst>
              </a:tr>
              <a:tr h="409651">
                <a:tc>
                  <a:txBody>
                    <a:bodyPr/>
                    <a:lstStyle/>
                    <a:p>
                      <a:r>
                        <a:rPr sz="1250" b="0">
                          <a:solidFill>
                            <a:srgbClr val="F2F2F5"/>
                          </a:solidFill>
                          <a:latin typeface="Arial"/>
                        </a:rPr>
                        <a:t>agentic commerce</a:t>
                      </a:r>
                    </a:p>
                  </a:txBody>
                  <a:tcPr marT="18288" marB="18288" anchor="ctr">
                    <a:solidFill>
                      <a:srgbClr val="15161D"/>
                    </a:solidFill>
                  </a:tcPr>
                </a:tc>
                <a:tc>
                  <a:txBody>
                    <a:bodyPr/>
                    <a:lstStyle/>
                    <a:p>
                      <a:r>
                        <a:rPr sz="1250" b="0">
                          <a:solidFill>
                            <a:srgbClr val="F2F2F5"/>
                          </a:solidFill>
                          <a:latin typeface="Arial"/>
                        </a:rPr>
                        <a:t>refuse the mandate</a:t>
                      </a:r>
                    </a:p>
                  </a:txBody>
                  <a:tcPr marT="18288" marB="18288" anchor="ctr">
                    <a:solidFill>
                      <a:srgbClr val="15161D"/>
                    </a:solidFill>
                  </a:tcPr>
                </a:tc>
                <a:tc>
                  <a:txBody>
                    <a:bodyPr/>
                    <a:lstStyle/>
                    <a:p>
                      <a:r>
                        <a:rPr sz="1250" b="0" dirty="0">
                          <a:solidFill>
                            <a:srgbClr val="F2F2F5"/>
                          </a:solidFill>
                          <a:latin typeface="Arial"/>
                        </a:rPr>
                        <a:t>refuse the mandate</a:t>
                      </a:r>
                    </a:p>
                  </a:txBody>
                  <a:tcPr marT="18288" marB="18288" anchor="ctr">
                    <a:solidFill>
                      <a:srgbClr val="15161D"/>
                    </a:solidFill>
                  </a:tcPr>
                </a:tc>
                <a:extLst>
                  <a:ext uri="{0D108BD9-81ED-4DB2-BD59-A6C34878D82A}">
                    <a16:rowId xmlns:a16="http://schemas.microsoft.com/office/drawing/2014/main" val="10006"/>
                  </a:ext>
                </a:extLst>
              </a:tr>
            </a:tbl>
          </a:graphicData>
        </a:graphic>
      </p:graphicFrame>
      <p:sp>
        <p:nvSpPr>
          <p:cNvPr id="10" name="Rectangle 9"/>
          <p:cNvSpPr/>
          <p:nvPr/>
        </p:nvSpPr>
        <p:spPr>
          <a:xfrm>
            <a:off x="540094" y="4816840"/>
            <a:ext cx="6858000" cy="155448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1262" y="4963144"/>
            <a:ext cx="6455664" cy="1280160"/>
          </a:xfrm>
          <a:prstGeom prst="rect">
            <a:avLst/>
          </a:prstGeom>
          <a:noFill/>
        </p:spPr>
        <p:txBody>
          <a:bodyPr wrap="square" anchor="t">
            <a:normAutofit/>
          </a:bodyPr>
          <a:lstStyle/>
          <a:p>
            <a:pPr algn="l">
              <a:spcAft>
                <a:spcPts val="700"/>
              </a:spcAft>
            </a:pPr>
            <a:r>
              <a:rPr sz="1150" b="1">
                <a:solidFill>
                  <a:srgbClr val="F5B14C"/>
                </a:solidFill>
                <a:latin typeface="Arial"/>
              </a:rPr>
              <a:t>LOOK AT THE LAST TWO ROWS</a:t>
            </a:r>
          </a:p>
          <a:p>
            <a:pPr>
              <a:spcAft>
                <a:spcPts val="700"/>
              </a:spcAft>
            </a:pPr>
            <a:r>
              <a:rPr sz="1400" b="0">
                <a:solidFill>
                  <a:srgbClr val="F2F2F5"/>
                </a:solidFill>
                <a:latin typeface="Arial"/>
              </a:rPr>
              <a:t>You cannot decline a clearing record — it has already happened. So the strength of the response is abstract, and the action is whatever that rail can actually support.</a:t>
            </a:r>
          </a:p>
        </p:txBody>
      </p:sp>
      <p:sp>
        <p:nvSpPr>
          <p:cNvPr id="12" name="TextBox 11"/>
          <p:cNvSpPr txBox="1"/>
          <p:nvPr/>
        </p:nvSpPr>
        <p:spPr>
          <a:xfrm>
            <a:off x="7680960" y="1481411"/>
            <a:ext cx="3977639" cy="4114800"/>
          </a:xfrm>
          <a:prstGeom prst="rect">
            <a:avLst/>
          </a:prstGeom>
          <a:noFill/>
        </p:spPr>
        <p:txBody>
          <a:bodyPr wrap="square" anchor="t">
            <a:normAutofit/>
          </a:bodyPr>
          <a:lstStyle/>
          <a:p>
            <a:pPr algn="l">
              <a:spcAft>
                <a:spcPts val="1400"/>
              </a:spcAft>
            </a:pPr>
            <a:r>
              <a:rPr sz="1400" b="0" dirty="0">
                <a:solidFill>
                  <a:srgbClr val="4A9EFF"/>
                </a:solidFill>
                <a:latin typeface="Arial"/>
              </a:rPr>
              <a:t>Three strengths, fitted per rail</a:t>
            </a:r>
          </a:p>
          <a:p>
            <a:pPr>
              <a:spcAft>
                <a:spcPts val="1400"/>
              </a:spcAft>
            </a:pPr>
            <a:r>
              <a:rPr sz="1400" b="0" dirty="0">
                <a:solidFill>
                  <a:srgbClr val="F2F2F5"/>
                </a:solidFill>
                <a:latin typeface="Arial"/>
              </a:rPr>
              <a:t>A reason code on every single decision</a:t>
            </a:r>
          </a:p>
          <a:p>
            <a:pPr>
              <a:spcAft>
                <a:spcPts val="1400"/>
              </a:spcAft>
            </a:pPr>
            <a:r>
              <a:rPr sz="1400" b="0" dirty="0">
                <a:solidFill>
                  <a:srgbClr val="F2F2F5"/>
                </a:solidFill>
                <a:latin typeface="Arial"/>
              </a:rPr>
              <a:t>Uncertain cases go to a human, and we count what that costs</a:t>
            </a:r>
          </a:p>
          <a:p>
            <a:pPr>
              <a:spcAft>
                <a:spcPts val="1400"/>
              </a:spcAft>
            </a:pPr>
            <a:r>
              <a:rPr sz="1400" b="0" dirty="0">
                <a:solidFill>
                  <a:srgbClr val="F2F2F5"/>
                </a:solidFill>
                <a:latin typeface="Arial"/>
              </a:rPr>
              <a:t>With no model at all, it still refuses the impossible</a:t>
            </a:r>
          </a:p>
          <a:p>
            <a:pPr>
              <a:spcAft>
                <a:spcPts val="1400"/>
              </a:spcAft>
            </a:pPr>
            <a:r>
              <a:rPr sz="1400" b="0" dirty="0">
                <a:solidFill>
                  <a:srgbClr val="F2F2F5"/>
                </a:solidFill>
                <a:latin typeface="Arial"/>
              </a:rPr>
              <a:t>Pinned model version · measured tail latency</a:t>
            </a:r>
          </a:p>
          <a:p>
            <a:pPr>
              <a:spcAft>
                <a:spcPts val="1400"/>
              </a:spcAft>
            </a:pPr>
            <a:r>
              <a:rPr sz="1400" b="0" dirty="0">
                <a:solidFill>
                  <a:srgbClr val="3DD68C"/>
                </a:solidFill>
                <a:latin typeface="Arial"/>
              </a:rPr>
              <a:t>Mule risk shared between issuers with no personal data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F5B14C"/>
                </a:solidFill>
                <a:latin typeface="Arial"/>
              </a:rPr>
              <a:t>WHAT WE WOULD RATHER YOU HEARD FROM US</a:t>
            </a:r>
          </a:p>
        </p:txBody>
      </p:sp>
      <p:sp>
        <p:nvSpPr>
          <p:cNvPr id="4" name="TextBox 3"/>
          <p:cNvSpPr txBox="1"/>
          <p:nvPr/>
        </p:nvSpPr>
        <p:spPr>
          <a:xfrm>
            <a:off x="548640" y="60350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Five things we cannot do</a:t>
            </a:r>
          </a:p>
        </p:txBody>
      </p:sp>
      <p:sp>
        <p:nvSpPr>
          <p:cNvPr id="5" name="Rectangle 4"/>
          <p:cNvSpPr/>
          <p:nvPr/>
        </p:nvSpPr>
        <p:spPr>
          <a:xfrm>
            <a:off x="651189" y="580644"/>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55822"/>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19</a:t>
            </a:r>
          </a:p>
        </p:txBody>
      </p:sp>
      <p:sp>
        <p:nvSpPr>
          <p:cNvPr id="8" name="TextBox 7"/>
          <p:cNvSpPr txBox="1"/>
          <p:nvPr/>
        </p:nvSpPr>
        <p:spPr>
          <a:xfrm>
            <a:off x="548640" y="1246998"/>
            <a:ext cx="11064240" cy="310896"/>
          </a:xfrm>
          <a:prstGeom prst="rect">
            <a:avLst/>
          </a:prstGeom>
          <a:noFill/>
        </p:spPr>
        <p:txBody>
          <a:bodyPr wrap="square" anchor="t">
            <a:normAutofit/>
          </a:bodyPr>
          <a:lstStyle/>
          <a:p>
            <a:pPr algn="l">
              <a:spcAft>
                <a:spcPts val="0"/>
              </a:spcAft>
            </a:pPr>
            <a:r>
              <a:rPr sz="1400" b="0" dirty="0">
                <a:solidFill>
                  <a:srgbClr val="9A9AA8"/>
                </a:solidFill>
                <a:latin typeface="Arial"/>
              </a:rPr>
              <a:t>A limitation you find is worth more against us than one we hand you.</a:t>
            </a:r>
          </a:p>
        </p:txBody>
      </p:sp>
      <p:sp>
        <p:nvSpPr>
          <p:cNvPr id="9" name="Rectangle 8"/>
          <p:cNvSpPr/>
          <p:nvPr/>
        </p:nvSpPr>
        <p:spPr>
          <a:xfrm>
            <a:off x="548640" y="1693263"/>
            <a:ext cx="11064240" cy="822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1839567"/>
            <a:ext cx="10661904" cy="548640"/>
          </a:xfrm>
          <a:prstGeom prst="rect">
            <a:avLst/>
          </a:prstGeom>
          <a:noFill/>
        </p:spPr>
        <p:txBody>
          <a:bodyPr wrap="square" anchor="t">
            <a:normAutofit fontScale="85000" lnSpcReduction="10000"/>
          </a:bodyPr>
          <a:lstStyle/>
          <a:p>
            <a:pPr algn="l">
              <a:spcAft>
                <a:spcPts val="700"/>
              </a:spcAft>
            </a:pPr>
            <a:r>
              <a:rPr sz="1150" b="1">
                <a:solidFill>
                  <a:srgbClr val="F5B14C"/>
                </a:solidFill>
                <a:latin typeface="Arial"/>
              </a:rPr>
              <a:t>IT IS ALL SIMULATED</a:t>
            </a:r>
          </a:p>
          <a:p>
            <a:pPr>
              <a:spcAft>
                <a:spcPts val="700"/>
              </a:spcAft>
            </a:pPr>
            <a:r>
              <a:rPr sz="1300" b="0">
                <a:solidFill>
                  <a:srgbClr val="F2F2F5"/>
                </a:solidFill>
                <a:latin typeface="Arial"/>
              </a:rPr>
              <a:t>We validate that the mechanisms behave like the rails. We do not claim our distributions match any real portfolio, because that cannot be tested without the portfolio.</a:t>
            </a:r>
          </a:p>
        </p:txBody>
      </p:sp>
      <p:sp>
        <p:nvSpPr>
          <p:cNvPr id="11" name="Rectangle 10"/>
          <p:cNvSpPr/>
          <p:nvPr/>
        </p:nvSpPr>
        <p:spPr>
          <a:xfrm>
            <a:off x="548640" y="2589375"/>
            <a:ext cx="11064240" cy="822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2735679"/>
            <a:ext cx="10661904" cy="548640"/>
          </a:xfrm>
          <a:prstGeom prst="rect">
            <a:avLst/>
          </a:prstGeom>
          <a:noFill/>
        </p:spPr>
        <p:txBody>
          <a:bodyPr wrap="square" anchor="t">
            <a:normAutofit lnSpcReduction="10000"/>
          </a:bodyPr>
          <a:lstStyle/>
          <a:p>
            <a:pPr algn="l">
              <a:spcAft>
                <a:spcPts val="700"/>
              </a:spcAft>
            </a:pPr>
            <a:r>
              <a:rPr sz="1150" b="1">
                <a:solidFill>
                  <a:srgbClr val="F5B14C"/>
                </a:solidFill>
                <a:latin typeface="Arial"/>
              </a:rPr>
              <a:t>TWO OF OUR SIGNALS ARE TOO CLEAN</a:t>
            </a:r>
          </a:p>
          <a:p>
            <a:pPr>
              <a:spcAft>
                <a:spcPts val="700"/>
              </a:spcAft>
            </a:pPr>
            <a:r>
              <a:rPr sz="1300" b="0">
                <a:solidFill>
                  <a:srgbClr val="F2F2F5"/>
                </a:solidFill>
                <a:latin typeface="Arial"/>
              </a:rPr>
              <a:t>Quantified and bounded at 21% and 7% of the headline. Named on the previous stop.</a:t>
            </a:r>
          </a:p>
        </p:txBody>
      </p:sp>
      <p:sp>
        <p:nvSpPr>
          <p:cNvPr id="13" name="Rectangle 12"/>
          <p:cNvSpPr/>
          <p:nvPr/>
        </p:nvSpPr>
        <p:spPr>
          <a:xfrm>
            <a:off x="548640" y="3485487"/>
            <a:ext cx="11064240" cy="822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3631791"/>
            <a:ext cx="10661904" cy="548640"/>
          </a:xfrm>
          <a:prstGeom prst="rect">
            <a:avLst/>
          </a:prstGeom>
          <a:noFill/>
        </p:spPr>
        <p:txBody>
          <a:bodyPr wrap="square" anchor="t">
            <a:normAutofit fontScale="77500" lnSpcReduction="20000"/>
          </a:bodyPr>
          <a:lstStyle/>
          <a:p>
            <a:pPr algn="l">
              <a:spcAft>
                <a:spcPts val="700"/>
              </a:spcAft>
            </a:pPr>
            <a:r>
              <a:rPr sz="1150" b="1">
                <a:solidFill>
                  <a:srgbClr val="F5B14C"/>
                </a:solidFill>
                <a:latin typeface="Arial"/>
              </a:rPr>
              <a:t>TWO RAILS STAY WEAK</a:t>
            </a:r>
          </a:p>
          <a:p>
            <a:pPr>
              <a:spcAft>
                <a:spcPts val="700"/>
              </a:spcAft>
            </a:pPr>
            <a:r>
              <a:rPr sz="1300" b="0">
                <a:solidFill>
                  <a:srgbClr val="F2F2F5"/>
                </a:solidFill>
                <a:latin typeface="Arial"/>
              </a:rPr>
              <a:t>Assisted cash-out and offline UPI carry the right observables now, but with only 2.50% of labels visible the model cannot learn them yet — the measured gain was +0.0001. We report the null result rather than dropping it.</a:t>
            </a:r>
          </a:p>
        </p:txBody>
      </p:sp>
      <p:sp>
        <p:nvSpPr>
          <p:cNvPr id="15" name="Rectangle 14"/>
          <p:cNvSpPr/>
          <p:nvPr/>
        </p:nvSpPr>
        <p:spPr>
          <a:xfrm>
            <a:off x="548640" y="4381599"/>
            <a:ext cx="11064240" cy="822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4527903"/>
            <a:ext cx="10661904" cy="548640"/>
          </a:xfrm>
          <a:prstGeom prst="rect">
            <a:avLst/>
          </a:prstGeom>
          <a:noFill/>
        </p:spPr>
        <p:txBody>
          <a:bodyPr wrap="square" anchor="t">
            <a:normAutofit fontScale="77500" lnSpcReduction="20000"/>
          </a:bodyPr>
          <a:lstStyle/>
          <a:p>
            <a:pPr algn="l">
              <a:spcAft>
                <a:spcPts val="700"/>
              </a:spcAft>
            </a:pPr>
            <a:r>
              <a:rPr sz="1150" b="1">
                <a:solidFill>
                  <a:srgbClr val="F5B14C"/>
                </a:solidFill>
                <a:latin typeface="Arial"/>
              </a:rPr>
              <a:t>ONE CAPACITY CHECK MEASURES THE WRONG THING</a:t>
            </a:r>
          </a:p>
          <a:p>
            <a:pPr>
              <a:spcAft>
                <a:spcPts val="700"/>
              </a:spcAft>
            </a:pPr>
            <a:r>
              <a:rPr sz="1300" b="0">
                <a:solidFill>
                  <a:srgbClr val="F2F2F5"/>
                </a:solidFill>
                <a:latin typeface="Arial"/>
              </a:rPr>
              <a:t>It counts the review band, but real human workload is set by the action mapping, and one rail sends all three strengths to review. True load is about 0.54% of volume against a 0.024% staffed budget. Found by us, not yet fixed.</a:t>
            </a:r>
          </a:p>
        </p:txBody>
      </p:sp>
      <p:sp>
        <p:nvSpPr>
          <p:cNvPr id="17" name="Rectangle 16"/>
          <p:cNvSpPr/>
          <p:nvPr/>
        </p:nvSpPr>
        <p:spPr>
          <a:xfrm>
            <a:off x="548640" y="5277711"/>
            <a:ext cx="11064240" cy="822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5424015"/>
            <a:ext cx="10661904" cy="548640"/>
          </a:xfrm>
          <a:prstGeom prst="rect">
            <a:avLst/>
          </a:prstGeom>
          <a:noFill/>
        </p:spPr>
        <p:txBody>
          <a:bodyPr wrap="square" anchor="t">
            <a:normAutofit lnSpcReduction="10000"/>
          </a:bodyPr>
          <a:lstStyle/>
          <a:p>
            <a:pPr algn="l">
              <a:spcAft>
                <a:spcPts val="700"/>
              </a:spcAft>
            </a:pPr>
            <a:r>
              <a:rPr sz="1150" b="1">
                <a:solidFill>
                  <a:srgbClr val="F5B14C"/>
                </a:solidFill>
                <a:latin typeface="Arial"/>
              </a:rPr>
              <a:t>ONE GLOBAL THRESHOLD PENALISES SMALL-TICKET RAILS</a:t>
            </a:r>
          </a:p>
          <a:p>
            <a:pPr>
              <a:spcAft>
                <a:spcPts val="700"/>
              </a:spcAft>
            </a:pPr>
            <a:r>
              <a:rPr sz="1300" b="0">
                <a:solidFill>
                  <a:srgbClr val="F2F2F5"/>
                </a:solidFill>
                <a:latin typeface="Arial"/>
              </a:rPr>
              <a:t>Attacks whose entire method is to stay under the floor are exactly the ones a single cut-off handles worst.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9509760" cy="329184"/>
          </a:xfrm>
          <a:prstGeom prst="rect">
            <a:avLst/>
          </a:prstGeom>
          <a:noFill/>
        </p:spPr>
        <p:txBody>
          <a:bodyPr wrap="square" anchor="t">
            <a:normAutofit/>
          </a:bodyPr>
          <a:lstStyle/>
          <a:p>
            <a:pPr algn="l">
              <a:spcAft>
                <a:spcPts val="0"/>
              </a:spcAft>
            </a:pPr>
            <a:r>
              <a:rPr sz="1400" b="1" dirty="0">
                <a:solidFill>
                  <a:srgbClr val="3DD68C"/>
                </a:solidFill>
                <a:latin typeface="Arial"/>
              </a:rPr>
              <a:t>IF YOU WANT TO CHECK ANY OF IT</a:t>
            </a:r>
          </a:p>
        </p:txBody>
      </p:sp>
      <p:sp>
        <p:nvSpPr>
          <p:cNvPr id="4" name="TextBox 3"/>
          <p:cNvSpPr txBox="1"/>
          <p:nvPr/>
        </p:nvSpPr>
        <p:spPr>
          <a:xfrm>
            <a:off x="548640" y="663326"/>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One command, and a demo that cannot fail</a:t>
            </a:r>
          </a:p>
        </p:txBody>
      </p:sp>
      <p:sp>
        <p:nvSpPr>
          <p:cNvPr id="5" name="Rectangle 4"/>
          <p:cNvSpPr/>
          <p:nvPr/>
        </p:nvSpPr>
        <p:spPr>
          <a:xfrm>
            <a:off x="651189" y="580644"/>
            <a:ext cx="1280160" cy="22860"/>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4370"/>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20</a:t>
            </a:r>
          </a:p>
        </p:txBody>
      </p:sp>
      <p:sp>
        <p:nvSpPr>
          <p:cNvPr id="8" name="TextBox 7"/>
          <p:cNvSpPr txBox="1"/>
          <p:nvPr/>
        </p:nvSpPr>
        <p:spPr>
          <a:xfrm>
            <a:off x="548640" y="1426464"/>
            <a:ext cx="11064240" cy="310896"/>
          </a:xfrm>
          <a:prstGeom prst="rect">
            <a:avLst/>
          </a:prstGeom>
          <a:noFill/>
        </p:spPr>
        <p:txBody>
          <a:bodyPr wrap="square" anchor="t">
            <a:normAutofit/>
          </a:bodyPr>
          <a:lstStyle/>
          <a:p>
            <a:pPr algn="l">
              <a:spcAft>
                <a:spcPts val="0"/>
              </a:spcAft>
            </a:pPr>
            <a:r>
              <a:rPr sz="1400" b="0">
                <a:solidFill>
                  <a:srgbClr val="9A9AA8"/>
                </a:solidFill>
                <a:latin typeface="Arial"/>
              </a:rPr>
              <a:t>Seeded, ordered, and single-threaded where it has to be, so it comes out the same twice.</a:t>
            </a:r>
          </a:p>
        </p:txBody>
      </p:sp>
      <p:sp>
        <p:nvSpPr>
          <p:cNvPr id="9" name="Rectangle 8"/>
          <p:cNvSpPr/>
          <p:nvPr/>
        </p:nvSpPr>
        <p:spPr>
          <a:xfrm>
            <a:off x="548640" y="1828800"/>
            <a:ext cx="5422392" cy="1965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1975104"/>
            <a:ext cx="5020056" cy="1691640"/>
          </a:xfrm>
          <a:prstGeom prst="rect">
            <a:avLst/>
          </a:prstGeom>
          <a:noFill/>
        </p:spPr>
        <p:txBody>
          <a:bodyPr wrap="square" anchor="t">
            <a:normAutofit/>
          </a:bodyPr>
          <a:lstStyle/>
          <a:p>
            <a:pPr algn="l">
              <a:spcAft>
                <a:spcPts val="700"/>
              </a:spcAft>
            </a:pPr>
            <a:r>
              <a:rPr sz="1200" b="1">
                <a:solidFill>
                  <a:srgbClr val="3DD68C"/>
                </a:solidFill>
                <a:latin typeface="Arial"/>
              </a:rPr>
              <a:t>EVERY NUMBER IN THIS DECK REBUILDS FROM ONE COMMAND</a:t>
            </a:r>
          </a:p>
          <a:p>
            <a:pPr>
              <a:spcAft>
                <a:spcPts val="700"/>
              </a:spcAft>
            </a:pPr>
            <a:r>
              <a:rPr sz="1450" b="0">
                <a:solidFill>
                  <a:srgbClr val="F2F2F5"/>
                </a:solidFill>
                <a:latin typeface="Arial"/>
              </a:rPr>
              <a:t>Each stage writes a structured record, and there is a single index tying every claim in this deck to the record that produced it.</a:t>
            </a:r>
          </a:p>
        </p:txBody>
      </p:sp>
      <p:sp>
        <p:nvSpPr>
          <p:cNvPr id="11" name="Rectangle 10"/>
          <p:cNvSpPr/>
          <p:nvPr/>
        </p:nvSpPr>
        <p:spPr>
          <a:xfrm>
            <a:off x="6190488" y="1828800"/>
            <a:ext cx="5422392" cy="196596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91656" y="1975104"/>
            <a:ext cx="5020056" cy="1691640"/>
          </a:xfrm>
          <a:prstGeom prst="rect">
            <a:avLst/>
          </a:prstGeom>
          <a:noFill/>
        </p:spPr>
        <p:txBody>
          <a:bodyPr wrap="square" anchor="t">
            <a:normAutofit/>
          </a:bodyPr>
          <a:lstStyle/>
          <a:p>
            <a:pPr algn="l">
              <a:spcAft>
                <a:spcPts val="700"/>
              </a:spcAft>
            </a:pPr>
            <a:r>
              <a:rPr sz="1200" b="1">
                <a:solidFill>
                  <a:srgbClr val="4A9EFF"/>
                </a:solidFill>
                <a:latin typeface="Arial"/>
              </a:rPr>
              <a:t>THE LIVE DEMO TOUCHES NO NETWORK AND NO TRAINING</a:t>
            </a:r>
          </a:p>
          <a:p>
            <a:pPr>
              <a:spcAft>
                <a:spcPts val="700"/>
              </a:spcAft>
            </a:pPr>
            <a:r>
              <a:rPr sz="1450" b="0">
                <a:solidFill>
                  <a:srgbClr val="F2F2F5"/>
                </a:solidFill>
                <a:latin typeface="Arial"/>
              </a:rPr>
              <a:t>It replays a committed bundle. It works on venue wifi that does not exist, because it never needed the wifi.</a:t>
            </a:r>
          </a:p>
        </p:txBody>
      </p:sp>
      <p:sp>
        <p:nvSpPr>
          <p:cNvPr id="13" name="Rectangle 12"/>
          <p:cNvSpPr/>
          <p:nvPr/>
        </p:nvSpPr>
        <p:spPr>
          <a:xfrm>
            <a:off x="548640" y="3977639"/>
            <a:ext cx="5422392" cy="1965960"/>
          </a:xfrm>
          <a:prstGeom prst="rect">
            <a:avLst/>
          </a:prstGeom>
          <a:solidFill>
            <a:srgbClr val="15161D"/>
          </a:solidFill>
          <a:ln w="15875">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4123943"/>
            <a:ext cx="5020056" cy="1691640"/>
          </a:xfrm>
          <a:prstGeom prst="rect">
            <a:avLst/>
          </a:prstGeom>
          <a:noFill/>
        </p:spPr>
        <p:txBody>
          <a:bodyPr wrap="square" anchor="t">
            <a:normAutofit/>
          </a:bodyPr>
          <a:lstStyle/>
          <a:p>
            <a:pPr algn="l">
              <a:spcAft>
                <a:spcPts val="700"/>
              </a:spcAft>
            </a:pPr>
            <a:r>
              <a:rPr sz="1200" b="1">
                <a:solidFill>
                  <a:srgbClr val="F5B14C"/>
                </a:solidFill>
                <a:latin typeface="Arial"/>
              </a:rPr>
              <a:t>A SMOKE-SCALE NUMBER CANNOT BE QUOTED BY ACCIDENT</a:t>
            </a:r>
          </a:p>
          <a:p>
            <a:pPr>
              <a:spcAft>
                <a:spcPts val="700"/>
              </a:spcAft>
            </a:pPr>
            <a:r>
              <a:rPr sz="1450" b="0">
                <a:solidFill>
                  <a:srgbClr val="F2F2F5"/>
                </a:solidFill>
                <a:latin typeface="Arial"/>
              </a:rPr>
              <a:t>Anything produced at reduced scale is stamped NOT REPORTABLE inside the record itself, so it cannot travel into a slide.</a:t>
            </a:r>
          </a:p>
        </p:txBody>
      </p:sp>
      <p:sp>
        <p:nvSpPr>
          <p:cNvPr id="15" name="Rectangle 14"/>
          <p:cNvSpPr/>
          <p:nvPr/>
        </p:nvSpPr>
        <p:spPr>
          <a:xfrm>
            <a:off x="6190488" y="3977639"/>
            <a:ext cx="5422392" cy="1965960"/>
          </a:xfrm>
          <a:prstGeom prst="rect">
            <a:avLst/>
          </a:prstGeom>
          <a:solidFill>
            <a:srgbClr val="15161D"/>
          </a:solidFill>
          <a:ln w="15875">
            <a:solidFill>
              <a:srgbClr val="A97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91656" y="4123943"/>
            <a:ext cx="5020056" cy="1691640"/>
          </a:xfrm>
          <a:prstGeom prst="rect">
            <a:avLst/>
          </a:prstGeom>
          <a:noFill/>
        </p:spPr>
        <p:txBody>
          <a:bodyPr wrap="square" anchor="t">
            <a:normAutofit/>
          </a:bodyPr>
          <a:lstStyle/>
          <a:p>
            <a:pPr algn="l">
              <a:spcAft>
                <a:spcPts val="700"/>
              </a:spcAft>
            </a:pPr>
            <a:r>
              <a:rPr sz="1200" b="1">
                <a:solidFill>
                  <a:srgbClr val="A97BF0"/>
                </a:solidFill>
                <a:latin typeface="Arial"/>
              </a:rPr>
              <a:t>THE HISTORY IS PART OF THE EVIDENCE</a:t>
            </a:r>
          </a:p>
          <a:p>
            <a:pPr>
              <a:spcAft>
                <a:spcPts val="700"/>
              </a:spcAft>
            </a:pPr>
            <a:r>
              <a:rPr sz="1450" b="0">
                <a:solidFill>
                  <a:srgbClr val="F2F2F5"/>
                </a:solidFill>
                <a:latin typeface="Arial"/>
              </a:rPr>
              <a:t>One of the six controls reads the version-control log itself, to prove the held-out attacks were written down before the detector was.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097280"/>
            <a:ext cx="10698480" cy="1381000"/>
          </a:xfrm>
          <a:prstGeom prst="rect">
            <a:avLst/>
          </a:prstGeom>
          <a:noFill/>
        </p:spPr>
        <p:txBody>
          <a:bodyPr wrap="square" anchor="t">
            <a:normAutofit/>
          </a:bodyPr>
          <a:lstStyle/>
          <a:p>
            <a:pPr algn="l">
              <a:spcAft>
                <a:spcPts val="1000"/>
              </a:spcAft>
            </a:pPr>
            <a:r>
              <a:rPr sz="1300" b="1" dirty="0">
                <a:solidFill>
                  <a:srgbClr val="4A9EFF"/>
                </a:solidFill>
                <a:latin typeface="Arial"/>
              </a:rPr>
              <a:t>WHERE THE WALK ENDS</a:t>
            </a:r>
          </a:p>
          <a:p>
            <a:pPr>
              <a:spcAft>
                <a:spcPts val="2200"/>
              </a:spcAft>
            </a:pPr>
            <a:r>
              <a:rPr sz="1800" b="0" dirty="0">
                <a:solidFill>
                  <a:srgbClr val="F2F2F5"/>
                </a:solidFill>
                <a:latin typeface="Arial"/>
              </a:rPr>
              <a:t>A language that generates fifteen thousand distinct attacks. A world whose build refuses to break its own rails. A defense that catches a quarter of the attacks nobody ever showed it, hands analysts a queue that is 99.5% real, and beats the incumbent policy by 28 points of recall.</a:t>
            </a:r>
          </a:p>
        </p:txBody>
      </p:sp>
      <p:sp>
        <p:nvSpPr>
          <p:cNvPr id="4" name="TextBox 3"/>
          <p:cNvSpPr txBox="1"/>
          <p:nvPr/>
        </p:nvSpPr>
        <p:spPr>
          <a:xfrm>
            <a:off x="731520" y="2941890"/>
            <a:ext cx="10698480" cy="1463040"/>
          </a:xfrm>
          <a:prstGeom prst="rect">
            <a:avLst/>
          </a:prstGeom>
          <a:noFill/>
        </p:spPr>
        <p:txBody>
          <a:bodyPr wrap="square" anchor="t">
            <a:normAutofit/>
          </a:bodyPr>
          <a:lstStyle/>
          <a:p>
            <a:pPr algn="l">
              <a:spcAft>
                <a:spcPts val="1000"/>
              </a:spcAft>
            </a:pPr>
            <a:r>
              <a:rPr sz="1300" b="1" dirty="0">
                <a:solidFill>
                  <a:srgbClr val="F5B14C"/>
                </a:solidFill>
                <a:latin typeface="Arial"/>
              </a:rPr>
              <a:t>AND THE PART WE THINK MATTERS MORE</a:t>
            </a:r>
          </a:p>
          <a:p>
            <a:pPr>
              <a:spcAft>
                <a:spcPts val="0"/>
              </a:spcAft>
            </a:pPr>
            <a:r>
              <a:rPr sz="1800" b="0" dirty="0">
                <a:solidFill>
                  <a:srgbClr val="F2F2F5"/>
                </a:solidFill>
                <a:latin typeface="Arial"/>
              </a:rPr>
              <a:t>We built the instruments that found our own four-fold combiner defect, our own policy bug, and our own too-clean signals — and we walked you through all three.</a:t>
            </a:r>
          </a:p>
        </p:txBody>
      </p:sp>
      <p:sp>
        <p:nvSpPr>
          <p:cNvPr id="5" name="Rectangle 4"/>
          <p:cNvSpPr/>
          <p:nvPr/>
        </p:nvSpPr>
        <p:spPr>
          <a:xfrm>
            <a:off x="731520" y="4454066"/>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15,271</a:t>
            </a:r>
            <a:br/>
            <a:r>
              <a:rPr sz="1200" b="1">
                <a:solidFill>
                  <a:srgbClr val="4A9EFF"/>
                </a:solidFill>
                <a:latin typeface="Arial"/>
              </a:rPr>
              <a:t>distinct attacks</a:t>
            </a:r>
          </a:p>
        </p:txBody>
      </p:sp>
      <p:sp>
        <p:nvSpPr>
          <p:cNvPr id="6" name="Rectangle 5"/>
          <p:cNvSpPr/>
          <p:nvPr/>
        </p:nvSpPr>
        <p:spPr>
          <a:xfrm>
            <a:off x="3538728" y="4454066"/>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126</a:t>
            </a:r>
            <a:br/>
            <a:r>
              <a:rPr sz="1200" b="1">
                <a:solidFill>
                  <a:srgbClr val="3DD68C"/>
                </a:solidFill>
                <a:latin typeface="Arial"/>
              </a:rPr>
              <a:t>rules the build enforces</a:t>
            </a:r>
          </a:p>
        </p:txBody>
      </p:sp>
      <p:sp>
        <p:nvSpPr>
          <p:cNvPr id="7" name="Rectangle 6"/>
          <p:cNvSpPr/>
          <p:nvPr/>
        </p:nvSpPr>
        <p:spPr>
          <a:xfrm>
            <a:off x="6345936" y="4454066"/>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6 of 6</a:t>
            </a:r>
            <a:br/>
            <a:r>
              <a:rPr sz="1200" b="1">
                <a:solidFill>
                  <a:srgbClr val="3DD68C"/>
                </a:solidFill>
                <a:latin typeface="Arial"/>
              </a:rPr>
              <a:t>anti-cheating controls pass</a:t>
            </a:r>
          </a:p>
        </p:txBody>
      </p:sp>
      <p:sp>
        <p:nvSpPr>
          <p:cNvPr id="8" name="Rectangle 7"/>
          <p:cNvSpPr/>
          <p:nvPr/>
        </p:nvSpPr>
        <p:spPr>
          <a:xfrm>
            <a:off x="9153144" y="4454066"/>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0.2507</a:t>
            </a:r>
            <a:br/>
            <a:r>
              <a:rPr sz="1200" b="1">
                <a:solidFill>
                  <a:srgbClr val="4A9EFF"/>
                </a:solidFill>
                <a:latin typeface="Arial"/>
              </a:rPr>
              <a:t>caught, never seen before</a:t>
            </a:r>
          </a:p>
        </p:txBody>
      </p:sp>
      <p:sp>
        <p:nvSpPr>
          <p:cNvPr id="9" name="TextBox 8"/>
          <p:cNvSpPr txBox="1"/>
          <p:nvPr/>
        </p:nvSpPr>
        <p:spPr>
          <a:xfrm>
            <a:off x="548640" y="6572913"/>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10" name="TextBox 9"/>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3074</Words>
  <Application>Microsoft Macintosh PowerPoint</Application>
  <PresentationFormat>Widescreen</PresentationFormat>
  <Paragraphs>299</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Singh, Eishkaran</cp:lastModifiedBy>
  <cp:revision>3</cp:revision>
  <dcterms:created xsi:type="dcterms:W3CDTF">2013-01-27T09:14:16Z</dcterms:created>
  <dcterms:modified xsi:type="dcterms:W3CDTF">2026-08-31T08:21:52Z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2026-08-31T08:01:43Z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d22568c9-c744-49da-a9b2-ce65787837b6</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