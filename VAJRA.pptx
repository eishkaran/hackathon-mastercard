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78"/>
    <p:restoredTop sz="94647"/>
  </p:normalViewPr>
  <p:slideViewPr>
    <p:cSldViewPr snapToGrid="0" snapToObjects="1">
      <p:cViewPr varScale="1">
        <p:scale>
          <a:sx n="151" d="100"/>
          <a:sy n="151" d="100"/>
        </p:scale>
        <p:origin x="208"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138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pillars, one loop. The attacks we invent become the training ground for the defence, and the gaps the defence reveals become the next round of attacks. Every number has its denominator on the slide, and one command reproduces all of them.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brief asks for breadth 'rather than a narrow handful'. Most answers are a list of twenty scenarios; ours is a grammar with a type system. The archive tells us which regions we have actually reached.</a:t>
            </a:r>
          </a:p>
          <a:p>
            <a:endParaRPr/>
          </a:p>
          <a:p>
            <a:r>
              <a:t>IF ASKED why only 268 of 380: the rest need morpheme combinations our seed families do not yet produce. Published so coverage is auditable, not asserted.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ARENA is the red team, vajra-sim is the world, GATE is the blue team, and the bottom band is the return path — the gap the defence reveals becomes the next attack. The caption matters: the figure was drawn during design and its quantities are targets.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Fidelity is a judged criterion, so we made it checkable.</a:t>
            </a:r>
          </a:p>
          <a:p>
            <a:endParaRPr/>
          </a:p>
          <a:p>
            <a:r>
              <a:t>IF ASKED how we know it resembles Mastercard's book: we don't, and we don't claim it. We validate mechanism-level fidelity. Distributional fidelity to a real portfolio is untestable without the portfolio — and two places where our generator is TOO CLEAN are on the artifacts slide, found by us.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what makes it a loop rather than a pipeline. The archive is a curriculum. The LLM is a variation operator called once per tick, never per transaction, so the process stays deterministic and seeded.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important slide for understanding our numbers. At decision time you know almost nothing.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the first control. A version-control audit proving we wrote the holdout down before we wrote the detector. That is not a modelling control, it is a control on us.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ASKED why ROC-AUC is only 0.72: at a 0.56% base rate ROC-AUC is dominated by the true-negative mass and is near-1 for any competent model. That is why every submission reports 0.99 and none of those numbers are comparable. We report PR-AUC as the headline because it is the quantity that moves.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withheld the majority of our test attacks' compositions from training, plus a whole evasion technique, and still catch a quarter of them.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diagnostic that led to the next slide. Scoring each channel on its own is cheap and nobody does it. gate_b returns zeros at the issuer view because its five beneficiary features are among the 73 absent there — so it was diluting the score with a constant.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Several of these were in the configuration we would otherwise have submitted. The equal-weight arm at 0.0317 is the published ablation that makes the weighting choice defensible rather than asserted.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right fix is generator realism, not deleting a legitimate signal because we drew it too cleanly. Second artifact: token_assurance_vs_device_age, AUC 0.9652 on 2.23% support, because every attacked provisioning gets device_age = uniform(0,1) and our generator omits the commonest benign case — new phone, added my card.</a:t>
            </a:r>
          </a:p>
          <a:p>
            <a:endParaRPr/>
          </a:p>
          <a:p>
            <a:r>
              <a:t>Also be ready: 8 of the top 25 features have standalone AUC below 0.5. Expected — a tree uses them through interactions, not marginally.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could have left this off. The gap is the price of methodological honesty.</a:t>
            </a:r>
          </a:p>
          <a:p>
            <a:endParaRPr/>
          </a:p>
          <a:p>
            <a:r>
              <a:t>IF ASKED to prove the gap is the future-label leak: we have a natural experiment. We added five features closing a real coverage hole. The replica gained +0.0047 PR-AUC from them; we gained -0.0024. The only difference on that axis is label maturity — it could learn from them and we could not.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careful here. Our own ablation says issuer beats network, so do not claim the network sees more. The defensible claim is that the network is a signal distributor.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that answers 'could this actually run'. The rail-specific action mapping is the part most detection projects skip.</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Volunteering these is worth more than they cost. A judge who finds an undisclosed limitation discounts everything else on the slide.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demo path touches only committed artifacts. A live demo that depends on training or on the network is a demo that fails in the room.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the second half. The metrics get us into the conversation; the self-audit is what distinguishes 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783080"/>
            <a:ext cx="10515600" cy="1188720"/>
          </a:xfrm>
          <a:prstGeom prst="rect">
            <a:avLst/>
          </a:prstGeom>
          <a:noFill/>
        </p:spPr>
        <p:txBody>
          <a:bodyPr wrap="square" anchor="t">
            <a:normAutofit/>
          </a:bodyPr>
          <a:lstStyle/>
          <a:p>
            <a:pPr algn="l">
              <a:spcAft>
                <a:spcPts val="0"/>
              </a:spcAft>
            </a:pPr>
            <a:r>
              <a:rPr sz="7200" b="1">
                <a:solidFill>
                  <a:srgbClr val="F2F2F5"/>
                </a:solidFill>
                <a:latin typeface="Arial"/>
              </a:rPr>
              <a:t>VAJRA</a:t>
            </a:r>
          </a:p>
        </p:txBody>
      </p:sp>
      <p:sp>
        <p:nvSpPr>
          <p:cNvPr id="4" name="TextBox 3"/>
          <p:cNvSpPr txBox="1"/>
          <p:nvPr/>
        </p:nvSpPr>
        <p:spPr>
          <a:xfrm>
            <a:off x="822960" y="2880360"/>
            <a:ext cx="10515600" cy="1188720"/>
          </a:xfrm>
          <a:prstGeom prst="rect">
            <a:avLst/>
          </a:prstGeom>
          <a:noFill/>
        </p:spPr>
        <p:txBody>
          <a:bodyPr wrap="square" anchor="t">
            <a:normAutofit/>
          </a:bodyPr>
          <a:lstStyle/>
          <a:p>
            <a:pPr algn="l">
              <a:spcAft>
                <a:spcPts val="1200"/>
              </a:spcAft>
            </a:pPr>
            <a:r>
              <a:rPr sz="2300" b="0">
                <a:solidFill>
                  <a:srgbClr val="F2F2F5"/>
                </a:solidFill>
                <a:latin typeface="Arial"/>
              </a:rPr>
              <a:t>A closed-loop red-team / blue-team system for GenAI payment fraud</a:t>
            </a:r>
          </a:p>
          <a:p>
            <a:pPr>
              <a:spcAft>
                <a:spcPts val="800"/>
              </a:spcAft>
            </a:pPr>
            <a:r>
              <a:rPr sz="1600" b="0">
                <a:solidFill>
                  <a:srgbClr val="9A9AA8"/>
                </a:solidFill>
                <a:latin typeface="Arial"/>
              </a:rPr>
              <a:t>Identify  →  Generate  →  Defend, as one feedback loop</a:t>
            </a:r>
          </a:p>
        </p:txBody>
      </p:sp>
      <p:sp>
        <p:nvSpPr>
          <p:cNvPr id="5" name="Rectangle 4"/>
          <p:cNvSpPr/>
          <p:nvPr/>
        </p:nvSpPr>
        <p:spPr>
          <a:xfrm>
            <a:off x="822960" y="4343400"/>
            <a:ext cx="2606040" cy="868680"/>
          </a:xfrm>
          <a:prstGeom prst="rect">
            <a:avLst/>
          </a:prstGeom>
          <a:solidFill>
            <a:srgbClr val="15161D"/>
          </a:solidFill>
          <a:ln w="15240">
            <a:solidFill>
              <a:srgbClr val="E8505B"/>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E8505B"/>
                </a:solidFill>
                <a:latin typeface="Arial"/>
              </a:rPr>
              <a:t>IDENTIFY</a:t>
            </a:r>
            <a:br/>
            <a:r>
              <a:rPr sz="1200" b="1">
                <a:solidFill>
                  <a:srgbClr val="E8505B"/>
                </a:solidFill>
                <a:latin typeface="Arial"/>
              </a:rPr>
              <a:t>a grammar, not a list</a:t>
            </a:r>
          </a:p>
        </p:txBody>
      </p:sp>
      <p:sp>
        <p:nvSpPr>
          <p:cNvPr id="6" name="Rectangle 5"/>
          <p:cNvSpPr/>
          <p:nvPr/>
        </p:nvSpPr>
        <p:spPr>
          <a:xfrm>
            <a:off x="3630168" y="4343400"/>
            <a:ext cx="2606040" cy="86868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3DD68C"/>
                </a:solidFill>
                <a:latin typeface="Arial"/>
              </a:rPr>
              <a:t>GENERATE</a:t>
            </a:r>
            <a:br/>
            <a:r>
              <a:rPr sz="1200" b="1">
                <a:solidFill>
                  <a:srgbClr val="3DD68C"/>
                </a:solidFill>
                <a:latin typeface="Arial"/>
              </a:rPr>
              <a:t>9.9M events · 126 gates</a:t>
            </a:r>
          </a:p>
        </p:txBody>
      </p:sp>
      <p:sp>
        <p:nvSpPr>
          <p:cNvPr id="7" name="Rectangle 6"/>
          <p:cNvSpPr/>
          <p:nvPr/>
        </p:nvSpPr>
        <p:spPr>
          <a:xfrm>
            <a:off x="6437376" y="4343400"/>
            <a:ext cx="2606040" cy="868680"/>
          </a:xfrm>
          <a:prstGeom prst="rect">
            <a:avLst/>
          </a:prstGeom>
          <a:solidFill>
            <a:srgbClr val="15161D"/>
          </a:solidFill>
          <a:ln w="15240">
            <a:solidFill>
              <a:srgbClr val="4A9EFF"/>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4A9EFF"/>
                </a:solidFill>
                <a:latin typeface="Arial"/>
              </a:rPr>
              <a:t>DEFEND</a:t>
            </a:r>
            <a:br/>
            <a:r>
              <a:rPr sz="1200" b="1">
                <a:solidFill>
                  <a:srgbClr val="4A9EFF"/>
                </a:solidFill>
                <a:latin typeface="Arial"/>
              </a:rPr>
              <a:t>25% recall on unseen attacks</a:t>
            </a:r>
          </a:p>
        </p:txBody>
      </p:sp>
      <p:sp>
        <p:nvSpPr>
          <p:cNvPr id="8" name="Rectangle 7"/>
          <p:cNvSpPr/>
          <p:nvPr/>
        </p:nvSpPr>
        <p:spPr>
          <a:xfrm>
            <a:off x="9244584" y="4343400"/>
            <a:ext cx="2606040" cy="868680"/>
          </a:xfrm>
          <a:prstGeom prst="rect">
            <a:avLst/>
          </a:prstGeom>
          <a:solidFill>
            <a:srgbClr val="15161D"/>
          </a:solidFill>
          <a:ln w="15240">
            <a:solidFill>
              <a:srgbClr val="F5B14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F5B14C"/>
                </a:solidFill>
                <a:latin typeface="Arial"/>
              </a:rPr>
              <a:t>AUDIT</a:t>
            </a:r>
            <a:br/>
            <a:r>
              <a:rPr sz="1200" b="1">
                <a:solidFill>
                  <a:srgbClr val="F5B14C"/>
                </a:solidFill>
                <a:latin typeface="Arial"/>
              </a:rPr>
              <a:t>we found our own defects</a:t>
            </a:r>
          </a:p>
        </p:txBody>
      </p:sp>
      <p:sp>
        <p:nvSpPr>
          <p:cNvPr id="9" name="TextBox 8"/>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Mastercard Innovation Challenge 2026  ·  Global Fintech Fest, Mumbai</a:t>
            </a:r>
          </a:p>
        </p:txBody>
      </p:sp>
      <p:sp>
        <p:nvSpPr>
          <p:cNvPr id="10" name="TextBox 9"/>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rmAutofit/>
          </a:bodyPr>
          <a:lstStyle/>
          <a:p>
            <a:pPr algn="l">
              <a:spcAft>
                <a:spcPts val="0"/>
              </a:spcAft>
            </a:pPr>
            <a:r>
              <a:rPr sz="1150" b="1">
                <a:solidFill>
                  <a:srgbClr val="E8505B"/>
                </a:solidFill>
                <a:latin typeface="Arial"/>
              </a:rPr>
              <a:t>CRITERION 1 · DIVERSITY OF ATTACKS</a:t>
            </a:r>
          </a:p>
        </p:txBody>
      </p:sp>
      <p:sp>
        <p:nvSpPr>
          <p:cNvPr id="4" name="TextBox 3"/>
          <p:cNvSpPr txBox="1"/>
          <p:nvPr/>
        </p:nvSpPr>
        <p:spPr>
          <a:xfrm>
            <a:off x="548640" y="603504"/>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We did not list attacks. We generated a language for them.</a:t>
            </a:r>
          </a:p>
        </p:txBody>
      </p:sp>
      <p:sp>
        <p:nvSpPr>
          <p:cNvPr id="5" name="Rectangle 4"/>
          <p:cNvSpPr/>
          <p:nvPr/>
        </p:nvSpPr>
        <p:spPr>
          <a:xfrm>
            <a:off x="548640" y="1298448"/>
            <a:ext cx="1280160" cy="22860"/>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2</a:t>
            </a:r>
          </a:p>
        </p:txBody>
      </p:sp>
      <p:pic>
        <p:nvPicPr>
          <p:cNvPr id="8" name="Picture 7" descr="funnel.png"/>
          <p:cNvPicPr>
            <a:picLocks noChangeAspect="1"/>
          </p:cNvPicPr>
          <p:nvPr/>
        </p:nvPicPr>
        <p:blipFill>
          <a:blip r:embed="rId3"/>
          <a:stretch>
            <a:fillRect/>
          </a:stretch>
        </p:blipFill>
        <p:spPr>
          <a:xfrm>
            <a:off x="1421598" y="1545335"/>
            <a:ext cx="8945791" cy="2286000"/>
          </a:xfrm>
          <a:prstGeom prst="rect">
            <a:avLst/>
          </a:prstGeom>
        </p:spPr>
      </p:pic>
      <p:sp>
        <p:nvSpPr>
          <p:cNvPr id="9" name="TextBox 8"/>
          <p:cNvSpPr txBox="1"/>
          <p:nvPr/>
        </p:nvSpPr>
        <p:spPr>
          <a:xfrm>
            <a:off x="548640" y="3977639"/>
            <a:ext cx="11064240" cy="2286000"/>
          </a:xfrm>
          <a:prstGeom prst="rect">
            <a:avLst/>
          </a:prstGeom>
          <a:noFill/>
        </p:spPr>
        <p:txBody>
          <a:bodyPr wrap="square" anchor="t">
            <a:normAutofit/>
          </a:bodyPr>
          <a:lstStyle/>
          <a:p>
            <a:pPr algn="l">
              <a:spcAft>
                <a:spcPts val="1100"/>
              </a:spcAft>
            </a:pPr>
            <a:r>
              <a:rPr sz="1400" b="0" dirty="0">
                <a:solidFill>
                  <a:srgbClr val="F2F2F5"/>
                </a:solidFill>
                <a:latin typeface="Arial"/>
              </a:rPr>
              <a:t>A six-slot typed grammar: ACCESS 8 × TRUST 7 × RAIL 12 × EVASION 8 × MONETISATION 7 × LABEL 5. The 172,889 rejected strings are physically impossible on the rail — a beneficiary leg on </a:t>
            </a:r>
            <a:r>
              <a:rPr sz="1400" b="0" dirty="0" err="1">
                <a:solidFill>
                  <a:srgbClr val="F2F2F5"/>
                </a:solidFill>
                <a:latin typeface="Arial"/>
              </a:rPr>
              <a:t>AePS</a:t>
            </a:r>
            <a:r>
              <a:rPr sz="1400" b="0" dirty="0">
                <a:solidFill>
                  <a:srgbClr val="F2F2F5"/>
                </a:solidFill>
                <a:latin typeface="Arial"/>
              </a:rPr>
              <a:t>, which terminates in cash.</a:t>
            </a:r>
          </a:p>
          <a:p>
            <a:pPr>
              <a:spcAft>
                <a:spcPts val="1100"/>
              </a:spcAft>
            </a:pPr>
            <a:r>
              <a:rPr sz="1400" b="0" dirty="0">
                <a:solidFill>
                  <a:srgbClr val="F2F2F5"/>
                </a:solidFill>
                <a:latin typeface="Arial"/>
              </a:rPr>
              <a:t>51 seed families across 12 rails — UPI pay / collect / autopay / Lite-offline · card CNP-3DS / CNP-keyed / CP-EMV / clearing-dispute / token-provisioning · A2A · </a:t>
            </a:r>
            <a:r>
              <a:rPr sz="1400" b="0" dirty="0" err="1">
                <a:solidFill>
                  <a:srgbClr val="F2F2F5"/>
                </a:solidFill>
                <a:latin typeface="Arial"/>
              </a:rPr>
              <a:t>AePS-microATM</a:t>
            </a:r>
            <a:r>
              <a:rPr sz="1400" b="0" dirty="0">
                <a:solidFill>
                  <a:srgbClr val="F2F2F5"/>
                </a:solidFill>
                <a:latin typeface="Arial"/>
              </a:rPr>
              <a:t> · agentic-commerce</a:t>
            </a:r>
          </a:p>
          <a:p>
            <a:pPr>
              <a:spcAft>
                <a:spcPts val="1100"/>
              </a:spcAft>
            </a:pPr>
            <a:r>
              <a:rPr sz="1400" b="0" dirty="0">
                <a:solidFill>
                  <a:srgbClr val="F5B14C"/>
                </a:solidFill>
                <a:latin typeface="Arial"/>
              </a:rPr>
              <a:t>The archive coverage ceiling is 70.5%, and we publish it rather than hide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architecture-dark.png"/>
          <p:cNvPicPr>
            <a:picLocks noChangeAspect="1"/>
          </p:cNvPicPr>
          <p:nvPr/>
        </p:nvPicPr>
        <p:blipFill>
          <a:blip r:embed="rId3"/>
          <a:stretch>
            <a:fillRect/>
          </a:stretch>
        </p:blipFill>
        <p:spPr>
          <a:xfrm>
            <a:off x="1471935" y="164592"/>
            <a:ext cx="9245082" cy="5880608"/>
          </a:xfrm>
          <a:prstGeom prst="rect">
            <a:avLst/>
          </a:prstGeom>
        </p:spPr>
      </p:pic>
      <p:sp>
        <p:nvSpPr>
          <p:cNvPr id="4" name="TextBox 3"/>
          <p:cNvSpPr txBox="1"/>
          <p:nvPr/>
        </p:nvSpPr>
        <p:spPr>
          <a:xfrm>
            <a:off x="548640" y="6014378"/>
            <a:ext cx="11064240" cy="384048"/>
          </a:xfrm>
          <a:prstGeom prst="rect">
            <a:avLst/>
          </a:prstGeom>
          <a:noFill/>
        </p:spPr>
        <p:txBody>
          <a:bodyPr wrap="square" anchor="t">
            <a:normAutofit lnSpcReduction="10000"/>
          </a:bodyPr>
          <a:lstStyle/>
          <a:p>
            <a:pPr algn="l">
              <a:spcAft>
                <a:spcPts val="0"/>
              </a:spcAft>
            </a:pPr>
            <a:r>
              <a:rPr sz="1050" b="0" dirty="0">
                <a:solidFill>
                  <a:srgbClr val="F5B14C"/>
                </a:solidFill>
                <a:latin typeface="Arial"/>
              </a:rPr>
              <a:t>Figure 1 carries DESIGN TARGETS from the planning phase. Every number in this deck is a MEASURED result and supersedes it — e.g. ~380 features → 392, and 9k–15k type-legal → 15,271.</a:t>
            </a:r>
          </a:p>
        </p:txBody>
      </p:sp>
      <p:sp>
        <p:nvSpPr>
          <p:cNvPr id="5" name="TextBox 4"/>
          <p:cNvSpPr txBox="1"/>
          <p:nvPr/>
        </p:nvSpPr>
        <p:spPr>
          <a:xfrm>
            <a:off x="548640" y="6537625"/>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6" name="TextBox 5"/>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3DD68C"/>
                </a:solidFill>
                <a:latin typeface="Arial"/>
              </a:rPr>
              <a:t>CRITERION 2 · FIDELITY OF SIMULATION</a:t>
            </a:r>
          </a:p>
        </p:txBody>
      </p:sp>
      <p:sp>
        <p:nvSpPr>
          <p:cNvPr id="4" name="TextBox 3"/>
          <p:cNvSpPr txBox="1"/>
          <p:nvPr/>
        </p:nvSpPr>
        <p:spPr>
          <a:xfrm>
            <a:off x="502920" y="838877"/>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The build refuses to emit a stream that breaks rail semantics</a:t>
            </a:r>
          </a:p>
        </p:txBody>
      </p:sp>
      <p:sp>
        <p:nvSpPr>
          <p:cNvPr id="5" name="Rectangle 4"/>
          <p:cNvSpPr/>
          <p:nvPr/>
        </p:nvSpPr>
        <p:spPr>
          <a:xfrm flipV="1">
            <a:off x="692572" y="612651"/>
            <a:ext cx="3930227" cy="45719"/>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79956"/>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4</a:t>
            </a:r>
          </a:p>
        </p:txBody>
      </p:sp>
      <p:sp>
        <p:nvSpPr>
          <p:cNvPr id="8" name="Rectangle 7"/>
          <p:cNvSpPr/>
          <p:nvPr/>
        </p:nvSpPr>
        <p:spPr>
          <a:xfrm>
            <a:off x="548640" y="1911435"/>
            <a:ext cx="2670048" cy="105156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300" b="1" dirty="0">
                <a:solidFill>
                  <a:srgbClr val="3DD68C"/>
                </a:solidFill>
                <a:latin typeface="Arial"/>
              </a:rPr>
              <a:t>126</a:t>
            </a:r>
            <a:br>
              <a:rPr dirty="0"/>
            </a:br>
            <a:r>
              <a:rPr sz="1300" b="1" dirty="0">
                <a:solidFill>
                  <a:srgbClr val="3DD68C"/>
                </a:solidFill>
                <a:latin typeface="Arial"/>
              </a:rPr>
              <a:t>rail invariants, as BUILD GATES</a:t>
            </a:r>
          </a:p>
        </p:txBody>
      </p:sp>
      <p:sp>
        <p:nvSpPr>
          <p:cNvPr id="9" name="Rectangle 8"/>
          <p:cNvSpPr/>
          <p:nvPr/>
        </p:nvSpPr>
        <p:spPr>
          <a:xfrm>
            <a:off x="3364992" y="1911435"/>
            <a:ext cx="2670048" cy="1051560"/>
          </a:xfrm>
          <a:prstGeom prst="rect">
            <a:avLst/>
          </a:prstGeom>
          <a:solidFill>
            <a:srgbClr val="15161D"/>
          </a:solidFill>
          <a:ln w="15240">
            <a:solidFill>
              <a:srgbClr val="F2F2F5"/>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300" b="1">
                <a:solidFill>
                  <a:srgbClr val="F2F2F5"/>
                </a:solidFill>
                <a:latin typeface="Arial"/>
              </a:rPr>
              <a:t>9,899,667</a:t>
            </a:r>
            <a:br/>
            <a:r>
              <a:rPr sz="1300" b="1">
                <a:solidFill>
                  <a:srgbClr val="F2F2F5"/>
                </a:solidFill>
                <a:latin typeface="Arial"/>
              </a:rPr>
              <a:t>events · 374,077 labels</a:t>
            </a:r>
          </a:p>
        </p:txBody>
      </p:sp>
      <p:sp>
        <p:nvSpPr>
          <p:cNvPr id="10" name="Rectangle 9"/>
          <p:cNvSpPr/>
          <p:nvPr/>
        </p:nvSpPr>
        <p:spPr>
          <a:xfrm>
            <a:off x="6181344" y="1911435"/>
            <a:ext cx="2670048" cy="105156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300" b="1">
                <a:solidFill>
                  <a:srgbClr val="3DD68C"/>
                </a:solidFill>
                <a:latin typeface="Arial"/>
              </a:rPr>
              <a:t>4.1× → 1.38×</a:t>
            </a:r>
            <a:br/>
            <a:r>
              <a:rPr sz="1300" b="1">
                <a:solidFill>
                  <a:srgbClr val="3DD68C"/>
                </a:solidFill>
                <a:latin typeface="Arial"/>
              </a:rPr>
              <a:t>base-rate error, after control</a:t>
            </a:r>
          </a:p>
        </p:txBody>
      </p:sp>
      <p:sp>
        <p:nvSpPr>
          <p:cNvPr id="11" name="Rectangle 10"/>
          <p:cNvSpPr/>
          <p:nvPr/>
        </p:nvSpPr>
        <p:spPr>
          <a:xfrm>
            <a:off x="8997696" y="1911435"/>
            <a:ext cx="2670048" cy="105156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300" b="1">
                <a:solidFill>
                  <a:srgbClr val="3DD68C"/>
                </a:solidFill>
                <a:latin typeface="Arial"/>
              </a:rPr>
              <a:t>0</a:t>
            </a:r>
            <a:br/>
            <a:r>
              <a:rPr sz="1300" b="1">
                <a:solidFill>
                  <a:srgbClr val="3DD68C"/>
                </a:solidFill>
                <a:latin typeface="Arial"/>
              </a:rPr>
              <a:t>unresolved observables</a:t>
            </a:r>
          </a:p>
        </p:txBody>
      </p:sp>
      <p:sp>
        <p:nvSpPr>
          <p:cNvPr id="12" name="TextBox 11"/>
          <p:cNvSpPr txBox="1"/>
          <p:nvPr/>
        </p:nvSpPr>
        <p:spPr>
          <a:xfrm>
            <a:off x="548640" y="3542455"/>
            <a:ext cx="11064240" cy="2198624"/>
          </a:xfrm>
          <a:prstGeom prst="rect">
            <a:avLst/>
          </a:prstGeom>
          <a:noFill/>
        </p:spPr>
        <p:txBody>
          <a:bodyPr wrap="square" anchor="t">
            <a:normAutofit/>
          </a:bodyPr>
          <a:lstStyle/>
          <a:p>
            <a:pPr algn="l">
              <a:spcAft>
                <a:spcPts val="1400"/>
              </a:spcAft>
            </a:pPr>
            <a:r>
              <a:rPr sz="1500" b="0" dirty="0">
                <a:solidFill>
                  <a:srgbClr val="F2F2F5"/>
                </a:solidFill>
                <a:latin typeface="Arial"/>
              </a:rPr>
              <a:t>Message ordering per rail — </a:t>
            </a:r>
            <a:r>
              <a:rPr sz="1500" b="0" dirty="0" err="1">
                <a:solidFill>
                  <a:srgbClr val="F2F2F5"/>
                </a:solidFill>
                <a:latin typeface="Arial"/>
              </a:rPr>
              <a:t>authorisation</a:t>
            </a:r>
            <a:r>
              <a:rPr sz="1500" b="0" dirty="0">
                <a:solidFill>
                  <a:srgbClr val="F2F2F5"/>
                </a:solidFill>
                <a:latin typeface="Arial"/>
              </a:rPr>
              <a:t> before presentment; presentment spills to T+1, never backwards. Derived legs strictly after their antecedent. One hour-convention chokepoint (HOUR_MAX = 23.99).</a:t>
            </a:r>
          </a:p>
          <a:p>
            <a:pPr>
              <a:spcAft>
                <a:spcPts val="1400"/>
              </a:spcAft>
            </a:pPr>
            <a:r>
              <a:rPr sz="1500" b="0" dirty="0">
                <a:solidFill>
                  <a:srgbClr val="F2F2F5"/>
                </a:solidFill>
                <a:latin typeface="Arial"/>
              </a:rPr>
              <a:t>236 distinct observables resolved: 58 schema-tier · 115 feature-tier · 63 design-only.</a:t>
            </a:r>
          </a:p>
          <a:p>
            <a:pPr>
              <a:spcAft>
                <a:spcPts val="1400"/>
              </a:spcAft>
            </a:pPr>
            <a:r>
              <a:rPr sz="1500" b="0" dirty="0" err="1">
                <a:solidFill>
                  <a:srgbClr val="3DD68C"/>
                </a:solidFill>
                <a:latin typeface="Arial"/>
              </a:rPr>
              <a:t>Realised</a:t>
            </a:r>
            <a:r>
              <a:rPr sz="1500" b="0" dirty="0">
                <a:solidFill>
                  <a:srgbClr val="3DD68C"/>
                </a:solidFill>
                <a:latin typeface="Arial"/>
              </a:rPr>
              <a:t> attack share π = 0.0069 against a configured 0.0050 — and the trainer uses the REALISED value, because </a:t>
            </a:r>
            <a:r>
              <a:rPr sz="1500" b="0" dirty="0" err="1">
                <a:solidFill>
                  <a:srgbClr val="3DD68C"/>
                </a:solidFill>
                <a:latin typeface="Arial"/>
              </a:rPr>
              <a:t>nnPU's</a:t>
            </a:r>
            <a:r>
              <a:rPr sz="1500" b="0" dirty="0">
                <a:solidFill>
                  <a:srgbClr val="3DD68C"/>
                </a:solidFill>
                <a:latin typeface="Arial"/>
              </a:rPr>
              <a:t> risk estimator is </a:t>
            </a:r>
            <a:r>
              <a:rPr sz="1500" b="0" dirty="0" err="1">
                <a:solidFill>
                  <a:srgbClr val="3DD68C"/>
                </a:solidFill>
                <a:latin typeface="Arial"/>
              </a:rPr>
              <a:t>parameterised</a:t>
            </a:r>
            <a:r>
              <a:rPr sz="1500" b="0" dirty="0">
                <a:solidFill>
                  <a:srgbClr val="3DD68C"/>
                </a:solidFill>
                <a:latin typeface="Arial"/>
              </a:rPr>
              <a:t> by it.</a:t>
            </a:r>
          </a:p>
          <a:p>
            <a:pPr>
              <a:spcAft>
                <a:spcPts val="1400"/>
              </a:spcAft>
            </a:pPr>
            <a:r>
              <a:rPr sz="1500" b="0" dirty="0">
                <a:solidFill>
                  <a:srgbClr val="F5B14C"/>
                </a:solidFill>
                <a:latin typeface="Arial"/>
              </a:rPr>
              <a:t>These are gates, not tests. At one point they failed the build 13,009 times and we fixed the generator, not the invariants.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4A9EFF"/>
                </a:solidFill>
                <a:latin typeface="Arial"/>
              </a:rPr>
              <a:t>THE MECHANISM</a:t>
            </a:r>
          </a:p>
        </p:txBody>
      </p:sp>
      <p:sp>
        <p:nvSpPr>
          <p:cNvPr id="4" name="TextBox 3"/>
          <p:cNvSpPr txBox="1"/>
          <p:nvPr/>
        </p:nvSpPr>
        <p:spPr>
          <a:xfrm>
            <a:off x="548640" y="755905"/>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The loop, closing</a:t>
            </a:r>
          </a:p>
        </p:txBody>
      </p:sp>
      <p:sp>
        <p:nvSpPr>
          <p:cNvPr id="5" name="Rectangle 4"/>
          <p:cNvSpPr/>
          <p:nvPr/>
        </p:nvSpPr>
        <p:spPr>
          <a:xfrm>
            <a:off x="684106" y="606044"/>
            <a:ext cx="1652694" cy="45719"/>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5</a:t>
            </a:r>
          </a:p>
        </p:txBody>
      </p:sp>
      <p:sp>
        <p:nvSpPr>
          <p:cNvPr id="8" name="Rectangle 7"/>
          <p:cNvSpPr/>
          <p:nvPr/>
        </p:nvSpPr>
        <p:spPr>
          <a:xfrm>
            <a:off x="548640" y="1572768"/>
            <a:ext cx="11064240" cy="822960"/>
          </a:xfrm>
          <a:prstGeom prst="rect">
            <a:avLst/>
          </a:prstGeom>
          <a:solidFill>
            <a:srgbClr val="15161D"/>
          </a:solidFill>
          <a:ln w="15875">
            <a:solidFill>
              <a:srgbClr val="E85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664208"/>
            <a:ext cx="10515600" cy="731520"/>
          </a:xfrm>
          <a:prstGeom prst="rect">
            <a:avLst/>
          </a:prstGeom>
          <a:noFill/>
        </p:spPr>
        <p:txBody>
          <a:bodyPr wrap="square" anchor="t">
            <a:normAutofit/>
          </a:bodyPr>
          <a:lstStyle/>
          <a:p>
            <a:pPr algn="l">
              <a:spcAft>
                <a:spcPts val="200"/>
              </a:spcAft>
            </a:pPr>
            <a:r>
              <a:rPr sz="1400" b="1">
                <a:solidFill>
                  <a:srgbClr val="E8505B"/>
                </a:solidFill>
                <a:latin typeface="Arial"/>
              </a:rPr>
              <a:t>IDENTIFY</a:t>
            </a:r>
          </a:p>
          <a:p>
            <a:pPr>
              <a:spcAft>
                <a:spcPts val="0"/>
              </a:spcAft>
            </a:pPr>
            <a:r>
              <a:rPr sz="1250" b="0">
                <a:solidFill>
                  <a:srgbClr val="F2F2F5"/>
                </a:solidFill>
                <a:latin typeface="Arial"/>
              </a:rPr>
              <a:t>typed grammar · 51 seed families · an LLM as a variation operator, called once per tick and never per transaction</a:t>
            </a:r>
          </a:p>
        </p:txBody>
      </p:sp>
      <p:sp>
        <p:nvSpPr>
          <p:cNvPr id="10" name="Rectangle 9"/>
          <p:cNvSpPr/>
          <p:nvPr/>
        </p:nvSpPr>
        <p:spPr>
          <a:xfrm>
            <a:off x="548640" y="2532888"/>
            <a:ext cx="11064240" cy="822960"/>
          </a:xfrm>
          <a:prstGeom prst="rect">
            <a:avLst/>
          </a:prstGeom>
          <a:solidFill>
            <a:srgbClr val="15161D"/>
          </a:solidFill>
          <a:ln w="15875">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2624328"/>
            <a:ext cx="10515600" cy="731520"/>
          </a:xfrm>
          <a:prstGeom prst="rect">
            <a:avLst/>
          </a:prstGeom>
          <a:noFill/>
        </p:spPr>
        <p:txBody>
          <a:bodyPr wrap="square" anchor="t">
            <a:normAutofit/>
          </a:bodyPr>
          <a:lstStyle/>
          <a:p>
            <a:pPr algn="l">
              <a:spcAft>
                <a:spcPts val="200"/>
              </a:spcAft>
            </a:pPr>
            <a:r>
              <a:rPr sz="1400" b="1">
                <a:solidFill>
                  <a:srgbClr val="3DD68C"/>
                </a:solidFill>
                <a:latin typeface="Arial"/>
              </a:rPr>
              <a:t>GENERATE</a:t>
            </a:r>
          </a:p>
          <a:p>
            <a:pPr>
              <a:spcAft>
                <a:spcPts val="0"/>
              </a:spcAft>
            </a:pPr>
            <a:r>
              <a:rPr sz="1250" b="0">
                <a:solidFill>
                  <a:srgbClr val="F2F2F5"/>
                </a:solidFill>
                <a:latin typeface="Arial"/>
              </a:rPr>
              <a:t>one deterministic seeded process · 9.9M events · 12 rails · an incumbent policy shadow · a label engine with three latencies</a:t>
            </a:r>
          </a:p>
        </p:txBody>
      </p:sp>
      <p:sp>
        <p:nvSpPr>
          <p:cNvPr id="12" name="Rectangle 11"/>
          <p:cNvSpPr/>
          <p:nvPr/>
        </p:nvSpPr>
        <p:spPr>
          <a:xfrm>
            <a:off x="548640" y="3493008"/>
            <a:ext cx="11064240" cy="822960"/>
          </a:xfrm>
          <a:prstGeom prst="rect">
            <a:avLst/>
          </a:prstGeom>
          <a:solidFill>
            <a:srgbClr val="15161D"/>
          </a:solidFill>
          <a:ln w="15875">
            <a:solidFill>
              <a:srgbClr val="4A9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84448"/>
            <a:ext cx="10515600" cy="731520"/>
          </a:xfrm>
          <a:prstGeom prst="rect">
            <a:avLst/>
          </a:prstGeom>
          <a:noFill/>
        </p:spPr>
        <p:txBody>
          <a:bodyPr wrap="square" anchor="t">
            <a:normAutofit/>
          </a:bodyPr>
          <a:lstStyle/>
          <a:p>
            <a:pPr algn="l">
              <a:spcAft>
                <a:spcPts val="200"/>
              </a:spcAft>
            </a:pPr>
            <a:r>
              <a:rPr sz="1400" b="1">
                <a:solidFill>
                  <a:srgbClr val="4A9EFF"/>
                </a:solidFill>
                <a:latin typeface="Arial"/>
              </a:rPr>
              <a:t>DEFEND</a:t>
            </a:r>
          </a:p>
          <a:p>
            <a:pPr>
              <a:spcAft>
                <a:spcPts val="0"/>
              </a:spcAft>
            </a:pPr>
            <a:r>
              <a:rPr sz="1250" b="0">
                <a:solidFill>
                  <a:srgbClr val="F2F2F5"/>
                </a:solidFill>
                <a:latin typeface="Arial"/>
              </a:rPr>
              <a:t>G0 invariant guards → G1 supervised → G2 conformal + density → fusion → a three-band action table</a:t>
            </a:r>
          </a:p>
        </p:txBody>
      </p:sp>
      <p:sp>
        <p:nvSpPr>
          <p:cNvPr id="14" name="Rectangle 13"/>
          <p:cNvSpPr/>
          <p:nvPr/>
        </p:nvSpPr>
        <p:spPr>
          <a:xfrm>
            <a:off x="548640" y="4572000"/>
            <a:ext cx="11064240" cy="1091183"/>
          </a:xfrm>
          <a:prstGeom prst="rect">
            <a:avLst/>
          </a:prstGeom>
          <a:solidFill>
            <a:srgbClr val="15161D"/>
          </a:solidFill>
          <a:ln w="19050">
            <a:solidFill>
              <a:srgbClr val="F5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 y="4709160"/>
            <a:ext cx="10424160" cy="965706"/>
          </a:xfrm>
          <a:prstGeom prst="rect">
            <a:avLst/>
          </a:prstGeom>
          <a:noFill/>
        </p:spPr>
        <p:txBody>
          <a:bodyPr wrap="square" anchor="t">
            <a:normAutofit/>
          </a:bodyPr>
          <a:lstStyle/>
          <a:p>
            <a:pPr algn="l">
              <a:spcAft>
                <a:spcPts val="500"/>
              </a:spcAft>
            </a:pPr>
            <a:r>
              <a:rPr sz="1300" b="1">
                <a:solidFill>
                  <a:srgbClr val="F5B14C"/>
                </a:solidFill>
                <a:latin typeface="Arial"/>
              </a:rPr>
              <a:t>THE RETURN PATH IS THE POINT</a:t>
            </a:r>
          </a:p>
          <a:p>
            <a:pPr>
              <a:spcAft>
                <a:spcPts val="0"/>
              </a:spcAft>
            </a:pPr>
            <a:r>
              <a:rPr sz="1350" b="0">
                <a:solidFill>
                  <a:srgbClr val="F2F2F5"/>
                </a:solidFill>
                <a:latin typeface="Arial"/>
              </a:rPr>
              <a:t>MAP-Elites curriculum → Watkins Q(λ) campaign MDP → Thompson bandit over families. Archive cells where the defence detects nothing get sampled MORE. One tick = archive-select → plan → execute → score → mine → forge.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rmAutofit/>
          </a:bodyPr>
          <a:lstStyle/>
          <a:p>
            <a:pPr algn="l">
              <a:spcAft>
                <a:spcPts val="0"/>
              </a:spcAft>
            </a:pPr>
            <a:r>
              <a:rPr sz="1150" b="1">
                <a:solidFill>
                  <a:srgbClr val="F5B14C"/>
                </a:solidFill>
                <a:latin typeface="Arial"/>
              </a:rPr>
              <a:t>WHY THIS PROBLEM IS HARD</a:t>
            </a:r>
          </a:p>
        </p:txBody>
      </p:sp>
      <p:sp>
        <p:nvSpPr>
          <p:cNvPr id="4" name="TextBox 3"/>
          <p:cNvSpPr txBox="1"/>
          <p:nvPr/>
        </p:nvSpPr>
        <p:spPr>
          <a:xfrm>
            <a:off x="548640" y="705104"/>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Labels do not exist when you need them</a:t>
            </a:r>
          </a:p>
        </p:txBody>
      </p:sp>
      <p:sp>
        <p:nvSpPr>
          <p:cNvPr id="5" name="Rectangle 4"/>
          <p:cNvSpPr/>
          <p:nvPr/>
        </p:nvSpPr>
        <p:spPr>
          <a:xfrm>
            <a:off x="650240" y="580643"/>
            <a:ext cx="2042160" cy="45719"/>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6</a:t>
            </a:r>
          </a:p>
        </p:txBody>
      </p:sp>
      <p:pic>
        <p:nvPicPr>
          <p:cNvPr id="8" name="Picture 7" descr="maturity.png"/>
          <p:cNvPicPr>
            <a:picLocks noChangeAspect="1"/>
          </p:cNvPicPr>
          <p:nvPr/>
        </p:nvPicPr>
        <p:blipFill>
          <a:blip r:embed="rId3"/>
          <a:stretch>
            <a:fillRect/>
          </a:stretch>
        </p:blipFill>
        <p:spPr>
          <a:xfrm>
            <a:off x="1624036" y="1554480"/>
            <a:ext cx="2786968" cy="3200400"/>
          </a:xfrm>
          <a:prstGeom prst="rect">
            <a:avLst/>
          </a:prstGeom>
        </p:spPr>
      </p:pic>
      <p:graphicFrame>
        <p:nvGraphicFramePr>
          <p:cNvPr id="9" name="Table 8"/>
          <p:cNvGraphicFramePr>
            <a:graphicFrameLocks noGrp="1"/>
          </p:cNvGraphicFramePr>
          <p:nvPr/>
        </p:nvGraphicFramePr>
        <p:xfrm>
          <a:off x="5760720" y="1691640"/>
          <a:ext cx="5852160" cy="1720532"/>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430133">
                <a:tc>
                  <a:txBody>
                    <a:bodyPr/>
                    <a:lstStyle/>
                    <a:p>
                      <a:r>
                        <a:rPr sz="1200" b="1" dirty="0">
                          <a:solidFill>
                            <a:srgbClr val="F5B14C"/>
                          </a:solidFill>
                          <a:latin typeface="Arial"/>
                        </a:rPr>
                        <a:t>label channel</a:t>
                      </a:r>
                    </a:p>
                  </a:txBody>
                  <a:tcPr marT="18288" marB="18288" anchor="ctr">
                    <a:solidFill>
                      <a:srgbClr val="0B0B0F"/>
                    </a:solidFill>
                  </a:tcPr>
                </a:tc>
                <a:tc>
                  <a:txBody>
                    <a:bodyPr/>
                    <a:lstStyle/>
                    <a:p>
                      <a:r>
                        <a:rPr sz="1200" b="1">
                          <a:solidFill>
                            <a:srgbClr val="F5B14C"/>
                          </a:solidFill>
                          <a:latin typeface="Arial"/>
                        </a:rPr>
                        <a:t>latency</a:t>
                      </a:r>
                    </a:p>
                  </a:txBody>
                  <a:tcPr marT="18288" marB="18288" anchor="ctr">
                    <a:solidFill>
                      <a:srgbClr val="0B0B0F"/>
                    </a:solidFill>
                  </a:tcPr>
                </a:tc>
                <a:extLst>
                  <a:ext uri="{0D108BD9-81ED-4DB2-BD59-A6C34878D82A}">
                    <a16:rowId xmlns:a16="http://schemas.microsoft.com/office/drawing/2014/main" val="10000"/>
                  </a:ext>
                </a:extLst>
              </a:tr>
              <a:tr h="430133">
                <a:tc>
                  <a:txBody>
                    <a:bodyPr/>
                    <a:lstStyle/>
                    <a:p>
                      <a:r>
                        <a:rPr sz="1300" b="0">
                          <a:solidFill>
                            <a:srgbClr val="F2F2F5"/>
                          </a:solidFill>
                          <a:latin typeface="Arial"/>
                        </a:rPr>
                        <a:t>analyst disposition</a:t>
                      </a:r>
                    </a:p>
                  </a:txBody>
                  <a:tcPr marT="18288" marB="18288" anchor="ctr">
                    <a:solidFill>
                      <a:srgbClr val="15161D"/>
                    </a:solidFill>
                  </a:tcPr>
                </a:tc>
                <a:tc>
                  <a:txBody>
                    <a:bodyPr/>
                    <a:lstStyle/>
                    <a:p>
                      <a:r>
                        <a:rPr sz="1300" b="0">
                          <a:solidFill>
                            <a:srgbClr val="F2F2F5"/>
                          </a:solidFill>
                          <a:latin typeface="Arial"/>
                        </a:rPr>
                        <a:t>hours</a:t>
                      </a:r>
                    </a:p>
                  </a:txBody>
                  <a:tcPr marT="18288" marB="18288" anchor="ctr">
                    <a:solidFill>
                      <a:srgbClr val="15161D"/>
                    </a:solidFill>
                  </a:tcPr>
                </a:tc>
                <a:extLst>
                  <a:ext uri="{0D108BD9-81ED-4DB2-BD59-A6C34878D82A}">
                    <a16:rowId xmlns:a16="http://schemas.microsoft.com/office/drawing/2014/main" val="10001"/>
                  </a:ext>
                </a:extLst>
              </a:tr>
              <a:tr h="430133">
                <a:tc>
                  <a:txBody>
                    <a:bodyPr/>
                    <a:lstStyle/>
                    <a:p>
                      <a:r>
                        <a:rPr sz="1300" b="0">
                          <a:solidFill>
                            <a:srgbClr val="F2F2F5"/>
                          </a:solidFill>
                          <a:latin typeface="Arial"/>
                        </a:rPr>
                        <a:t>issuer tag</a:t>
                      </a:r>
                    </a:p>
                  </a:txBody>
                  <a:tcPr marT="18288" marB="18288" anchor="ctr">
                    <a:solidFill>
                      <a:srgbClr val="15161D"/>
                    </a:solidFill>
                  </a:tcPr>
                </a:tc>
                <a:tc>
                  <a:txBody>
                    <a:bodyPr/>
                    <a:lstStyle/>
                    <a:p>
                      <a:r>
                        <a:rPr sz="1300" b="0">
                          <a:solidFill>
                            <a:srgbClr val="F2F2F5"/>
                          </a:solidFill>
                          <a:latin typeface="Arial"/>
                        </a:rPr>
                        <a:t>days</a:t>
                      </a:r>
                    </a:p>
                  </a:txBody>
                  <a:tcPr marT="18288" marB="18288" anchor="ctr">
                    <a:solidFill>
                      <a:srgbClr val="15161D"/>
                    </a:solidFill>
                  </a:tcPr>
                </a:tc>
                <a:extLst>
                  <a:ext uri="{0D108BD9-81ED-4DB2-BD59-A6C34878D82A}">
                    <a16:rowId xmlns:a16="http://schemas.microsoft.com/office/drawing/2014/main" val="10002"/>
                  </a:ext>
                </a:extLst>
              </a:tr>
              <a:tr h="430133">
                <a:tc>
                  <a:txBody>
                    <a:bodyPr/>
                    <a:lstStyle/>
                    <a:p>
                      <a:r>
                        <a:rPr sz="1300" b="0">
                          <a:solidFill>
                            <a:srgbClr val="F2F2F5"/>
                          </a:solidFill>
                          <a:latin typeface="Arial"/>
                        </a:rPr>
                        <a:t>chargeback / network report</a:t>
                      </a:r>
                    </a:p>
                  </a:txBody>
                  <a:tcPr marT="18288" marB="18288" anchor="ctr">
                    <a:solidFill>
                      <a:srgbClr val="15161D"/>
                    </a:solidFill>
                  </a:tcPr>
                </a:tc>
                <a:tc>
                  <a:txBody>
                    <a:bodyPr/>
                    <a:lstStyle/>
                    <a:p>
                      <a:r>
                        <a:rPr sz="1300" b="0" dirty="0">
                          <a:solidFill>
                            <a:srgbClr val="F2F2F5"/>
                          </a:solidFill>
                          <a:latin typeface="Arial"/>
                        </a:rPr>
                        <a:t>45–120 DAYS</a:t>
                      </a:r>
                    </a:p>
                  </a:txBody>
                  <a:tcPr marT="18288" marB="18288" anchor="ctr">
                    <a:solidFill>
                      <a:srgbClr val="15161D"/>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5760720" y="3733801"/>
            <a:ext cx="5852160" cy="2377440"/>
          </a:xfrm>
          <a:prstGeom prst="rect">
            <a:avLst/>
          </a:prstGeom>
          <a:noFill/>
        </p:spPr>
        <p:txBody>
          <a:bodyPr wrap="square" anchor="t">
            <a:normAutofit/>
          </a:bodyPr>
          <a:lstStyle/>
          <a:p>
            <a:pPr algn="l">
              <a:spcAft>
                <a:spcPts val="1100"/>
              </a:spcAft>
            </a:pPr>
            <a:r>
              <a:rPr sz="1350" b="0" dirty="0">
                <a:solidFill>
                  <a:srgbClr val="3DD68C"/>
                </a:solidFill>
                <a:latin typeface="Arial"/>
              </a:rPr>
              <a:t>We train with </a:t>
            </a:r>
            <a:r>
              <a:rPr sz="1350" b="0" dirty="0" err="1">
                <a:solidFill>
                  <a:srgbClr val="3DD68C"/>
                </a:solidFill>
                <a:latin typeface="Arial"/>
              </a:rPr>
              <a:t>nnPU</a:t>
            </a:r>
            <a:r>
              <a:rPr sz="1350" b="0" dirty="0">
                <a:solidFill>
                  <a:srgbClr val="3DD68C"/>
                </a:solidFill>
                <a:latin typeface="Arial"/>
              </a:rPr>
              <a:t> at the </a:t>
            </a:r>
            <a:r>
              <a:rPr sz="1350" b="0" dirty="0" err="1">
                <a:solidFill>
                  <a:srgbClr val="3DD68C"/>
                </a:solidFill>
                <a:latin typeface="Arial"/>
              </a:rPr>
              <a:t>realised</a:t>
            </a:r>
            <a:r>
              <a:rPr sz="1350" b="0" dirty="0">
                <a:solidFill>
                  <a:srgbClr val="3DD68C"/>
                </a:solidFill>
                <a:latin typeface="Arial"/>
              </a:rPr>
              <a:t> prior, IPW reject inference against the logged incumbent policy, and label-maturity weights.</a:t>
            </a:r>
          </a:p>
          <a:p>
            <a:pPr>
              <a:spcAft>
                <a:spcPts val="1100"/>
              </a:spcAft>
            </a:pPr>
            <a:r>
              <a:rPr sz="1350" b="0" dirty="0">
                <a:solidFill>
                  <a:srgbClr val="F2F2F5"/>
                </a:solidFill>
                <a:latin typeface="Arial"/>
              </a:rPr>
              <a:t>Treating </a:t>
            </a:r>
            <a:r>
              <a:rPr sz="1350" b="0" dirty="0" err="1">
                <a:solidFill>
                  <a:srgbClr val="F2F2F5"/>
                </a:solidFill>
                <a:latin typeface="Arial"/>
              </a:rPr>
              <a:t>unlabelled</a:t>
            </a:r>
            <a:r>
              <a:rPr sz="1350" b="0" dirty="0">
                <a:solidFill>
                  <a:srgbClr val="F2F2F5"/>
                </a:solidFill>
                <a:latin typeface="Arial"/>
              </a:rPr>
              <a:t> as legitimate is the notebook default — and it teaches the model that absence of a complaint is evidence of innocence.</a:t>
            </a:r>
          </a:p>
        </p:txBody>
      </p:sp>
      <p:sp>
        <p:nvSpPr>
          <p:cNvPr id="11" name="TextBox 10"/>
          <p:cNvSpPr txBox="1"/>
          <p:nvPr/>
        </p:nvSpPr>
        <p:spPr>
          <a:xfrm>
            <a:off x="548640" y="5029200"/>
            <a:ext cx="4937760" cy="1097280"/>
          </a:xfrm>
          <a:prstGeom prst="rect">
            <a:avLst/>
          </a:prstGeom>
          <a:noFill/>
        </p:spPr>
        <p:txBody>
          <a:bodyPr wrap="square" anchor="t">
            <a:normAutofit/>
          </a:bodyPr>
          <a:lstStyle/>
          <a:p>
            <a:pPr algn="l">
              <a:spcAft>
                <a:spcPts val="1100"/>
              </a:spcAft>
            </a:pPr>
            <a:r>
              <a:rPr sz="1300" b="0" dirty="0">
                <a:solidFill>
                  <a:srgbClr val="F5B14C"/>
                </a:solidFill>
                <a:latin typeface="Arial"/>
              </a:rPr>
              <a:t>This is the constraint that bounds our result</a:t>
            </a:r>
            <a:r>
              <a:rPr lang="en-US" sz="1300" b="0" dirty="0">
                <a:solidFill>
                  <a:srgbClr val="F5B14C"/>
                </a:solidFill>
                <a:latin typeface="Arial"/>
              </a:rPr>
              <a:t>, </a:t>
            </a:r>
            <a:r>
              <a:rPr sz="1300" b="0" dirty="0">
                <a:solidFill>
                  <a:srgbClr val="F5B14C"/>
                </a:solidFill>
                <a:latin typeface="Arial"/>
              </a:rPr>
              <a:t>and the reason the baseline on slide 13 beats us.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3DD68C"/>
                </a:solidFill>
                <a:latin typeface="Arial"/>
              </a:rPr>
              <a:t>TRUSTWORTHINESS</a:t>
            </a:r>
          </a:p>
        </p:txBody>
      </p:sp>
      <p:sp>
        <p:nvSpPr>
          <p:cNvPr id="4" name="TextBox 3"/>
          <p:cNvSpPr txBox="1"/>
          <p:nvPr/>
        </p:nvSpPr>
        <p:spPr>
          <a:xfrm>
            <a:off x="548640" y="671239"/>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Six leakage controls</a:t>
            </a:r>
            <a:r>
              <a:rPr lang="en-US" sz="2800" b="1" dirty="0">
                <a:solidFill>
                  <a:srgbClr val="F2F2F5"/>
                </a:solidFill>
                <a:latin typeface="Arial"/>
              </a:rPr>
              <a:t>: </a:t>
            </a:r>
            <a:r>
              <a:rPr sz="2800" b="1" dirty="0">
                <a:solidFill>
                  <a:srgbClr val="F2F2F5"/>
                </a:solidFill>
                <a:latin typeface="Arial"/>
              </a:rPr>
              <a:t>any failure fails the build</a:t>
            </a:r>
          </a:p>
        </p:txBody>
      </p:sp>
      <p:sp>
        <p:nvSpPr>
          <p:cNvPr id="5" name="Rectangle 4"/>
          <p:cNvSpPr/>
          <p:nvPr/>
        </p:nvSpPr>
        <p:spPr>
          <a:xfrm flipV="1">
            <a:off x="692572" y="576581"/>
            <a:ext cx="1923627" cy="45719"/>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7</a:t>
            </a:r>
          </a:p>
        </p:txBody>
      </p:sp>
      <p:graphicFrame>
        <p:nvGraphicFramePr>
          <p:cNvPr id="8" name="Table 7"/>
          <p:cNvGraphicFramePr>
            <a:graphicFrameLocks noGrp="1"/>
          </p:cNvGraphicFramePr>
          <p:nvPr/>
        </p:nvGraphicFramePr>
        <p:xfrm>
          <a:off x="548640" y="1554480"/>
          <a:ext cx="11064240" cy="3154312"/>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0616">
                <a:tc>
                  <a:txBody>
                    <a:bodyPr/>
                    <a:lstStyle/>
                    <a:p>
                      <a:r>
                        <a:rPr sz="1150" b="1">
                          <a:solidFill>
                            <a:srgbClr val="3DD68C"/>
                          </a:solidFill>
                          <a:latin typeface="Arial"/>
                        </a:rPr>
                        <a:t>control</a:t>
                      </a:r>
                    </a:p>
                  </a:txBody>
                  <a:tcPr marT="18288" marB="18288" anchor="ctr">
                    <a:solidFill>
                      <a:srgbClr val="0B0B0F"/>
                    </a:solidFill>
                  </a:tcPr>
                </a:tc>
                <a:tc>
                  <a:txBody>
                    <a:bodyPr/>
                    <a:lstStyle/>
                    <a:p>
                      <a:r>
                        <a:rPr sz="1150" b="1">
                          <a:solidFill>
                            <a:srgbClr val="3DD68C"/>
                          </a:solidFill>
                          <a:latin typeface="Arial"/>
                        </a:rPr>
                        <a:t>what it proves</a:t>
                      </a:r>
                    </a:p>
                  </a:txBody>
                  <a:tcPr marT="18288" marB="18288" anchor="ctr">
                    <a:solidFill>
                      <a:srgbClr val="0B0B0F"/>
                    </a:solidFill>
                  </a:tcPr>
                </a:tc>
                <a:tc>
                  <a:txBody>
                    <a:bodyPr/>
                    <a:lstStyle/>
                    <a:p>
                      <a:endParaRPr/>
                    </a:p>
                  </a:txBody>
                  <a:tcPr marT="18288" marB="18288" anchor="ctr">
                    <a:solidFill>
                      <a:srgbClr val="0B0B0F"/>
                    </a:solidFill>
                  </a:tcPr>
                </a:tc>
                <a:extLst>
                  <a:ext uri="{0D108BD9-81ED-4DB2-BD59-A6C34878D82A}">
                    <a16:rowId xmlns:a16="http://schemas.microsoft.com/office/drawing/2014/main" val="10000"/>
                  </a:ext>
                </a:extLst>
              </a:tr>
              <a:tr h="450616">
                <a:tc>
                  <a:txBody>
                    <a:bodyPr/>
                    <a:lstStyle/>
                    <a:p>
                      <a:r>
                        <a:rPr sz="1250" b="0">
                          <a:solidFill>
                            <a:srgbClr val="F2F2F5"/>
                          </a:solidFill>
                          <a:latin typeface="Arial"/>
                        </a:rPr>
                        <a:t>commit_order_audit</a:t>
                      </a:r>
                    </a:p>
                  </a:txBody>
                  <a:tcPr marT="18288" marB="18288" anchor="ctr">
                    <a:solidFill>
                      <a:srgbClr val="15161D"/>
                    </a:solidFill>
                  </a:tcPr>
                </a:tc>
                <a:tc>
                  <a:txBody>
                    <a:bodyPr/>
                    <a:lstStyle/>
                    <a:p>
                      <a:r>
                        <a:rPr sz="1250" b="0">
                          <a:solidFill>
                            <a:srgbClr val="F2F2F5"/>
                          </a:solidFill>
                          <a:latin typeface="Arial"/>
                        </a:rPr>
                        <a:t>the sealed manifest was committed BEFORE any code under features/ or gate/</a:t>
                      </a:r>
                    </a:p>
                  </a:txBody>
                  <a:tcPr marT="18288" marB="18288" anchor="ctr">
                    <a:solidFill>
                      <a:srgbClr val="15161D"/>
                    </a:solidFill>
                  </a:tcPr>
                </a:tc>
                <a:tc>
                  <a:txBody>
                    <a:bodyPr/>
                    <a:lstStyle/>
                    <a:p>
                      <a:r>
                        <a:rPr sz="1250" b="0">
                          <a:solidFill>
                            <a:srgbClr val="F2F2F5"/>
                          </a:solidFill>
                          <a:latin typeface="Arial"/>
                        </a:rPr>
                        <a:t>PASS</a:t>
                      </a:r>
                    </a:p>
                  </a:txBody>
                  <a:tcPr marT="18288" marB="18288" anchor="ctr">
                    <a:solidFill>
                      <a:srgbClr val="15161D"/>
                    </a:solidFill>
                  </a:tcPr>
                </a:tc>
                <a:extLst>
                  <a:ext uri="{0D108BD9-81ED-4DB2-BD59-A6C34878D82A}">
                    <a16:rowId xmlns:a16="http://schemas.microsoft.com/office/drawing/2014/main" val="10001"/>
                  </a:ext>
                </a:extLst>
              </a:tr>
              <a:tr h="450616">
                <a:tc>
                  <a:txBody>
                    <a:bodyPr/>
                    <a:lstStyle/>
                    <a:p>
                      <a:r>
                        <a:rPr sz="1250" b="0">
                          <a:solidFill>
                            <a:srgbClr val="F2F2F5"/>
                          </a:solidFill>
                          <a:latin typeface="Arial"/>
                        </a:rPr>
                        <a:t>rng_stream_audit</a:t>
                      </a:r>
                    </a:p>
                  </a:txBody>
                  <a:tcPr marT="18288" marB="18288" anchor="ctr">
                    <a:solidFill>
                      <a:srgbClr val="15161D"/>
                    </a:solidFill>
                  </a:tcPr>
                </a:tc>
                <a:tc>
                  <a:txBody>
                    <a:bodyPr/>
                    <a:lstStyle/>
                    <a:p>
                      <a:r>
                        <a:rPr sz="1250" b="0" dirty="0">
                          <a:solidFill>
                            <a:srgbClr val="F2F2F5"/>
                          </a:solidFill>
                          <a:latin typeface="Arial"/>
                        </a:rPr>
                        <a:t>all 51 families derive distinct KDF-derived RNG streams</a:t>
                      </a:r>
                    </a:p>
                  </a:txBody>
                  <a:tcPr marT="18288" marB="18288" anchor="ctr">
                    <a:solidFill>
                      <a:srgbClr val="15161D"/>
                    </a:solidFill>
                  </a:tcPr>
                </a:tc>
                <a:tc>
                  <a:txBody>
                    <a:bodyPr/>
                    <a:lstStyle/>
                    <a:p>
                      <a:r>
                        <a:rPr sz="1250" b="0">
                          <a:solidFill>
                            <a:srgbClr val="F2F2F5"/>
                          </a:solidFill>
                          <a:latin typeface="Arial"/>
                        </a:rPr>
                        <a:t>PASS</a:t>
                      </a:r>
                    </a:p>
                  </a:txBody>
                  <a:tcPr marT="18288" marB="18288" anchor="ctr">
                    <a:solidFill>
                      <a:srgbClr val="15161D"/>
                    </a:solidFill>
                  </a:tcPr>
                </a:tc>
                <a:extLst>
                  <a:ext uri="{0D108BD9-81ED-4DB2-BD59-A6C34878D82A}">
                    <a16:rowId xmlns:a16="http://schemas.microsoft.com/office/drawing/2014/main" val="10002"/>
                  </a:ext>
                </a:extLst>
              </a:tr>
              <a:tr h="450616">
                <a:tc>
                  <a:txBody>
                    <a:bodyPr/>
                    <a:lstStyle/>
                    <a:p>
                      <a:r>
                        <a:rPr sz="1250" b="0">
                          <a:solidFill>
                            <a:srgbClr val="F2F2F5"/>
                          </a:solidFill>
                          <a:latin typeface="Arial"/>
                        </a:rPr>
                        <a:t>label_time_audit</a:t>
                      </a:r>
                    </a:p>
                  </a:txBody>
                  <a:tcPr marT="18288" marB="18288" anchor="ctr">
                    <a:solidFill>
                      <a:srgbClr val="15161D"/>
                    </a:solidFill>
                  </a:tcPr>
                </a:tc>
                <a:tc>
                  <a:txBody>
                    <a:bodyPr/>
                    <a:lstStyle/>
                    <a:p>
                      <a:r>
                        <a:rPr sz="1250" b="0">
                          <a:solidFill>
                            <a:srgbClr val="F2F2F5"/>
                          </a:solidFill>
                          <a:latin typeface="Arial"/>
                        </a:rPr>
                        <a:t>every resolved label arrived within its window and after its own event</a:t>
                      </a:r>
                    </a:p>
                  </a:txBody>
                  <a:tcPr marT="18288" marB="18288" anchor="ctr">
                    <a:solidFill>
                      <a:srgbClr val="15161D"/>
                    </a:solidFill>
                  </a:tcPr>
                </a:tc>
                <a:tc>
                  <a:txBody>
                    <a:bodyPr/>
                    <a:lstStyle/>
                    <a:p>
                      <a:r>
                        <a:rPr sz="1250" b="0">
                          <a:solidFill>
                            <a:srgbClr val="F2F2F5"/>
                          </a:solidFill>
                          <a:latin typeface="Arial"/>
                        </a:rPr>
                        <a:t>PASS</a:t>
                      </a:r>
                    </a:p>
                  </a:txBody>
                  <a:tcPr marT="18288" marB="18288" anchor="ctr">
                    <a:solidFill>
                      <a:srgbClr val="15161D"/>
                    </a:solidFill>
                  </a:tcPr>
                </a:tc>
                <a:extLst>
                  <a:ext uri="{0D108BD9-81ED-4DB2-BD59-A6C34878D82A}">
                    <a16:rowId xmlns:a16="http://schemas.microsoft.com/office/drawing/2014/main" val="10003"/>
                  </a:ext>
                </a:extLst>
              </a:tr>
              <a:tr h="450616">
                <a:tc>
                  <a:txBody>
                    <a:bodyPr/>
                    <a:lstStyle/>
                    <a:p>
                      <a:r>
                        <a:rPr sz="1250" b="0">
                          <a:solidFill>
                            <a:srgbClr val="F2F2F5"/>
                          </a:solidFill>
                          <a:latin typeface="Arial"/>
                        </a:rPr>
                        <a:t>entity_audit</a:t>
                      </a:r>
                    </a:p>
                  </a:txBody>
                  <a:tcPr marT="18288" marB="18288" anchor="ctr">
                    <a:solidFill>
                      <a:srgbClr val="15161D"/>
                    </a:solidFill>
                  </a:tcPr>
                </a:tc>
                <a:tc>
                  <a:txBody>
                    <a:bodyPr/>
                    <a:lstStyle/>
                    <a:p>
                      <a:r>
                        <a:rPr sz="1250" b="0">
                          <a:solidFill>
                            <a:srgbClr val="F2F2F5"/>
                          </a:solidFill>
                          <a:latin typeface="Arial"/>
                        </a:rPr>
                        <a:t>no entity id is shared between training rows and holdout-family rows</a:t>
                      </a:r>
                    </a:p>
                  </a:txBody>
                  <a:tcPr marT="18288" marB="18288" anchor="ctr">
                    <a:solidFill>
                      <a:srgbClr val="15161D"/>
                    </a:solidFill>
                  </a:tcPr>
                </a:tc>
                <a:tc>
                  <a:txBody>
                    <a:bodyPr/>
                    <a:lstStyle/>
                    <a:p>
                      <a:r>
                        <a:rPr sz="1250" b="0">
                          <a:solidFill>
                            <a:srgbClr val="F2F2F5"/>
                          </a:solidFill>
                          <a:latin typeface="Arial"/>
                        </a:rPr>
                        <a:t>PASS</a:t>
                      </a:r>
                    </a:p>
                  </a:txBody>
                  <a:tcPr marT="18288" marB="18288" anchor="ctr">
                    <a:solidFill>
                      <a:srgbClr val="15161D"/>
                    </a:solidFill>
                  </a:tcPr>
                </a:tc>
                <a:extLst>
                  <a:ext uri="{0D108BD9-81ED-4DB2-BD59-A6C34878D82A}">
                    <a16:rowId xmlns:a16="http://schemas.microsoft.com/office/drawing/2014/main" val="10004"/>
                  </a:ext>
                </a:extLst>
              </a:tr>
              <a:tr h="450616">
                <a:tc>
                  <a:txBody>
                    <a:bodyPr/>
                    <a:lstStyle/>
                    <a:p>
                      <a:r>
                        <a:rPr sz="1250" b="0">
                          <a:solidFill>
                            <a:srgbClr val="F2F2F5"/>
                          </a:solidFill>
                          <a:latin typeface="Arial"/>
                        </a:rPr>
                        <a:t>statistic_fit_audit</a:t>
                      </a:r>
                    </a:p>
                  </a:txBody>
                  <a:tcPr marT="18288" marB="18288" anchor="ctr">
                    <a:solidFill>
                      <a:srgbClr val="15161D"/>
                    </a:solidFill>
                  </a:tcPr>
                </a:tc>
                <a:tc>
                  <a:txBody>
                    <a:bodyPr/>
                    <a:lstStyle/>
                    <a:p>
                      <a:r>
                        <a:rPr sz="1250" b="0">
                          <a:solidFill>
                            <a:srgbClr val="F2F2F5"/>
                          </a:solidFill>
                          <a:latin typeface="Arial"/>
                        </a:rPr>
                        <a:t>cohort baselines, quantile edges, cold-start priors fitted on train only</a:t>
                      </a:r>
                    </a:p>
                  </a:txBody>
                  <a:tcPr marT="18288" marB="18288" anchor="ctr">
                    <a:solidFill>
                      <a:srgbClr val="15161D"/>
                    </a:solidFill>
                  </a:tcPr>
                </a:tc>
                <a:tc>
                  <a:txBody>
                    <a:bodyPr/>
                    <a:lstStyle/>
                    <a:p>
                      <a:r>
                        <a:rPr sz="1250" b="0">
                          <a:solidFill>
                            <a:srgbClr val="F2F2F5"/>
                          </a:solidFill>
                          <a:latin typeface="Arial"/>
                        </a:rPr>
                        <a:t>PASS</a:t>
                      </a:r>
                    </a:p>
                  </a:txBody>
                  <a:tcPr marT="18288" marB="18288" anchor="ctr">
                    <a:solidFill>
                      <a:srgbClr val="15161D"/>
                    </a:solidFill>
                  </a:tcPr>
                </a:tc>
                <a:extLst>
                  <a:ext uri="{0D108BD9-81ED-4DB2-BD59-A6C34878D82A}">
                    <a16:rowId xmlns:a16="http://schemas.microsoft.com/office/drawing/2014/main" val="10005"/>
                  </a:ext>
                </a:extLst>
              </a:tr>
              <a:tr h="450616">
                <a:tc>
                  <a:txBody>
                    <a:bodyPr/>
                    <a:lstStyle/>
                    <a:p>
                      <a:r>
                        <a:rPr sz="1250" b="0">
                          <a:solidFill>
                            <a:srgbClr val="F2F2F5"/>
                          </a:solidFill>
                          <a:latin typeface="Arial"/>
                        </a:rPr>
                        <a:t>leakage_linter</a:t>
                      </a:r>
                    </a:p>
                  </a:txBody>
                  <a:tcPr marT="18288" marB="18288" anchor="ctr">
                    <a:solidFill>
                      <a:srgbClr val="15161D"/>
                    </a:solidFill>
                  </a:tcPr>
                </a:tc>
                <a:tc>
                  <a:txBody>
                    <a:bodyPr/>
                    <a:lstStyle/>
                    <a:p>
                      <a:r>
                        <a:rPr sz="1250" b="0">
                          <a:solidFill>
                            <a:srgbClr val="F2F2F5"/>
                          </a:solidFill>
                          <a:latin typeface="Arial"/>
                        </a:rPr>
                        <a:t>no feature name, config or rule string references a held-out family</a:t>
                      </a:r>
                    </a:p>
                  </a:txBody>
                  <a:tcPr marT="18288" marB="18288" anchor="ctr">
                    <a:solidFill>
                      <a:srgbClr val="15161D"/>
                    </a:solidFill>
                  </a:tcPr>
                </a:tc>
                <a:tc>
                  <a:txBody>
                    <a:bodyPr/>
                    <a:lstStyle/>
                    <a:p>
                      <a:r>
                        <a:rPr sz="1250" b="0" dirty="0">
                          <a:solidFill>
                            <a:srgbClr val="F2F2F5"/>
                          </a:solidFill>
                          <a:latin typeface="Arial"/>
                        </a:rPr>
                        <a:t>PASS</a:t>
                      </a:r>
                    </a:p>
                  </a:txBody>
                  <a:tcPr marT="18288" marB="18288" anchor="ctr">
                    <a:solidFill>
                      <a:srgbClr val="15161D"/>
                    </a:solidFill>
                  </a:tcPr>
                </a:tc>
                <a:extLst>
                  <a:ext uri="{0D108BD9-81ED-4DB2-BD59-A6C34878D82A}">
                    <a16:rowId xmlns:a16="http://schemas.microsoft.com/office/drawing/2014/main" val="10006"/>
                  </a:ext>
                </a:extLst>
              </a:tr>
            </a:tbl>
          </a:graphicData>
        </a:graphic>
      </p:graphicFrame>
      <p:sp>
        <p:nvSpPr>
          <p:cNvPr id="9" name="TextBox 8"/>
          <p:cNvSpPr txBox="1"/>
          <p:nvPr/>
        </p:nvSpPr>
        <p:spPr>
          <a:xfrm>
            <a:off x="548640" y="4932681"/>
            <a:ext cx="11064240" cy="1737360"/>
          </a:xfrm>
          <a:prstGeom prst="rect">
            <a:avLst/>
          </a:prstGeom>
          <a:noFill/>
        </p:spPr>
        <p:txBody>
          <a:bodyPr wrap="square" anchor="t">
            <a:normAutofit/>
          </a:bodyPr>
          <a:lstStyle/>
          <a:p>
            <a:pPr algn="l">
              <a:spcAft>
                <a:spcPts val="1300"/>
              </a:spcAft>
            </a:pPr>
            <a:r>
              <a:rPr sz="1450" b="0" dirty="0">
                <a:solidFill>
                  <a:srgbClr val="F2F2F5"/>
                </a:solidFill>
                <a:latin typeface="Arial"/>
              </a:rPr>
              <a:t>TIME-FORWARD SPLIT, no random splits anywhere</a:t>
            </a:r>
            <a:r>
              <a:rPr lang="en-US" sz="1450" b="0" dirty="0">
                <a:solidFill>
                  <a:srgbClr val="F2F2F5"/>
                </a:solidFill>
                <a:latin typeface="Arial"/>
              </a:rPr>
              <a:t>, </a:t>
            </a:r>
            <a:r>
              <a:rPr sz="1450" b="0" dirty="0">
                <a:solidFill>
                  <a:srgbClr val="F2F2F5"/>
                </a:solidFill>
                <a:latin typeface="Arial"/>
              </a:rPr>
              <a:t> train 5,444,817 / stats 989,967 / test 2,672,910, with a 5.3-day purge and 5.2-day embargo. 791,973 boundary rows dropped.</a:t>
            </a:r>
          </a:p>
          <a:p>
            <a:pPr>
              <a:spcAft>
                <a:spcPts val="1300"/>
              </a:spcAft>
            </a:pPr>
            <a:r>
              <a:rPr sz="1450" b="0" dirty="0">
                <a:solidFill>
                  <a:srgbClr val="3DD68C"/>
                </a:solidFill>
                <a:latin typeface="Arial"/>
              </a:rPr>
              <a:t>ENTITY-LEVEL SEALED HOLDOUT</a:t>
            </a:r>
            <a:r>
              <a:rPr lang="en-US" sz="1450" b="0" dirty="0">
                <a:solidFill>
                  <a:srgbClr val="3DD68C"/>
                </a:solidFill>
                <a:latin typeface="Arial"/>
              </a:rPr>
              <a:t>,</a:t>
            </a:r>
            <a:r>
              <a:rPr sz="1450" b="0" dirty="0">
                <a:solidFill>
                  <a:srgbClr val="3DD68C"/>
                </a:solidFill>
                <a:latin typeface="Arial"/>
              </a:rPr>
              <a:t> 1,791,118 rows excluded from training: 12 sealed families PLUS a leave-one-morpheme-out arm (EVASION = low-visibility-rail).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4A9EFF"/>
                </a:solidFill>
                <a:latin typeface="Arial"/>
              </a:rPr>
              <a:t>CRITERION 3 · DETECTION EFFICACY</a:t>
            </a:r>
          </a:p>
        </p:txBody>
      </p:sp>
      <p:sp>
        <p:nvSpPr>
          <p:cNvPr id="4" name="TextBox 3"/>
          <p:cNvSpPr txBox="1"/>
          <p:nvPr/>
        </p:nvSpPr>
        <p:spPr>
          <a:xfrm>
            <a:off x="548640" y="705104"/>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Results — issuer view, reportable</a:t>
            </a:r>
          </a:p>
        </p:txBody>
      </p:sp>
      <p:sp>
        <p:nvSpPr>
          <p:cNvPr id="5" name="Rectangle 4"/>
          <p:cNvSpPr/>
          <p:nvPr/>
        </p:nvSpPr>
        <p:spPr>
          <a:xfrm>
            <a:off x="658706" y="592074"/>
            <a:ext cx="3608493" cy="48006"/>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12221"/>
            <a:ext cx="10241280" cy="292608"/>
          </a:xfrm>
          <a:prstGeom prst="rect">
            <a:avLst/>
          </a:prstGeom>
          <a:noFill/>
        </p:spPr>
        <p:txBody>
          <a:bodyPr wrap="square" anchor="t">
            <a:normAutofit/>
          </a:bodyPr>
          <a:lstStyle/>
          <a:p>
            <a:pPr algn="l">
              <a:spcAft>
                <a:spcPts val="0"/>
              </a:spcAft>
            </a:pPr>
            <a:r>
              <a:rPr sz="950" b="0" dirty="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8</a:t>
            </a:r>
          </a:p>
        </p:txBody>
      </p:sp>
      <p:sp>
        <p:nvSpPr>
          <p:cNvPr id="8" name="TextBox 7"/>
          <p:cNvSpPr txBox="1"/>
          <p:nvPr/>
        </p:nvSpPr>
        <p:spPr>
          <a:xfrm>
            <a:off x="548640" y="1439334"/>
            <a:ext cx="11064240" cy="274320"/>
          </a:xfrm>
          <a:prstGeom prst="rect">
            <a:avLst/>
          </a:prstGeom>
          <a:noFill/>
        </p:spPr>
        <p:txBody>
          <a:bodyPr wrap="square" anchor="t">
            <a:normAutofit lnSpcReduction="10000"/>
          </a:bodyPr>
          <a:lstStyle/>
          <a:p>
            <a:pPr algn="l">
              <a:spcAft>
                <a:spcPts val="0"/>
              </a:spcAft>
            </a:pPr>
            <a:r>
              <a:rPr sz="1250" b="0" dirty="0">
                <a:solidFill>
                  <a:srgbClr val="9A9AA8"/>
                </a:solidFill>
                <a:latin typeface="Arial"/>
              </a:rPr>
              <a:t>Test window 2,672,910 rows · 14,918 attacks · base rate 0.5581% · leakage suite 6/6 PASS</a:t>
            </a:r>
          </a:p>
        </p:txBody>
      </p:sp>
      <p:pic>
        <p:nvPicPr>
          <p:cNvPr id="9" name="Picture 8" descr="headline.png"/>
          <p:cNvPicPr>
            <a:picLocks noChangeAspect="1"/>
          </p:cNvPicPr>
          <p:nvPr/>
        </p:nvPicPr>
        <p:blipFill>
          <a:blip r:embed="rId3"/>
          <a:stretch>
            <a:fillRect/>
          </a:stretch>
        </p:blipFill>
        <p:spPr>
          <a:xfrm>
            <a:off x="1742496" y="1737360"/>
            <a:ext cx="8676528" cy="2148840"/>
          </a:xfrm>
          <a:prstGeom prst="rect">
            <a:avLst/>
          </a:prstGeom>
        </p:spPr>
      </p:pic>
      <p:graphicFrame>
        <p:nvGraphicFramePr>
          <p:cNvPr id="10" name="Table 9"/>
          <p:cNvGraphicFramePr>
            <a:graphicFrameLocks noGrp="1"/>
          </p:cNvGraphicFramePr>
          <p:nvPr/>
        </p:nvGraphicFramePr>
        <p:xfrm>
          <a:off x="548640" y="4069080"/>
          <a:ext cx="11064240" cy="1720532"/>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430133">
                <a:tc>
                  <a:txBody>
                    <a:bodyPr/>
                    <a:lstStyle/>
                    <a:p>
                      <a:r>
                        <a:rPr sz="1250" b="1">
                          <a:solidFill>
                            <a:srgbClr val="4A9EFF"/>
                          </a:solidFill>
                          <a:latin typeface="Arial"/>
                        </a:rPr>
                        <a:t>metric</a:t>
                      </a:r>
                    </a:p>
                  </a:txBody>
                  <a:tcPr marT="18288" marB="18288" anchor="ctr">
                    <a:solidFill>
                      <a:srgbClr val="0B0B0F"/>
                    </a:solidFill>
                  </a:tcPr>
                </a:tc>
                <a:tc>
                  <a:txBody>
                    <a:bodyPr/>
                    <a:lstStyle/>
                    <a:p>
                      <a:r>
                        <a:rPr sz="1250" b="1">
                          <a:solidFill>
                            <a:srgbClr val="4A9EFF"/>
                          </a:solidFill>
                          <a:latin typeface="Arial"/>
                        </a:rPr>
                        <a:t>value</a:t>
                      </a:r>
                    </a:p>
                  </a:txBody>
                  <a:tcPr marT="18288" marB="18288" anchor="ctr">
                    <a:solidFill>
                      <a:srgbClr val="0B0B0F"/>
                    </a:solidFill>
                  </a:tcPr>
                </a:tc>
                <a:tc>
                  <a:txBody>
                    <a:bodyPr/>
                    <a:lstStyle/>
                    <a:p>
                      <a:r>
                        <a:rPr sz="1250" b="1">
                          <a:solidFill>
                            <a:srgbClr val="4A9EFF"/>
                          </a:solidFill>
                          <a:latin typeface="Arial"/>
                        </a:rPr>
                        <a:t>note</a:t>
                      </a:r>
                    </a:p>
                  </a:txBody>
                  <a:tcPr marT="18288" marB="18288" anchor="ctr">
                    <a:solidFill>
                      <a:srgbClr val="0B0B0F"/>
                    </a:solidFill>
                  </a:tcPr>
                </a:tc>
                <a:extLst>
                  <a:ext uri="{0D108BD9-81ED-4DB2-BD59-A6C34878D82A}">
                    <a16:rowId xmlns:a16="http://schemas.microsoft.com/office/drawing/2014/main" val="10000"/>
                  </a:ext>
                </a:extLst>
              </a:tr>
              <a:tr h="430133">
                <a:tc>
                  <a:txBody>
                    <a:bodyPr/>
                    <a:lstStyle/>
                    <a:p>
                      <a:r>
                        <a:rPr sz="1350" b="0">
                          <a:solidFill>
                            <a:srgbClr val="F2F2F5"/>
                          </a:solidFill>
                          <a:latin typeface="Arial"/>
                        </a:rPr>
                        <a:t>precision / recall / F1</a:t>
                      </a:r>
                    </a:p>
                  </a:txBody>
                  <a:tcPr marT="18288" marB="18288" anchor="ctr">
                    <a:solidFill>
                      <a:srgbClr val="15161D"/>
                    </a:solidFill>
                  </a:tcPr>
                </a:tc>
                <a:tc>
                  <a:txBody>
                    <a:bodyPr/>
                    <a:lstStyle/>
                    <a:p>
                      <a:r>
                        <a:rPr sz="1350" b="0">
                          <a:solidFill>
                            <a:srgbClr val="F2F2F5"/>
                          </a:solidFill>
                          <a:latin typeface="Arial"/>
                        </a:rPr>
                        <a:t>0.6382 / 0.3142 / 0.4211</a:t>
                      </a:r>
                    </a:p>
                  </a:txBody>
                  <a:tcPr marT="18288" marB="18288" anchor="ctr">
                    <a:solidFill>
                      <a:srgbClr val="15161D"/>
                    </a:solidFill>
                  </a:tcPr>
                </a:tc>
                <a:tc>
                  <a:txBody>
                    <a:bodyPr/>
                    <a:lstStyle/>
                    <a:p>
                      <a:r>
                        <a:rPr sz="1350" b="0">
                          <a:solidFill>
                            <a:srgbClr val="F2F2F5"/>
                          </a:solidFill>
                          <a:latin typeface="Arial"/>
                        </a:rPr>
                        <a:t>at the fitted operating threshold</a:t>
                      </a:r>
                    </a:p>
                  </a:txBody>
                  <a:tcPr marT="18288" marB="18288" anchor="ctr">
                    <a:solidFill>
                      <a:srgbClr val="15161D"/>
                    </a:solidFill>
                  </a:tcPr>
                </a:tc>
                <a:extLst>
                  <a:ext uri="{0D108BD9-81ED-4DB2-BD59-A6C34878D82A}">
                    <a16:rowId xmlns:a16="http://schemas.microsoft.com/office/drawing/2014/main" val="10001"/>
                  </a:ext>
                </a:extLst>
              </a:tr>
              <a:tr h="430133">
                <a:tc>
                  <a:txBody>
                    <a:bodyPr/>
                    <a:lstStyle/>
                    <a:p>
                      <a:r>
                        <a:rPr sz="1350" b="0">
                          <a:solidFill>
                            <a:srgbClr val="F2F2F5"/>
                          </a:solidFill>
                          <a:latin typeface="Arial"/>
                        </a:rPr>
                        <a:t>value-detection rate</a:t>
                      </a:r>
                    </a:p>
                  </a:txBody>
                  <a:tcPr marT="18288" marB="18288" anchor="ctr">
                    <a:solidFill>
                      <a:srgbClr val="15161D"/>
                    </a:solidFill>
                  </a:tcPr>
                </a:tc>
                <a:tc>
                  <a:txBody>
                    <a:bodyPr/>
                    <a:lstStyle/>
                    <a:p>
                      <a:r>
                        <a:rPr sz="1350" b="0">
                          <a:solidFill>
                            <a:srgbClr val="F2F2F5"/>
                          </a:solidFill>
                          <a:latin typeface="Arial"/>
                        </a:rPr>
                        <a:t>0.5517</a:t>
                      </a:r>
                    </a:p>
                  </a:txBody>
                  <a:tcPr marT="18288" marB="18288" anchor="ctr">
                    <a:solidFill>
                      <a:srgbClr val="15161D"/>
                    </a:solidFill>
                  </a:tcPr>
                </a:tc>
                <a:tc>
                  <a:txBody>
                    <a:bodyPr/>
                    <a:lstStyle/>
                    <a:p>
                      <a:r>
                        <a:rPr sz="1350" b="0">
                          <a:solidFill>
                            <a:srgbClr val="F2F2F5"/>
                          </a:solidFill>
                          <a:latin typeface="Arial"/>
                        </a:rPr>
                        <a:t>share of fraud VALUE caught</a:t>
                      </a:r>
                    </a:p>
                  </a:txBody>
                  <a:tcPr marT="18288" marB="18288" anchor="ctr">
                    <a:solidFill>
                      <a:srgbClr val="15161D"/>
                    </a:solidFill>
                  </a:tcPr>
                </a:tc>
                <a:extLst>
                  <a:ext uri="{0D108BD9-81ED-4DB2-BD59-A6C34878D82A}">
                    <a16:rowId xmlns:a16="http://schemas.microsoft.com/office/drawing/2014/main" val="10002"/>
                  </a:ext>
                </a:extLst>
              </a:tr>
              <a:tr h="430133">
                <a:tc>
                  <a:txBody>
                    <a:bodyPr/>
                    <a:lstStyle/>
                    <a:p>
                      <a:r>
                        <a:rPr sz="1350" b="0">
                          <a:solidFill>
                            <a:srgbClr val="F2F2F5"/>
                          </a:solidFill>
                          <a:latin typeface="Arial"/>
                        </a:rPr>
                        <a:t>ROC-AUC</a:t>
                      </a:r>
                    </a:p>
                  </a:txBody>
                  <a:tcPr marT="18288" marB="18288" anchor="ctr">
                    <a:solidFill>
                      <a:srgbClr val="15161D"/>
                    </a:solidFill>
                  </a:tcPr>
                </a:tc>
                <a:tc>
                  <a:txBody>
                    <a:bodyPr/>
                    <a:lstStyle/>
                    <a:p>
                      <a:r>
                        <a:rPr sz="1350" b="0">
                          <a:solidFill>
                            <a:srgbClr val="F2F2F5"/>
                          </a:solidFill>
                          <a:latin typeface="Arial"/>
                        </a:rPr>
                        <a:t>0.7221</a:t>
                      </a:r>
                    </a:p>
                  </a:txBody>
                  <a:tcPr marT="18288" marB="18288" anchor="ctr">
                    <a:solidFill>
                      <a:srgbClr val="15161D"/>
                    </a:solidFill>
                  </a:tcPr>
                </a:tc>
                <a:tc>
                  <a:txBody>
                    <a:bodyPr/>
                    <a:lstStyle/>
                    <a:p>
                      <a:r>
                        <a:rPr sz="1350" b="0">
                          <a:solidFill>
                            <a:srgbClr val="F2F2F5"/>
                          </a:solidFill>
                          <a:latin typeface="Arial"/>
                        </a:rPr>
                        <a:t>computed, but not the headline — see notes</a:t>
                      </a:r>
                    </a:p>
                  </a:txBody>
                  <a:tcPr marT="18288" marB="18288" anchor="ctr">
                    <a:solidFill>
                      <a:srgbClr val="15161D"/>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548640" y="5820325"/>
            <a:ext cx="11064240" cy="731520"/>
          </a:xfrm>
          <a:prstGeom prst="rect">
            <a:avLst/>
          </a:prstGeom>
          <a:noFill/>
        </p:spPr>
        <p:txBody>
          <a:bodyPr wrap="square" anchor="t">
            <a:normAutofit/>
          </a:bodyPr>
          <a:lstStyle/>
          <a:p>
            <a:pPr algn="l">
              <a:spcAft>
                <a:spcPts val="1100"/>
              </a:spcAft>
            </a:pPr>
            <a:r>
              <a:rPr sz="1400" b="0" dirty="0">
                <a:solidFill>
                  <a:srgbClr val="3DD68C"/>
                </a:solidFill>
                <a:latin typeface="Arial"/>
              </a:rPr>
              <a:t>k = 641 is not a round number: it is analysts × cases × shifts from config/</a:t>
            </a:r>
            <a:r>
              <a:rPr sz="1400" b="0" dirty="0" err="1">
                <a:solidFill>
                  <a:srgbClr val="3DD68C"/>
                </a:solidFill>
                <a:latin typeface="Arial"/>
              </a:rPr>
              <a:t>ops.yaml</a:t>
            </a:r>
            <a:r>
              <a:rPr sz="1400" b="0" dirty="0">
                <a:solidFill>
                  <a:srgbClr val="3DD68C"/>
                </a:solidFill>
                <a:latin typeface="Arial"/>
              </a:rPr>
              <a:t>, scaled to this population. At that staffed budget, 638 of 641 alerts are real attacks.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4A9EFF"/>
                </a:solidFill>
                <a:latin typeface="Arial"/>
              </a:rPr>
              <a:t>CRITERION 4 · NOVELTY</a:t>
            </a:r>
          </a:p>
        </p:txBody>
      </p:sp>
      <p:sp>
        <p:nvSpPr>
          <p:cNvPr id="4" name="TextBox 3"/>
          <p:cNvSpPr txBox="1"/>
          <p:nvPr/>
        </p:nvSpPr>
        <p:spPr>
          <a:xfrm>
            <a:off x="548640" y="688171"/>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Can it detect an attack it has never seen?</a:t>
            </a:r>
          </a:p>
        </p:txBody>
      </p:sp>
      <p:sp>
        <p:nvSpPr>
          <p:cNvPr id="5" name="Rectangle 4"/>
          <p:cNvSpPr/>
          <p:nvPr/>
        </p:nvSpPr>
        <p:spPr>
          <a:xfrm>
            <a:off x="667172" y="599064"/>
            <a:ext cx="2253827" cy="45719"/>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9</a:t>
            </a:r>
          </a:p>
        </p:txBody>
      </p:sp>
      <p:sp>
        <p:nvSpPr>
          <p:cNvPr id="8" name="TextBox 7"/>
          <p:cNvSpPr txBox="1"/>
          <p:nvPr/>
        </p:nvSpPr>
        <p:spPr>
          <a:xfrm>
            <a:off x="548640" y="1430868"/>
            <a:ext cx="11064240" cy="274320"/>
          </a:xfrm>
          <a:prstGeom prst="rect">
            <a:avLst/>
          </a:prstGeom>
          <a:noFill/>
        </p:spPr>
        <p:txBody>
          <a:bodyPr wrap="square" anchor="t">
            <a:normAutofit lnSpcReduction="10000"/>
          </a:bodyPr>
          <a:lstStyle/>
          <a:p>
            <a:pPr algn="l">
              <a:spcAft>
                <a:spcPts val="0"/>
              </a:spcAft>
            </a:pPr>
            <a:r>
              <a:rPr sz="1300" b="0" dirty="0">
                <a:solidFill>
                  <a:srgbClr val="4A9EFF"/>
                </a:solidFill>
                <a:latin typeface="Arial"/>
              </a:rPr>
              <a:t>This is the question the challenge </a:t>
            </a:r>
            <a:r>
              <a:rPr lang="en-US" sz="1300" b="0" dirty="0">
                <a:solidFill>
                  <a:srgbClr val="4A9EFF"/>
                </a:solidFill>
                <a:latin typeface="Arial"/>
              </a:rPr>
              <a:t>asks</a:t>
            </a:r>
            <a:r>
              <a:rPr sz="1300" b="0" dirty="0">
                <a:solidFill>
                  <a:srgbClr val="4A9EFF"/>
                </a:solidFill>
                <a:latin typeface="Arial"/>
              </a:rPr>
              <a:t>. It is the only number that answers it.</a:t>
            </a:r>
          </a:p>
        </p:txBody>
      </p:sp>
      <p:pic>
        <p:nvPicPr>
          <p:cNvPr id="9" name="Picture 8" descr="generalisation.png"/>
          <p:cNvPicPr>
            <a:picLocks noChangeAspect="1"/>
          </p:cNvPicPr>
          <p:nvPr/>
        </p:nvPicPr>
        <p:blipFill>
          <a:blip r:embed="rId3"/>
          <a:stretch>
            <a:fillRect/>
          </a:stretch>
        </p:blipFill>
        <p:spPr>
          <a:xfrm>
            <a:off x="457200" y="1913333"/>
            <a:ext cx="5943600" cy="3840747"/>
          </a:xfrm>
          <a:prstGeom prst="rect">
            <a:avLst/>
          </a:prstGeom>
        </p:spPr>
      </p:pic>
      <p:sp>
        <p:nvSpPr>
          <p:cNvPr id="10" name="TextBox 9"/>
          <p:cNvSpPr txBox="1"/>
          <p:nvPr/>
        </p:nvSpPr>
        <p:spPr>
          <a:xfrm>
            <a:off x="6675120" y="2026919"/>
            <a:ext cx="5029200" cy="4023360"/>
          </a:xfrm>
          <a:prstGeom prst="rect">
            <a:avLst/>
          </a:prstGeom>
          <a:noFill/>
        </p:spPr>
        <p:txBody>
          <a:bodyPr wrap="square" anchor="t">
            <a:normAutofit/>
          </a:bodyPr>
          <a:lstStyle/>
          <a:p>
            <a:pPr algn="l">
              <a:spcAft>
                <a:spcPts val="1600"/>
              </a:spcAft>
            </a:pPr>
            <a:r>
              <a:rPr sz="1450" b="0" dirty="0">
                <a:solidFill>
                  <a:srgbClr val="4A9EFF"/>
                </a:solidFill>
                <a:latin typeface="Arial"/>
              </a:rPr>
              <a:t>52.2% of test attacks are compositions the model has NEVER SEEN — we sealed 12 families and an entire EVASION morpheme.</a:t>
            </a:r>
          </a:p>
          <a:p>
            <a:pPr>
              <a:spcAft>
                <a:spcPts val="1600"/>
              </a:spcAft>
            </a:pPr>
            <a:r>
              <a:rPr sz="1450" b="0" dirty="0">
                <a:solidFill>
                  <a:srgbClr val="3DD68C"/>
                </a:solidFill>
                <a:latin typeface="Arial"/>
              </a:rPr>
              <a:t>On those it retains 65% of its detection performance.</a:t>
            </a:r>
          </a:p>
          <a:p>
            <a:pPr>
              <a:spcAft>
                <a:spcPts val="1600"/>
              </a:spcAft>
            </a:pPr>
            <a:r>
              <a:rPr sz="1450" b="0" dirty="0">
                <a:solidFill>
                  <a:srgbClr val="F2F2F5"/>
                </a:solidFill>
                <a:latin typeface="Arial"/>
              </a:rPr>
              <a:t>A model trained on a random split cannot produce this number at all, because it has seen every composition.</a:t>
            </a:r>
          </a:p>
          <a:p>
            <a:pPr>
              <a:spcAft>
                <a:spcPts val="1600"/>
              </a:spcAft>
            </a:pPr>
            <a:r>
              <a:rPr sz="1450" b="0" dirty="0">
                <a:solidFill>
                  <a:srgbClr val="F5B14C"/>
                </a:solidFill>
                <a:latin typeface="Arial"/>
              </a:rPr>
              <a:t>The gap is the honest cost of </a:t>
            </a:r>
            <a:r>
              <a:rPr sz="1450" b="0" dirty="0" err="1">
                <a:solidFill>
                  <a:srgbClr val="F5B14C"/>
                </a:solidFill>
                <a:latin typeface="Arial"/>
              </a:rPr>
              <a:t>generalisation</a:t>
            </a:r>
            <a:r>
              <a:rPr sz="1450" b="0" dirty="0">
                <a:solidFill>
                  <a:srgbClr val="F5B14C"/>
                </a:solidFill>
                <a:latin typeface="Arial"/>
              </a:rPr>
              <a:t>. No gap would suggest the holdout was not actually held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F5B14C"/>
                </a:solidFill>
                <a:latin typeface="Arial"/>
              </a:rPr>
              <a:t>HOW WE AUDIT OURSELVES</a:t>
            </a:r>
          </a:p>
        </p:txBody>
      </p:sp>
      <p:sp>
        <p:nvSpPr>
          <p:cNvPr id="4" name="TextBox 3"/>
          <p:cNvSpPr txBox="1"/>
          <p:nvPr/>
        </p:nvSpPr>
        <p:spPr>
          <a:xfrm>
            <a:off x="548640" y="747438"/>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We measured every channel alone</a:t>
            </a:r>
            <a:r>
              <a:rPr lang="en-US" sz="2800" b="1" dirty="0">
                <a:solidFill>
                  <a:srgbClr val="F2F2F5"/>
                </a:solidFill>
                <a:latin typeface="Arial"/>
              </a:rPr>
              <a:t>,</a:t>
            </a:r>
            <a:r>
              <a:rPr sz="2800" b="1" dirty="0">
                <a:solidFill>
                  <a:srgbClr val="F2F2F5"/>
                </a:solidFill>
                <a:latin typeface="Arial"/>
              </a:rPr>
              <a:t> and two were broken</a:t>
            </a:r>
          </a:p>
        </p:txBody>
      </p:sp>
      <p:sp>
        <p:nvSpPr>
          <p:cNvPr id="5" name="Rectangle 4"/>
          <p:cNvSpPr/>
          <p:nvPr/>
        </p:nvSpPr>
        <p:spPr>
          <a:xfrm>
            <a:off x="650239" y="611800"/>
            <a:ext cx="2812627" cy="45719"/>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10</a:t>
            </a:r>
          </a:p>
        </p:txBody>
      </p:sp>
      <p:pic>
        <p:nvPicPr>
          <p:cNvPr id="8" name="Picture 7" descr="channels.png"/>
          <p:cNvPicPr>
            <a:picLocks noChangeAspect="1"/>
          </p:cNvPicPr>
          <p:nvPr/>
        </p:nvPicPr>
        <p:blipFill>
          <a:blip r:embed="rId3"/>
          <a:stretch>
            <a:fillRect/>
          </a:stretch>
        </p:blipFill>
        <p:spPr>
          <a:xfrm>
            <a:off x="1601247" y="1481328"/>
            <a:ext cx="8959025" cy="3794760"/>
          </a:xfrm>
          <a:prstGeom prst="rect">
            <a:avLst/>
          </a:prstGeom>
        </p:spPr>
      </p:pic>
      <p:sp>
        <p:nvSpPr>
          <p:cNvPr id="9" name="TextBox 8"/>
          <p:cNvSpPr txBox="1"/>
          <p:nvPr/>
        </p:nvSpPr>
        <p:spPr>
          <a:xfrm>
            <a:off x="548640" y="5440680"/>
            <a:ext cx="11064240" cy="914400"/>
          </a:xfrm>
          <a:prstGeom prst="rect">
            <a:avLst/>
          </a:prstGeom>
          <a:noFill/>
        </p:spPr>
        <p:txBody>
          <a:bodyPr wrap="square" anchor="t">
            <a:normAutofit/>
          </a:bodyPr>
          <a:lstStyle/>
          <a:p>
            <a:pPr algn="l">
              <a:spcAft>
                <a:spcPts val="1100"/>
              </a:spcAft>
            </a:pPr>
            <a:r>
              <a:rPr sz="1400" b="0">
                <a:solidFill>
                  <a:srgbClr val="F5B14C"/>
                </a:solidFill>
                <a:latin typeface="Arial"/>
              </a:rPr>
              <a:t>gate_b was IDENTICALLY CONSTANT at this view — one distinct value across 2,672,910 rows — and sketch was ANTI-PREDICTIVE. Between them they carried 0.22 of the fused score.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F5B14C"/>
                </a:solidFill>
                <a:latin typeface="Arial"/>
              </a:rPr>
              <a:t>WHAT WE FOUND BY AUDITING OURSELVES</a:t>
            </a:r>
          </a:p>
        </p:txBody>
      </p:sp>
      <p:sp>
        <p:nvSpPr>
          <p:cNvPr id="4" name="TextBox 3"/>
          <p:cNvSpPr txBox="1"/>
          <p:nvPr/>
        </p:nvSpPr>
        <p:spPr>
          <a:xfrm>
            <a:off x="548640" y="705108"/>
            <a:ext cx="11064240" cy="640080"/>
          </a:xfrm>
          <a:prstGeom prst="rect">
            <a:avLst/>
          </a:prstGeom>
          <a:noFill/>
        </p:spPr>
        <p:txBody>
          <a:bodyPr wrap="square" anchor="t">
            <a:normAutofit fontScale="92500"/>
          </a:bodyPr>
          <a:lstStyle/>
          <a:p>
            <a:pPr algn="l">
              <a:spcAft>
                <a:spcPts val="0"/>
              </a:spcAft>
            </a:pPr>
            <a:r>
              <a:rPr sz="2800" b="1" dirty="0">
                <a:solidFill>
                  <a:srgbClr val="F2F2F5"/>
                </a:solidFill>
                <a:latin typeface="Arial"/>
              </a:rPr>
              <a:t>Our fusion layer was destroying a model 4× better than we reported</a:t>
            </a:r>
          </a:p>
        </p:txBody>
      </p:sp>
      <p:sp>
        <p:nvSpPr>
          <p:cNvPr id="5" name="Rectangle 4"/>
          <p:cNvSpPr/>
          <p:nvPr/>
        </p:nvSpPr>
        <p:spPr>
          <a:xfrm flipV="1">
            <a:off x="658706" y="599865"/>
            <a:ext cx="4370493" cy="45719"/>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11</a:t>
            </a:r>
          </a:p>
        </p:txBody>
      </p:sp>
      <p:pic>
        <p:nvPicPr>
          <p:cNvPr id="8" name="Picture 7" descr="fusion_arms.png"/>
          <p:cNvPicPr>
            <a:picLocks noChangeAspect="1"/>
          </p:cNvPicPr>
          <p:nvPr/>
        </p:nvPicPr>
        <p:blipFill>
          <a:blip r:embed="rId3"/>
          <a:stretch>
            <a:fillRect/>
          </a:stretch>
        </p:blipFill>
        <p:spPr>
          <a:xfrm>
            <a:off x="2283349" y="1463040"/>
            <a:ext cx="7594822" cy="3200400"/>
          </a:xfrm>
          <a:prstGeom prst="rect">
            <a:avLst/>
          </a:prstGeom>
        </p:spPr>
      </p:pic>
      <p:sp>
        <p:nvSpPr>
          <p:cNvPr id="9" name="TextBox 8"/>
          <p:cNvSpPr txBox="1"/>
          <p:nvPr/>
        </p:nvSpPr>
        <p:spPr>
          <a:xfrm>
            <a:off x="548640" y="4800600"/>
            <a:ext cx="11064240" cy="1554480"/>
          </a:xfrm>
          <a:prstGeom prst="rect">
            <a:avLst/>
          </a:prstGeom>
          <a:noFill/>
        </p:spPr>
        <p:txBody>
          <a:bodyPr wrap="square" anchor="t">
            <a:normAutofit/>
          </a:bodyPr>
          <a:lstStyle/>
          <a:p>
            <a:pPr algn="l">
              <a:spcAft>
                <a:spcPts val="1200"/>
              </a:spcAft>
            </a:pPr>
            <a:r>
              <a:rPr sz="1350" b="0">
                <a:solidFill>
                  <a:srgbClr val="F2F2F5"/>
                </a:solidFill>
                <a:latin typeface="Arial"/>
              </a:rPr>
              <a:t>Attribution: +0.2673 to the COMBINE RULE, +0.0026 to calibration. A rank average is scale-free, so a channel with weight 0.10 can reorder any two rows within 0.10 of each other — and the top-641 span a rank gap of 0.00024.</a:t>
            </a:r>
          </a:p>
          <a:p>
            <a:pPr>
              <a:spcAft>
                <a:spcPts val="1200"/>
              </a:spcAft>
            </a:pPr>
            <a:r>
              <a:rPr sz="1350" b="0">
                <a:solidFill>
                  <a:srgbClr val="F5B14C"/>
                </a:solidFill>
                <a:latin typeface="Arial"/>
              </a:rPr>
              <a:t>Four more defects our instruments caught: a friction cap that could escalate a rail into auto-declines · two perfect one-sided separators, deleted · an instrument reporting a fabricated 0.0000 · a guard that REFUSED to ship a collapsed action ladder.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F5B14C"/>
                </a:solidFill>
                <a:latin typeface="Arial"/>
              </a:rPr>
              <a:t>HONESTY</a:t>
            </a:r>
          </a:p>
        </p:txBody>
      </p:sp>
      <p:sp>
        <p:nvSpPr>
          <p:cNvPr id="4" name="TextBox 3"/>
          <p:cNvSpPr txBox="1"/>
          <p:nvPr/>
        </p:nvSpPr>
        <p:spPr>
          <a:xfrm>
            <a:off x="548640" y="705108"/>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Where our generator is too clean — we say it first</a:t>
            </a:r>
          </a:p>
        </p:txBody>
      </p:sp>
      <p:sp>
        <p:nvSpPr>
          <p:cNvPr id="5" name="Rectangle 4"/>
          <p:cNvSpPr/>
          <p:nvPr/>
        </p:nvSpPr>
        <p:spPr>
          <a:xfrm>
            <a:off x="641774" y="624077"/>
            <a:ext cx="949959" cy="45719"/>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12</a:t>
            </a:r>
          </a:p>
        </p:txBody>
      </p:sp>
      <p:pic>
        <p:nvPicPr>
          <p:cNvPr id="8" name="Picture 7" descr="artifacts.png"/>
          <p:cNvPicPr>
            <a:picLocks noChangeAspect="1"/>
          </p:cNvPicPr>
          <p:nvPr/>
        </p:nvPicPr>
        <p:blipFill>
          <a:blip r:embed="rId3"/>
          <a:stretch>
            <a:fillRect/>
          </a:stretch>
        </p:blipFill>
        <p:spPr>
          <a:xfrm>
            <a:off x="1520278" y="1444752"/>
            <a:ext cx="9120964" cy="3200400"/>
          </a:xfrm>
          <a:prstGeom prst="rect">
            <a:avLst/>
          </a:prstGeom>
        </p:spPr>
      </p:pic>
      <p:sp>
        <p:nvSpPr>
          <p:cNvPr id="9" name="TextBox 8"/>
          <p:cNvSpPr txBox="1"/>
          <p:nvPr/>
        </p:nvSpPr>
        <p:spPr>
          <a:xfrm>
            <a:off x="548640" y="4681728"/>
            <a:ext cx="11064240" cy="1783080"/>
          </a:xfrm>
          <a:prstGeom prst="rect">
            <a:avLst/>
          </a:prstGeom>
          <a:noFill/>
        </p:spPr>
        <p:txBody>
          <a:bodyPr wrap="square" anchor="t">
            <a:normAutofit/>
          </a:bodyPr>
          <a:lstStyle/>
          <a:p>
            <a:pPr algn="l">
              <a:spcAft>
                <a:spcPts val="1000"/>
              </a:spcAft>
            </a:pPr>
            <a:r>
              <a:rPr sz="1300" b="0">
                <a:solidFill>
                  <a:srgbClr val="F5B14C"/>
                </a:solidFill>
                <a:latin typeface="Arial"/>
              </a:rPr>
              <a:t>session_duration_minutes — ordinary sessions drawn |N(6,4)| min, coerced attacks |N(145,70)|: benign MAX 36.5 vs attack 5th percentile 33.9. APP fraud really does involve hour-long coerced sessions, so the mechanism is real; a real benign distribution is heavy-tailed, so the production signal is weaker than ours.</a:t>
            </a:r>
          </a:p>
          <a:p>
            <a:pPr>
              <a:spcAft>
                <a:spcPts val="1000"/>
              </a:spcAft>
            </a:pPr>
            <a:r>
              <a:rPr sz="1300" b="0">
                <a:solidFill>
                  <a:srgbClr val="3DD68C"/>
                </a:solidFill>
                <a:latin typeface="Arial"/>
              </a:rPr>
              <a:t>We also DID NOT ADD an amount-collision feature for AePS, though it would have scored highest — attack withdrawals are quantised to exactly ₹5,000, so it would fire almost only on attacks. Recorded as a decision, not left as an omission.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E8505B"/>
                </a:solidFill>
                <a:latin typeface="Arial"/>
              </a:rPr>
              <a:t>CONTROLLED COMPARISON</a:t>
            </a:r>
          </a:p>
        </p:txBody>
      </p:sp>
      <p:sp>
        <p:nvSpPr>
          <p:cNvPr id="4" name="TextBox 3"/>
          <p:cNvSpPr txBox="1"/>
          <p:nvPr/>
        </p:nvSpPr>
        <p:spPr>
          <a:xfrm>
            <a:off x="548640" y="764371"/>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Against a baseline we EXECUTED rather than described</a:t>
            </a:r>
          </a:p>
        </p:txBody>
      </p:sp>
      <p:sp>
        <p:nvSpPr>
          <p:cNvPr id="5" name="Rectangle 4"/>
          <p:cNvSpPr/>
          <p:nvPr/>
        </p:nvSpPr>
        <p:spPr>
          <a:xfrm>
            <a:off x="658707" y="612478"/>
            <a:ext cx="2753360" cy="45719"/>
          </a:xfrm>
          <a:prstGeom prst="rect">
            <a:avLst/>
          </a:prstGeom>
          <a:solidFill>
            <a:srgbClr val="E85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13</a:t>
            </a:r>
          </a:p>
        </p:txBody>
      </p:sp>
      <p:sp>
        <p:nvSpPr>
          <p:cNvPr id="8" name="TextBox 7"/>
          <p:cNvSpPr txBox="1"/>
          <p:nvPr/>
        </p:nvSpPr>
        <p:spPr>
          <a:xfrm>
            <a:off x="548640" y="1464735"/>
            <a:ext cx="11064240" cy="274320"/>
          </a:xfrm>
          <a:prstGeom prst="rect">
            <a:avLst/>
          </a:prstGeom>
          <a:noFill/>
        </p:spPr>
        <p:txBody>
          <a:bodyPr wrap="square" anchor="t">
            <a:normAutofit lnSpcReduction="10000"/>
          </a:bodyPr>
          <a:lstStyle/>
          <a:p>
            <a:pPr algn="l">
              <a:spcAft>
                <a:spcPts val="0"/>
              </a:spcAft>
            </a:pPr>
            <a:r>
              <a:rPr sz="1300" b="0" dirty="0">
                <a:solidFill>
                  <a:srgbClr val="9A9AA8"/>
                </a:solidFill>
                <a:latin typeface="Arial"/>
              </a:rPr>
              <a:t>Same feature matrix. Same library. Same hyper-parameters. Six methodology differences only.</a:t>
            </a:r>
          </a:p>
        </p:txBody>
      </p:sp>
      <p:pic>
        <p:nvPicPr>
          <p:cNvPr id="9" name="Picture 8" descr="baseline.png"/>
          <p:cNvPicPr>
            <a:picLocks noChangeAspect="1"/>
          </p:cNvPicPr>
          <p:nvPr/>
        </p:nvPicPr>
        <p:blipFill>
          <a:blip r:embed="rId3"/>
          <a:stretch>
            <a:fillRect/>
          </a:stretch>
        </p:blipFill>
        <p:spPr>
          <a:xfrm>
            <a:off x="822960" y="2201459"/>
            <a:ext cx="6766560" cy="3399964"/>
          </a:xfrm>
          <a:prstGeom prst="rect">
            <a:avLst/>
          </a:prstGeom>
        </p:spPr>
      </p:pic>
      <p:sp>
        <p:nvSpPr>
          <p:cNvPr id="10" name="TextBox 9"/>
          <p:cNvSpPr txBox="1"/>
          <p:nvPr/>
        </p:nvSpPr>
        <p:spPr>
          <a:xfrm>
            <a:off x="7726679" y="2291081"/>
            <a:ext cx="4023360" cy="4343400"/>
          </a:xfrm>
          <a:prstGeom prst="rect">
            <a:avLst/>
          </a:prstGeom>
          <a:noFill/>
        </p:spPr>
        <p:txBody>
          <a:bodyPr wrap="square" anchor="t">
            <a:normAutofit/>
          </a:bodyPr>
          <a:lstStyle/>
          <a:p>
            <a:pPr algn="l">
              <a:spcAft>
                <a:spcPts val="1500"/>
              </a:spcAft>
            </a:pPr>
            <a:r>
              <a:rPr sz="1350" b="0" dirty="0">
                <a:solidFill>
                  <a:srgbClr val="E8505B"/>
                </a:solidFill>
                <a:latin typeface="Arial"/>
              </a:rPr>
              <a:t>The replica beats us by 0.0705 PR-AUC — and we are showing you that.</a:t>
            </a:r>
          </a:p>
          <a:p>
            <a:pPr>
              <a:spcAft>
                <a:spcPts val="1500"/>
              </a:spcAft>
            </a:pPr>
            <a:r>
              <a:rPr sz="1350" b="0" dirty="0">
                <a:solidFill>
                  <a:srgbClr val="F2F2F5"/>
                </a:solidFill>
                <a:latin typeface="Arial"/>
              </a:rPr>
              <a:t>It trains on a random split spanning the whole timeline, on fully matured labels, treating </a:t>
            </a:r>
            <a:r>
              <a:rPr sz="1350" b="0" dirty="0" err="1">
                <a:solidFill>
                  <a:srgbClr val="F2F2F5"/>
                </a:solidFill>
                <a:latin typeface="Arial"/>
              </a:rPr>
              <a:t>unlabelled</a:t>
            </a:r>
            <a:r>
              <a:rPr sz="1350" b="0" dirty="0">
                <a:solidFill>
                  <a:srgbClr val="F2F2F5"/>
                </a:solidFill>
                <a:latin typeface="Arial"/>
              </a:rPr>
              <a:t> as negative. It is not a better model. It is a model that was told the answers.</a:t>
            </a:r>
          </a:p>
          <a:p>
            <a:pPr>
              <a:spcAft>
                <a:spcPts val="1500"/>
              </a:spcAft>
            </a:pPr>
            <a:r>
              <a:rPr sz="1350" b="0" dirty="0">
                <a:solidFill>
                  <a:srgbClr val="3DD68C"/>
                </a:solidFill>
                <a:latin typeface="Arial"/>
              </a:rPr>
              <a:t>0.3464 is what remains when you remove the future.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4A9EFF"/>
                </a:solidFill>
                <a:latin typeface="Arial"/>
              </a:rPr>
              <a:t>CRITERION 5 · REAL-WORLD FEASIBILITY</a:t>
            </a:r>
          </a:p>
        </p:txBody>
      </p:sp>
      <p:sp>
        <p:nvSpPr>
          <p:cNvPr id="4" name="TextBox 3"/>
          <p:cNvSpPr txBox="1"/>
          <p:nvPr/>
        </p:nvSpPr>
        <p:spPr>
          <a:xfrm>
            <a:off x="548640" y="781305"/>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Four deployment positions, and what each can actually see</a:t>
            </a:r>
          </a:p>
        </p:txBody>
      </p:sp>
      <p:sp>
        <p:nvSpPr>
          <p:cNvPr id="5" name="Rectangle 4"/>
          <p:cNvSpPr/>
          <p:nvPr/>
        </p:nvSpPr>
        <p:spPr>
          <a:xfrm>
            <a:off x="658705" y="617219"/>
            <a:ext cx="4099561" cy="45719"/>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14</a:t>
            </a:r>
          </a:p>
        </p:txBody>
      </p:sp>
      <p:pic>
        <p:nvPicPr>
          <p:cNvPr id="8" name="Picture 7" descr="views.png"/>
          <p:cNvPicPr>
            <a:picLocks noChangeAspect="1"/>
          </p:cNvPicPr>
          <p:nvPr/>
        </p:nvPicPr>
        <p:blipFill>
          <a:blip r:embed="rId3"/>
          <a:stretch>
            <a:fillRect/>
          </a:stretch>
        </p:blipFill>
        <p:spPr>
          <a:xfrm>
            <a:off x="441960" y="1624586"/>
            <a:ext cx="6035040" cy="3530758"/>
          </a:xfrm>
          <a:prstGeom prst="rect">
            <a:avLst/>
          </a:prstGeom>
        </p:spPr>
      </p:pic>
      <p:sp>
        <p:nvSpPr>
          <p:cNvPr id="9" name="TextBox 8"/>
          <p:cNvSpPr txBox="1"/>
          <p:nvPr/>
        </p:nvSpPr>
        <p:spPr>
          <a:xfrm>
            <a:off x="6720840" y="1899922"/>
            <a:ext cx="5029200" cy="4434840"/>
          </a:xfrm>
          <a:prstGeom prst="rect">
            <a:avLst/>
          </a:prstGeom>
          <a:noFill/>
        </p:spPr>
        <p:txBody>
          <a:bodyPr wrap="square" anchor="t">
            <a:normAutofit/>
          </a:bodyPr>
          <a:lstStyle/>
          <a:p>
            <a:pPr algn="l">
              <a:spcAft>
                <a:spcPts val="1600"/>
              </a:spcAft>
            </a:pPr>
            <a:r>
              <a:rPr sz="1350" b="0" dirty="0">
                <a:solidFill>
                  <a:srgbClr val="4A9EFF"/>
                </a:solidFill>
                <a:latin typeface="Arial"/>
              </a:rPr>
              <a:t>Features an institution genuinely cannot construct are ABSENT, not zeroed. Zeroing would say 'this entity has no token fan-out' — false, and a different claim from 'this institution cannot observe it'.</a:t>
            </a:r>
          </a:p>
          <a:p>
            <a:pPr>
              <a:spcAft>
                <a:spcPts val="1600"/>
              </a:spcAft>
            </a:pPr>
            <a:r>
              <a:rPr sz="1350" b="0" dirty="0">
                <a:solidFill>
                  <a:srgbClr val="F5B14C"/>
                </a:solidFill>
                <a:latin typeface="Arial"/>
              </a:rPr>
              <a:t>The ISSUER position is the most informative — not the network. We report that even though the reverse would flatter a network story.</a:t>
            </a:r>
          </a:p>
          <a:p>
            <a:pPr>
              <a:spcAft>
                <a:spcPts val="1600"/>
              </a:spcAft>
            </a:pPr>
            <a:r>
              <a:rPr sz="1350" b="0" dirty="0">
                <a:solidFill>
                  <a:srgbClr val="3DD68C"/>
                </a:solidFill>
                <a:latin typeface="Arial"/>
              </a:rPr>
              <a:t>What the network uniquely provides is DISTRIBUTION, not a better vantage point: the Bloom exchange lets an issuer receive cross-issuer mule priors it could never observe alone.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4A9EFF"/>
                </a:solidFill>
                <a:latin typeface="Arial"/>
              </a:rPr>
              <a:t>REAL-WORLD FEASIBILITY</a:t>
            </a:r>
          </a:p>
        </p:txBody>
      </p:sp>
      <p:sp>
        <p:nvSpPr>
          <p:cNvPr id="4" name="TextBox 3"/>
          <p:cNvSpPr txBox="1"/>
          <p:nvPr/>
        </p:nvSpPr>
        <p:spPr>
          <a:xfrm>
            <a:off x="463973" y="730506"/>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The action, not the score</a:t>
            </a:r>
          </a:p>
        </p:txBody>
      </p:sp>
      <p:sp>
        <p:nvSpPr>
          <p:cNvPr id="5" name="Rectangle 4"/>
          <p:cNvSpPr/>
          <p:nvPr/>
        </p:nvSpPr>
        <p:spPr>
          <a:xfrm>
            <a:off x="655320" y="615694"/>
            <a:ext cx="2621279" cy="45719"/>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15</a:t>
            </a:r>
          </a:p>
        </p:txBody>
      </p:sp>
      <p:graphicFrame>
        <p:nvGraphicFramePr>
          <p:cNvPr id="8" name="Table 7"/>
          <p:cNvGraphicFramePr>
            <a:graphicFrameLocks noGrp="1"/>
          </p:cNvGraphicFramePr>
          <p:nvPr>
            <p:extLst>
              <p:ext uri="{D42A27DB-BD31-4B8C-83A1-F6EECF244321}">
                <p14:modId xmlns:p14="http://schemas.microsoft.com/office/powerpoint/2010/main" val="673089390"/>
              </p:ext>
            </p:extLst>
          </p:nvPr>
        </p:nvGraphicFramePr>
        <p:xfrm>
          <a:off x="548640" y="1572768"/>
          <a:ext cx="6675120" cy="2652489"/>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78927">
                <a:tc>
                  <a:txBody>
                    <a:bodyPr/>
                    <a:lstStyle/>
                    <a:p>
                      <a:r>
                        <a:rPr lang="en-US" sz="1150" b="1" dirty="0">
                          <a:solidFill>
                            <a:srgbClr val="4A9EFF"/>
                          </a:solidFill>
                          <a:latin typeface="Arial"/>
                        </a:rPr>
                        <a:t>RAIL</a:t>
                      </a:r>
                      <a:endParaRPr sz="1150" b="1" dirty="0">
                        <a:solidFill>
                          <a:srgbClr val="4A9EFF"/>
                        </a:solidFill>
                        <a:latin typeface="Arial"/>
                      </a:endParaRPr>
                    </a:p>
                  </a:txBody>
                  <a:tcPr marT="18288" marB="18288" anchor="ctr">
                    <a:solidFill>
                      <a:srgbClr val="0B0B0F"/>
                    </a:solidFill>
                  </a:tcPr>
                </a:tc>
                <a:tc>
                  <a:txBody>
                    <a:bodyPr/>
                    <a:lstStyle/>
                    <a:p>
                      <a:r>
                        <a:rPr lang="en-US" sz="1150" b="1" dirty="0">
                          <a:solidFill>
                            <a:srgbClr val="4A9EFF"/>
                          </a:solidFill>
                          <a:latin typeface="Arial"/>
                        </a:rPr>
                        <a:t>FRICTION</a:t>
                      </a:r>
                      <a:endParaRPr sz="1150" b="1" dirty="0">
                        <a:solidFill>
                          <a:srgbClr val="4A9EFF"/>
                        </a:solidFill>
                        <a:latin typeface="Arial"/>
                      </a:endParaRPr>
                    </a:p>
                  </a:txBody>
                  <a:tcPr marT="18288" marB="18288" anchor="ctr">
                    <a:solidFill>
                      <a:srgbClr val="0B0B0F"/>
                    </a:solidFill>
                  </a:tcPr>
                </a:tc>
                <a:tc>
                  <a:txBody>
                    <a:bodyPr/>
                    <a:lstStyle/>
                    <a:p>
                      <a:r>
                        <a:rPr lang="en-US" sz="1150" b="1" dirty="0">
                          <a:solidFill>
                            <a:srgbClr val="4A9EFF"/>
                          </a:solidFill>
                          <a:latin typeface="Arial"/>
                        </a:rPr>
                        <a:t>DECLINE</a:t>
                      </a:r>
                      <a:endParaRPr sz="1150" b="1" dirty="0">
                        <a:solidFill>
                          <a:srgbClr val="4A9EFF"/>
                        </a:solidFill>
                        <a:latin typeface="Arial"/>
                      </a:endParaRPr>
                    </a:p>
                  </a:txBody>
                  <a:tcPr marT="18288" marB="18288" anchor="ctr">
                    <a:solidFill>
                      <a:srgbClr val="0B0B0F"/>
                    </a:solidFill>
                  </a:tcPr>
                </a:tc>
                <a:extLst>
                  <a:ext uri="{0D108BD9-81ED-4DB2-BD59-A6C34878D82A}">
                    <a16:rowId xmlns:a16="http://schemas.microsoft.com/office/drawing/2014/main" val="10000"/>
                  </a:ext>
                </a:extLst>
              </a:tr>
              <a:tr h="378927">
                <a:tc>
                  <a:txBody>
                    <a:bodyPr/>
                    <a:lstStyle/>
                    <a:p>
                      <a:r>
                        <a:rPr sz="1250" b="0">
                          <a:solidFill>
                            <a:srgbClr val="F2F2F5"/>
                          </a:solidFill>
                          <a:latin typeface="Arial"/>
                        </a:rPr>
                        <a:t>card CNP-3DS</a:t>
                      </a:r>
                    </a:p>
                  </a:txBody>
                  <a:tcPr marT="18288" marB="18288" anchor="ctr">
                    <a:solidFill>
                      <a:srgbClr val="15161D"/>
                    </a:solidFill>
                  </a:tcPr>
                </a:tc>
                <a:tc>
                  <a:txBody>
                    <a:bodyPr/>
                    <a:lstStyle/>
                    <a:p>
                      <a:r>
                        <a:rPr sz="1250" b="0">
                          <a:solidFill>
                            <a:srgbClr val="F2F2F5"/>
                          </a:solidFill>
                          <a:latin typeface="Arial"/>
                        </a:rPr>
                        <a:t>threeds_challenge</a:t>
                      </a:r>
                    </a:p>
                  </a:txBody>
                  <a:tcPr marT="18288" marB="18288" anchor="ctr">
                    <a:solidFill>
                      <a:srgbClr val="15161D"/>
                    </a:solidFill>
                  </a:tcPr>
                </a:tc>
                <a:tc>
                  <a:txBody>
                    <a:bodyPr/>
                    <a:lstStyle/>
                    <a:p>
                      <a:r>
                        <a:rPr sz="1250" b="0">
                          <a:solidFill>
                            <a:srgbClr val="F2F2F5"/>
                          </a:solidFill>
                          <a:latin typeface="Arial"/>
                        </a:rPr>
                        <a:t>decline</a:t>
                      </a:r>
                    </a:p>
                  </a:txBody>
                  <a:tcPr marT="18288" marB="18288" anchor="ctr">
                    <a:solidFill>
                      <a:srgbClr val="15161D"/>
                    </a:solidFill>
                  </a:tcPr>
                </a:tc>
                <a:extLst>
                  <a:ext uri="{0D108BD9-81ED-4DB2-BD59-A6C34878D82A}">
                    <a16:rowId xmlns:a16="http://schemas.microsoft.com/office/drawing/2014/main" val="10001"/>
                  </a:ext>
                </a:extLst>
              </a:tr>
              <a:tr h="378927">
                <a:tc>
                  <a:txBody>
                    <a:bodyPr/>
                    <a:lstStyle/>
                    <a:p>
                      <a:r>
                        <a:rPr sz="1250" b="0">
                          <a:solidFill>
                            <a:srgbClr val="F2F2F5"/>
                          </a:solidFill>
                          <a:latin typeface="Arial"/>
                        </a:rPr>
                        <a:t>UPI pay</a:t>
                      </a:r>
                    </a:p>
                  </a:txBody>
                  <a:tcPr marT="18288" marB="18288" anchor="ctr">
                    <a:solidFill>
                      <a:srgbClr val="15161D"/>
                    </a:solidFill>
                  </a:tcPr>
                </a:tc>
                <a:tc>
                  <a:txBody>
                    <a:bodyPr/>
                    <a:lstStyle/>
                    <a:p>
                      <a:r>
                        <a:rPr sz="1250" b="0">
                          <a:solidFill>
                            <a:srgbClr val="F2F2F5"/>
                          </a:solidFill>
                          <a:latin typeface="Arial"/>
                        </a:rPr>
                        <a:t>interstitial</a:t>
                      </a:r>
                    </a:p>
                  </a:txBody>
                  <a:tcPr marT="18288" marB="18288" anchor="ctr">
                    <a:solidFill>
                      <a:srgbClr val="15161D"/>
                    </a:solidFill>
                  </a:tcPr>
                </a:tc>
                <a:tc>
                  <a:txBody>
                    <a:bodyPr/>
                    <a:lstStyle/>
                    <a:p>
                      <a:r>
                        <a:rPr sz="1250" b="0">
                          <a:solidFill>
                            <a:srgbClr val="F2F2F5"/>
                          </a:solidFill>
                          <a:latin typeface="Arial"/>
                        </a:rPr>
                        <a:t>cooling_delay</a:t>
                      </a:r>
                    </a:p>
                  </a:txBody>
                  <a:tcPr marT="18288" marB="18288" anchor="ctr">
                    <a:solidFill>
                      <a:srgbClr val="15161D"/>
                    </a:solidFill>
                  </a:tcPr>
                </a:tc>
                <a:extLst>
                  <a:ext uri="{0D108BD9-81ED-4DB2-BD59-A6C34878D82A}">
                    <a16:rowId xmlns:a16="http://schemas.microsoft.com/office/drawing/2014/main" val="10002"/>
                  </a:ext>
                </a:extLst>
              </a:tr>
              <a:tr h="378927">
                <a:tc>
                  <a:txBody>
                    <a:bodyPr/>
                    <a:lstStyle/>
                    <a:p>
                      <a:r>
                        <a:rPr sz="1250" b="0">
                          <a:solidFill>
                            <a:srgbClr val="F2F2F5"/>
                          </a:solidFill>
                          <a:latin typeface="Arial"/>
                        </a:rPr>
                        <a:t>UPI autopay mandate</a:t>
                      </a:r>
                    </a:p>
                  </a:txBody>
                  <a:tcPr marT="18288" marB="18288" anchor="ctr">
                    <a:solidFill>
                      <a:srgbClr val="15161D"/>
                    </a:solidFill>
                  </a:tcPr>
                </a:tc>
                <a:tc>
                  <a:txBody>
                    <a:bodyPr/>
                    <a:lstStyle/>
                    <a:p>
                      <a:r>
                        <a:rPr sz="1250" b="0">
                          <a:solidFill>
                            <a:srgbClr val="F2F2F5"/>
                          </a:solidFill>
                          <a:latin typeface="Arial"/>
                        </a:rPr>
                        <a:t>mandate_refuse</a:t>
                      </a:r>
                    </a:p>
                  </a:txBody>
                  <a:tcPr marT="18288" marB="18288" anchor="ctr">
                    <a:solidFill>
                      <a:srgbClr val="15161D"/>
                    </a:solidFill>
                  </a:tcPr>
                </a:tc>
                <a:tc>
                  <a:txBody>
                    <a:bodyPr/>
                    <a:lstStyle/>
                    <a:p>
                      <a:r>
                        <a:rPr sz="1250" b="0">
                          <a:solidFill>
                            <a:srgbClr val="F2F2F5"/>
                          </a:solidFill>
                          <a:latin typeface="Arial"/>
                        </a:rPr>
                        <a:t>mandate_refuse</a:t>
                      </a:r>
                    </a:p>
                  </a:txBody>
                  <a:tcPr marT="18288" marB="18288" anchor="ctr">
                    <a:solidFill>
                      <a:srgbClr val="15161D"/>
                    </a:solidFill>
                  </a:tcPr>
                </a:tc>
                <a:extLst>
                  <a:ext uri="{0D108BD9-81ED-4DB2-BD59-A6C34878D82A}">
                    <a16:rowId xmlns:a16="http://schemas.microsoft.com/office/drawing/2014/main" val="10003"/>
                  </a:ext>
                </a:extLst>
              </a:tr>
              <a:tr h="378927">
                <a:tc>
                  <a:txBody>
                    <a:bodyPr/>
                    <a:lstStyle/>
                    <a:p>
                      <a:r>
                        <a:rPr sz="1250" b="0" dirty="0">
                          <a:solidFill>
                            <a:srgbClr val="F2F2F5"/>
                          </a:solidFill>
                          <a:latin typeface="Arial"/>
                        </a:rPr>
                        <a:t>A2A credit transfer</a:t>
                      </a:r>
                    </a:p>
                  </a:txBody>
                  <a:tcPr marT="18288" marB="18288" anchor="ctr">
                    <a:solidFill>
                      <a:srgbClr val="15161D"/>
                    </a:solidFill>
                  </a:tcPr>
                </a:tc>
                <a:tc>
                  <a:txBody>
                    <a:bodyPr/>
                    <a:lstStyle/>
                    <a:p>
                      <a:r>
                        <a:rPr sz="1250" b="0">
                          <a:solidFill>
                            <a:srgbClr val="F2F2F5"/>
                          </a:solidFill>
                          <a:latin typeface="Arial"/>
                        </a:rPr>
                        <a:t>name_mismatch_warn</a:t>
                      </a:r>
                    </a:p>
                  </a:txBody>
                  <a:tcPr marT="18288" marB="18288" anchor="ctr">
                    <a:solidFill>
                      <a:srgbClr val="15161D"/>
                    </a:solidFill>
                  </a:tcPr>
                </a:tc>
                <a:tc>
                  <a:txBody>
                    <a:bodyPr/>
                    <a:lstStyle/>
                    <a:p>
                      <a:r>
                        <a:rPr sz="1250" b="0">
                          <a:solidFill>
                            <a:srgbClr val="F2F2F5"/>
                          </a:solidFill>
                          <a:latin typeface="Arial"/>
                        </a:rPr>
                        <a:t>hold</a:t>
                      </a:r>
                    </a:p>
                  </a:txBody>
                  <a:tcPr marT="18288" marB="18288" anchor="ctr">
                    <a:solidFill>
                      <a:srgbClr val="15161D"/>
                    </a:solidFill>
                  </a:tcPr>
                </a:tc>
                <a:extLst>
                  <a:ext uri="{0D108BD9-81ED-4DB2-BD59-A6C34878D82A}">
                    <a16:rowId xmlns:a16="http://schemas.microsoft.com/office/drawing/2014/main" val="10004"/>
                  </a:ext>
                </a:extLst>
              </a:tr>
              <a:tr h="378927">
                <a:tc>
                  <a:txBody>
                    <a:bodyPr/>
                    <a:lstStyle/>
                    <a:p>
                      <a:r>
                        <a:rPr sz="1250" b="0">
                          <a:solidFill>
                            <a:srgbClr val="F2F2F5"/>
                          </a:solidFill>
                          <a:latin typeface="Arial"/>
                        </a:rPr>
                        <a:t>card clearing-dispute</a:t>
                      </a:r>
                    </a:p>
                  </a:txBody>
                  <a:tcPr marT="18288" marB="18288" anchor="ctr">
                    <a:solidFill>
                      <a:srgbClr val="15161D"/>
                    </a:solidFill>
                  </a:tcPr>
                </a:tc>
                <a:tc>
                  <a:txBody>
                    <a:bodyPr/>
                    <a:lstStyle/>
                    <a:p>
                      <a:r>
                        <a:rPr sz="1250" b="0">
                          <a:solidFill>
                            <a:srgbClr val="F2F2F5"/>
                          </a:solidFill>
                          <a:latin typeface="Arial"/>
                        </a:rPr>
                        <a:t>review</a:t>
                      </a:r>
                    </a:p>
                  </a:txBody>
                  <a:tcPr marT="18288" marB="18288" anchor="ctr">
                    <a:solidFill>
                      <a:srgbClr val="15161D"/>
                    </a:solidFill>
                  </a:tcPr>
                </a:tc>
                <a:tc>
                  <a:txBody>
                    <a:bodyPr/>
                    <a:lstStyle/>
                    <a:p>
                      <a:r>
                        <a:rPr sz="1250" b="0">
                          <a:solidFill>
                            <a:srgbClr val="F2F2F5"/>
                          </a:solidFill>
                          <a:latin typeface="Arial"/>
                        </a:rPr>
                        <a:t>review</a:t>
                      </a:r>
                    </a:p>
                  </a:txBody>
                  <a:tcPr marT="18288" marB="18288" anchor="ctr">
                    <a:solidFill>
                      <a:srgbClr val="15161D"/>
                    </a:solidFill>
                  </a:tcPr>
                </a:tc>
                <a:extLst>
                  <a:ext uri="{0D108BD9-81ED-4DB2-BD59-A6C34878D82A}">
                    <a16:rowId xmlns:a16="http://schemas.microsoft.com/office/drawing/2014/main" val="10005"/>
                  </a:ext>
                </a:extLst>
              </a:tr>
              <a:tr h="378927">
                <a:tc>
                  <a:txBody>
                    <a:bodyPr/>
                    <a:lstStyle/>
                    <a:p>
                      <a:r>
                        <a:rPr sz="1250" b="0">
                          <a:solidFill>
                            <a:srgbClr val="F2F2F5"/>
                          </a:solidFill>
                          <a:latin typeface="Arial"/>
                        </a:rPr>
                        <a:t>agentic-commerce</a:t>
                      </a:r>
                    </a:p>
                  </a:txBody>
                  <a:tcPr marT="18288" marB="18288" anchor="ctr">
                    <a:solidFill>
                      <a:srgbClr val="15161D"/>
                    </a:solidFill>
                  </a:tcPr>
                </a:tc>
                <a:tc>
                  <a:txBody>
                    <a:bodyPr/>
                    <a:lstStyle/>
                    <a:p>
                      <a:r>
                        <a:rPr sz="1250" b="0">
                          <a:solidFill>
                            <a:srgbClr val="F2F2F5"/>
                          </a:solidFill>
                          <a:latin typeface="Arial"/>
                        </a:rPr>
                        <a:t>mandate_refuse</a:t>
                      </a:r>
                    </a:p>
                  </a:txBody>
                  <a:tcPr marT="18288" marB="18288" anchor="ctr">
                    <a:solidFill>
                      <a:srgbClr val="15161D"/>
                    </a:solidFill>
                  </a:tcPr>
                </a:tc>
                <a:tc>
                  <a:txBody>
                    <a:bodyPr/>
                    <a:lstStyle/>
                    <a:p>
                      <a:r>
                        <a:rPr sz="1250" b="0" dirty="0" err="1">
                          <a:solidFill>
                            <a:srgbClr val="F2F2F5"/>
                          </a:solidFill>
                          <a:latin typeface="Arial"/>
                        </a:rPr>
                        <a:t>mandate_refuse</a:t>
                      </a:r>
                      <a:endParaRPr sz="1250" b="0" dirty="0">
                        <a:solidFill>
                          <a:srgbClr val="F2F2F5"/>
                        </a:solidFill>
                        <a:latin typeface="Arial"/>
                      </a:endParaRPr>
                    </a:p>
                  </a:txBody>
                  <a:tcPr marT="18288" marB="18288" anchor="ctr">
                    <a:solidFill>
                      <a:srgbClr val="15161D"/>
                    </a:solidFill>
                  </a:tcPr>
                </a:tc>
                <a:extLst>
                  <a:ext uri="{0D108BD9-81ED-4DB2-BD59-A6C34878D82A}">
                    <a16:rowId xmlns:a16="http://schemas.microsoft.com/office/drawing/2014/main" val="10006"/>
                  </a:ext>
                </a:extLst>
              </a:tr>
            </a:tbl>
          </a:graphicData>
        </a:graphic>
      </p:graphicFrame>
      <p:sp>
        <p:nvSpPr>
          <p:cNvPr id="9" name="TextBox 8"/>
          <p:cNvSpPr txBox="1"/>
          <p:nvPr/>
        </p:nvSpPr>
        <p:spPr>
          <a:xfrm>
            <a:off x="7498079" y="1572768"/>
            <a:ext cx="4114800" cy="4023360"/>
          </a:xfrm>
          <a:prstGeom prst="rect">
            <a:avLst/>
          </a:prstGeom>
          <a:noFill/>
        </p:spPr>
        <p:txBody>
          <a:bodyPr wrap="square" anchor="t">
            <a:normAutofit/>
          </a:bodyPr>
          <a:lstStyle/>
          <a:p>
            <a:pPr algn="l">
              <a:spcAft>
                <a:spcPts val="1300"/>
              </a:spcAft>
            </a:pPr>
            <a:r>
              <a:rPr sz="1350" b="0">
                <a:solidFill>
                  <a:srgbClr val="4A9EFF"/>
                </a:solidFill>
                <a:latin typeface="Arial"/>
              </a:rPr>
              <a:t>A three-band ladder — friction ≤ review ≤ decline — fitted per rail.</a:t>
            </a:r>
          </a:p>
          <a:p>
            <a:pPr>
              <a:spcAft>
                <a:spcPts val="1300"/>
              </a:spcAft>
            </a:pPr>
            <a:r>
              <a:rPr sz="1350" b="0">
                <a:solidFill>
                  <a:srgbClr val="F2F2F5"/>
                </a:solidFill>
                <a:latin typeface="Arial"/>
              </a:rPr>
              <a:t>54 reason codes on every decision</a:t>
            </a:r>
          </a:p>
          <a:p>
            <a:pPr>
              <a:spcAft>
                <a:spcPts val="1300"/>
              </a:spcAft>
            </a:pPr>
            <a:r>
              <a:rPr sz="1350" b="0">
                <a:solidFill>
                  <a:srgbClr val="F2F2F5"/>
                </a:solidFill>
                <a:latin typeface="Arial"/>
              </a:rPr>
              <a:t>Mondrian conformal ABSTENTION — priced, not free</a:t>
            </a:r>
          </a:p>
          <a:p>
            <a:pPr>
              <a:spcAft>
                <a:spcPts val="1300"/>
              </a:spcAft>
            </a:pPr>
            <a:r>
              <a:rPr sz="1350" b="0">
                <a:solidFill>
                  <a:srgbClr val="F2F2F5"/>
                </a:solidFill>
                <a:latin typeface="Arial"/>
              </a:rPr>
              <a:t>G0-only kill switch, no model dependency</a:t>
            </a:r>
          </a:p>
          <a:p>
            <a:pPr>
              <a:spcAft>
                <a:spcPts val="1300"/>
              </a:spcAft>
            </a:pPr>
            <a:r>
              <a:rPr sz="1350" b="0">
                <a:solidFill>
                  <a:srgbClr val="F2F2F5"/>
                </a:solidFill>
                <a:latin typeface="Arial"/>
              </a:rPr>
              <a:t>model pinning · measured p99 latency</a:t>
            </a:r>
          </a:p>
          <a:p>
            <a:pPr>
              <a:spcAft>
                <a:spcPts val="1300"/>
              </a:spcAft>
            </a:pPr>
            <a:r>
              <a:rPr sz="1350" b="0">
                <a:solidFill>
                  <a:srgbClr val="3DD68C"/>
                </a:solidFill>
                <a:latin typeface="Arial"/>
              </a:rPr>
              <a:t>Bloom risk exchange: mule priors shared across issuers WITHOUT PII</a:t>
            </a:r>
          </a:p>
        </p:txBody>
      </p:sp>
      <p:sp>
        <p:nvSpPr>
          <p:cNvPr id="10" name="TextBox 9"/>
          <p:cNvSpPr txBox="1"/>
          <p:nvPr/>
        </p:nvSpPr>
        <p:spPr>
          <a:xfrm>
            <a:off x="548640" y="4251960"/>
            <a:ext cx="6675120" cy="1828800"/>
          </a:xfrm>
          <a:prstGeom prst="rect">
            <a:avLst/>
          </a:prstGeom>
          <a:noFill/>
        </p:spPr>
        <p:txBody>
          <a:bodyPr wrap="square" anchor="t">
            <a:normAutofit/>
          </a:bodyPr>
          <a:lstStyle/>
          <a:p>
            <a:pPr algn="l">
              <a:spcAft>
                <a:spcPts val="1100"/>
              </a:spcAft>
            </a:pPr>
            <a:r>
              <a:rPr sz="1300" b="0">
                <a:solidFill>
                  <a:srgbClr val="F5B14C"/>
                </a:solidFill>
                <a:latin typeface="Arial"/>
              </a:rPr>
              <a:t>You do not decline a clearing record. The band is abstract; the action is whatever the rail supports.</a:t>
            </a:r>
          </a:p>
          <a:p>
            <a:pPr>
              <a:spcAft>
                <a:spcPts val="1100"/>
              </a:spcAft>
            </a:pPr>
            <a:r>
              <a:rPr sz="1300" b="0">
                <a:solidFill>
                  <a:srgbClr val="F2F2F5"/>
                </a:solidFill>
                <a:latin typeface="Arial"/>
              </a:rPr>
              <a:t>When the model is unavailable, G0 still refuses the impossible — a fallback, not an outage.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F5B14C"/>
                </a:solidFill>
                <a:latin typeface="Arial"/>
              </a:rPr>
              <a:t>LIMITATIONS</a:t>
            </a:r>
          </a:p>
        </p:txBody>
      </p:sp>
      <p:sp>
        <p:nvSpPr>
          <p:cNvPr id="4" name="TextBox 3"/>
          <p:cNvSpPr txBox="1"/>
          <p:nvPr/>
        </p:nvSpPr>
        <p:spPr>
          <a:xfrm>
            <a:off x="548640" y="764371"/>
            <a:ext cx="11064240" cy="640080"/>
          </a:xfrm>
          <a:prstGeom prst="rect">
            <a:avLst/>
          </a:prstGeom>
          <a:noFill/>
        </p:spPr>
        <p:txBody>
          <a:bodyPr wrap="square" anchor="t">
            <a:normAutofit/>
          </a:bodyPr>
          <a:lstStyle/>
          <a:p>
            <a:pPr algn="l">
              <a:spcAft>
                <a:spcPts val="0"/>
              </a:spcAft>
            </a:pPr>
            <a:r>
              <a:rPr sz="2800" b="1" dirty="0">
                <a:solidFill>
                  <a:srgbClr val="F2F2F5"/>
                </a:solidFill>
                <a:latin typeface="Arial"/>
              </a:rPr>
              <a:t>What we would rather you heard from us</a:t>
            </a:r>
          </a:p>
        </p:txBody>
      </p:sp>
      <p:sp>
        <p:nvSpPr>
          <p:cNvPr id="5" name="Rectangle 4"/>
          <p:cNvSpPr/>
          <p:nvPr/>
        </p:nvSpPr>
        <p:spPr>
          <a:xfrm>
            <a:off x="663789" y="606045"/>
            <a:ext cx="1280160" cy="22860"/>
          </a:xfrm>
          <a:prstGeom prst="rect">
            <a:avLst/>
          </a:prstGeom>
          <a:solidFill>
            <a:srgbClr val="F5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16</a:t>
            </a:r>
          </a:p>
        </p:txBody>
      </p:sp>
      <p:sp>
        <p:nvSpPr>
          <p:cNvPr id="8" name="TextBox 7"/>
          <p:cNvSpPr txBox="1"/>
          <p:nvPr/>
        </p:nvSpPr>
        <p:spPr>
          <a:xfrm>
            <a:off x="548640" y="1536192"/>
            <a:ext cx="11064240" cy="4709160"/>
          </a:xfrm>
          <a:prstGeom prst="rect">
            <a:avLst/>
          </a:prstGeom>
          <a:noFill/>
        </p:spPr>
        <p:txBody>
          <a:bodyPr wrap="square" anchor="t">
            <a:normAutofit/>
          </a:bodyPr>
          <a:lstStyle/>
          <a:p>
            <a:pPr algn="l">
              <a:spcAft>
                <a:spcPts val="2000"/>
              </a:spcAft>
            </a:pPr>
            <a:r>
              <a:rPr sz="1550" b="0">
                <a:solidFill>
                  <a:srgbClr val="F5B14C"/>
                </a:solidFill>
                <a:latin typeface="Arial"/>
              </a:rPr>
              <a:t>EVERYTHING IS SIMULATED. We validate mechanism fidelity, not distributional fidelity to any real portfolio.</a:t>
            </a:r>
          </a:p>
          <a:p>
            <a:pPr>
              <a:spcAft>
                <a:spcPts val="2000"/>
              </a:spcAft>
            </a:pPr>
            <a:r>
              <a:rPr sz="1550" b="0">
                <a:solidFill>
                  <a:srgbClr val="F5B14C"/>
                </a:solidFill>
                <a:latin typeface="Arial"/>
              </a:rPr>
              <a:t>TWO GENERATOR ARTIFACTS inflate two features — quantified and bounded at 21.1% and 6.8% of the headline.</a:t>
            </a:r>
          </a:p>
          <a:p>
            <a:pPr>
              <a:spcAft>
                <a:spcPts val="2000"/>
              </a:spcAft>
            </a:pPr>
            <a:r>
              <a:rPr sz="1550" b="0">
                <a:solidFill>
                  <a:srgbClr val="F5B14C"/>
                </a:solidFill>
                <a:latin typeface="Arial"/>
              </a:rPr>
              <a:t>TWO RAILS REMAIN WEAK. aeps-microatm and upi-lite-offline carry observables our features now read, but at 2.50% label maturity the model cannot learn them: the measured gain was +0.0001 PR-AUC. We report the null result.</a:t>
            </a:r>
          </a:p>
          <a:p>
            <a:pPr>
              <a:spcAft>
                <a:spcPts val="2000"/>
              </a:spcAft>
            </a:pPr>
            <a:r>
              <a:rPr sz="1550" b="0">
                <a:solidFill>
                  <a:srgbClr val="F5B14C"/>
                </a:solidFill>
                <a:latin typeface="Arial"/>
              </a:rPr>
              <a:t>QUEUE CAPACITY IS MEASURED ON THE WRONG QUANTITY. The check counts the REVIEW BAND, but real human load is set by the action mapping, and card-clearing-dispute maps all three bands to review. True load ≈ 0.54% of volume against a 0.0240% staffed budget. Found, not yet fixed.</a:t>
            </a:r>
          </a:p>
          <a:p>
            <a:pPr>
              <a:spcAft>
                <a:spcPts val="2000"/>
              </a:spcAft>
            </a:pPr>
            <a:r>
              <a:rPr sz="1550" b="0">
                <a:solidFill>
                  <a:srgbClr val="F5B14C"/>
                </a:solidFill>
                <a:latin typeface="Arial"/>
              </a:rPr>
              <a:t>A SINGLE GLOBAL OPERATING THRESHOLD penalises low-value rails whose whole mechanism is to sit beneath the floor.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064240" cy="329184"/>
          </a:xfrm>
          <a:prstGeom prst="rect">
            <a:avLst/>
          </a:prstGeom>
          <a:noFill/>
        </p:spPr>
        <p:txBody>
          <a:bodyPr wrap="square" anchor="t">
            <a:noAutofit/>
          </a:bodyPr>
          <a:lstStyle/>
          <a:p>
            <a:pPr algn="l">
              <a:spcAft>
                <a:spcPts val="0"/>
              </a:spcAft>
            </a:pPr>
            <a:r>
              <a:rPr sz="1600" b="1" dirty="0">
                <a:solidFill>
                  <a:srgbClr val="3DD68C"/>
                </a:solidFill>
                <a:latin typeface="Arial"/>
              </a:rPr>
              <a:t>REPRODUCIBILITY</a:t>
            </a:r>
          </a:p>
        </p:txBody>
      </p:sp>
      <p:sp>
        <p:nvSpPr>
          <p:cNvPr id="4" name="TextBox 3"/>
          <p:cNvSpPr txBox="1"/>
          <p:nvPr/>
        </p:nvSpPr>
        <p:spPr>
          <a:xfrm>
            <a:off x="548640" y="688964"/>
            <a:ext cx="11064240" cy="640080"/>
          </a:xfrm>
          <a:prstGeom prst="rect">
            <a:avLst/>
          </a:prstGeom>
          <a:noFill/>
        </p:spPr>
        <p:txBody>
          <a:bodyPr wrap="square" anchor="t">
            <a:normAutofit/>
          </a:bodyPr>
          <a:lstStyle/>
          <a:p>
            <a:pPr algn="l">
              <a:spcAft>
                <a:spcPts val="0"/>
              </a:spcAft>
            </a:pPr>
            <a:r>
              <a:rPr sz="2800" b="1">
                <a:solidFill>
                  <a:srgbClr val="F2F2F5"/>
                </a:solidFill>
                <a:latin typeface="Arial"/>
              </a:rPr>
              <a:t>One command, seeded and ordered</a:t>
            </a:r>
          </a:p>
        </p:txBody>
      </p:sp>
      <p:sp>
        <p:nvSpPr>
          <p:cNvPr id="5" name="Rectangle 4"/>
          <p:cNvSpPr/>
          <p:nvPr/>
        </p:nvSpPr>
        <p:spPr>
          <a:xfrm>
            <a:off x="651189" y="624326"/>
            <a:ext cx="1778744" cy="45719"/>
          </a:xfrm>
          <a:prstGeom prst="rect">
            <a:avLst/>
          </a:prstGeom>
          <a:solidFill>
            <a:srgbClr val="3DD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7" name="TextBox 6"/>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17</a:t>
            </a:r>
          </a:p>
        </p:txBody>
      </p:sp>
      <p:sp>
        <p:nvSpPr>
          <p:cNvPr id="8" name="Rectangle 7"/>
          <p:cNvSpPr/>
          <p:nvPr/>
        </p:nvSpPr>
        <p:spPr>
          <a:xfrm>
            <a:off x="548640" y="1600200"/>
            <a:ext cx="11064240" cy="822960"/>
          </a:xfrm>
          <a:prstGeom prst="rect">
            <a:avLst/>
          </a:prstGeom>
          <a:solidFill>
            <a:srgbClr val="15161D"/>
          </a:solidFill>
          <a:ln w="17780">
            <a:solidFill>
              <a:srgbClr val="3DD6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1783080"/>
            <a:ext cx="10515600" cy="457200"/>
          </a:xfrm>
          <a:prstGeom prst="rect">
            <a:avLst/>
          </a:prstGeom>
          <a:noFill/>
        </p:spPr>
        <p:txBody>
          <a:bodyPr wrap="square" anchor="t">
            <a:normAutofit lnSpcReduction="10000"/>
          </a:bodyPr>
          <a:lstStyle/>
          <a:p>
            <a:pPr algn="l">
              <a:spcAft>
                <a:spcPts val="0"/>
              </a:spcAft>
            </a:pPr>
            <a:r>
              <a:rPr sz="2500" b="1">
                <a:solidFill>
                  <a:srgbClr val="3DD68C"/>
                </a:solidFill>
                <a:latin typeface="Courier New"/>
              </a:rPr>
              <a:t>make all PRESET=full</a:t>
            </a:r>
          </a:p>
        </p:txBody>
      </p:sp>
      <p:sp>
        <p:nvSpPr>
          <p:cNvPr id="10" name="TextBox 9"/>
          <p:cNvSpPr txBox="1"/>
          <p:nvPr/>
        </p:nvSpPr>
        <p:spPr>
          <a:xfrm>
            <a:off x="548640" y="2670048"/>
            <a:ext cx="11064240" cy="3520440"/>
          </a:xfrm>
          <a:prstGeom prst="rect">
            <a:avLst/>
          </a:prstGeom>
          <a:noFill/>
        </p:spPr>
        <p:txBody>
          <a:bodyPr wrap="square" anchor="t">
            <a:normAutofit/>
          </a:bodyPr>
          <a:lstStyle/>
          <a:p>
            <a:pPr algn="l">
              <a:spcAft>
                <a:spcPts val="1700"/>
              </a:spcAft>
            </a:pPr>
            <a:r>
              <a:rPr sz="1500" b="0" dirty="0">
                <a:solidFill>
                  <a:srgbClr val="F2F2F5"/>
                </a:solidFill>
                <a:latin typeface="Arial"/>
              </a:rPr>
              <a:t>Seeded, ordered, single-threaded on the CI path for byte-reproducibility.</a:t>
            </a:r>
          </a:p>
          <a:p>
            <a:pPr>
              <a:spcAft>
                <a:spcPts val="1700"/>
              </a:spcAft>
            </a:pPr>
            <a:r>
              <a:rPr sz="1500" b="0" dirty="0">
                <a:solidFill>
                  <a:srgbClr val="3DD68C"/>
                </a:solidFill>
                <a:latin typeface="Arial"/>
              </a:rPr>
              <a:t>make demo brings up the web prototype against a COMMITTED offline replay bundle — no training, no network. It works on venue </a:t>
            </a:r>
            <a:r>
              <a:rPr sz="1500" b="0" dirty="0" err="1">
                <a:solidFill>
                  <a:srgbClr val="3DD68C"/>
                </a:solidFill>
                <a:latin typeface="Arial"/>
              </a:rPr>
              <a:t>wifi</a:t>
            </a:r>
            <a:r>
              <a:rPr sz="1500" b="0" dirty="0">
                <a:solidFill>
                  <a:srgbClr val="3DD68C"/>
                </a:solidFill>
                <a:latin typeface="Arial"/>
              </a:rPr>
              <a:t> that does not exist.</a:t>
            </a:r>
          </a:p>
          <a:p>
            <a:pPr>
              <a:spcAft>
                <a:spcPts val="1700"/>
              </a:spcAft>
            </a:pPr>
            <a:r>
              <a:rPr sz="1500" b="0" dirty="0">
                <a:solidFill>
                  <a:srgbClr val="F2F2F5"/>
                </a:solidFill>
                <a:latin typeface="Arial"/>
              </a:rPr>
              <a:t>Every stage emits structured JSON to reports/. reports/</a:t>
            </a:r>
            <a:r>
              <a:rPr sz="1500" b="0" dirty="0" err="1">
                <a:solidFill>
                  <a:srgbClr val="F2F2F5"/>
                </a:solidFill>
                <a:latin typeface="Arial"/>
              </a:rPr>
              <a:t>report.md</a:t>
            </a:r>
            <a:r>
              <a:rPr sz="1500" b="0" dirty="0">
                <a:solidFill>
                  <a:srgbClr val="F2F2F5"/>
                </a:solidFill>
                <a:latin typeface="Arial"/>
              </a:rPr>
              <a:t> is the evidence index.</a:t>
            </a:r>
          </a:p>
          <a:p>
            <a:pPr>
              <a:spcAft>
                <a:spcPts val="1700"/>
              </a:spcAft>
            </a:pPr>
            <a:r>
              <a:rPr sz="1500" b="0" dirty="0">
                <a:solidFill>
                  <a:srgbClr val="3DD68C"/>
                </a:solidFill>
                <a:latin typeface="Arial"/>
              </a:rPr>
              <a:t>Non-reportable outputs are stamped NOT REPORTABLE inside the artifact itself, so a smoke-scale number cannot be quoted as a result by accident.</a:t>
            </a:r>
          </a:p>
          <a:p>
            <a:pPr>
              <a:spcAft>
                <a:spcPts val="1700"/>
              </a:spcAft>
            </a:pPr>
            <a:r>
              <a:rPr sz="1500" b="0">
                <a:solidFill>
                  <a:srgbClr val="F2F2F5"/>
                </a:solidFill>
                <a:latin typeface="Arial"/>
              </a:rPr>
              <a:t>The repository is a git history and the leakage suite reads it — </a:t>
            </a:r>
            <a:r>
              <a:rPr sz="1500" b="0" dirty="0" err="1">
                <a:solidFill>
                  <a:srgbClr val="F2F2F5"/>
                </a:solidFill>
                <a:latin typeface="Arial"/>
              </a:rPr>
              <a:t>commit_order_audit</a:t>
            </a:r>
            <a:r>
              <a:rPr sz="1500" b="0" dirty="0">
                <a:solidFill>
                  <a:srgbClr val="F2F2F5"/>
                </a:solidFill>
                <a:latin typeface="Arial"/>
              </a:rPr>
              <a:t> proves the sealed manifest predates the detector code.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051560"/>
            <a:ext cx="10698480" cy="1828800"/>
          </a:xfrm>
          <a:prstGeom prst="rect">
            <a:avLst/>
          </a:prstGeom>
          <a:noFill/>
        </p:spPr>
        <p:txBody>
          <a:bodyPr wrap="square" anchor="t">
            <a:normAutofit/>
          </a:bodyPr>
          <a:lstStyle/>
          <a:p>
            <a:pPr algn="l">
              <a:spcAft>
                <a:spcPts val="800"/>
              </a:spcAft>
            </a:pPr>
            <a:r>
              <a:rPr b="1" dirty="0">
                <a:solidFill>
                  <a:srgbClr val="4A9EFF"/>
                </a:solidFill>
                <a:latin typeface="Arial"/>
              </a:rPr>
              <a:t>What we built</a:t>
            </a:r>
          </a:p>
          <a:p>
            <a:pPr>
              <a:spcAft>
                <a:spcPts val="2400"/>
              </a:spcAft>
            </a:pPr>
            <a:r>
              <a:rPr sz="1800" b="0" dirty="0">
                <a:solidFill>
                  <a:srgbClr val="F2F2F5"/>
                </a:solidFill>
                <a:latin typeface="Arial"/>
              </a:rPr>
              <a:t>A grammar that generates 15,271 type-legal attacks. A simulator whose build refuses to violate rail semantics. A detector that catches 25% of attack compositions it has never seen, at 99.5% precision on a staffed queue and +28.3 points of recall over the incumbent.</a:t>
            </a:r>
          </a:p>
        </p:txBody>
      </p:sp>
      <p:sp>
        <p:nvSpPr>
          <p:cNvPr id="4" name="TextBox 3"/>
          <p:cNvSpPr txBox="1"/>
          <p:nvPr/>
        </p:nvSpPr>
        <p:spPr>
          <a:xfrm>
            <a:off x="722974" y="2955562"/>
            <a:ext cx="10698480" cy="1554480"/>
          </a:xfrm>
          <a:prstGeom prst="rect">
            <a:avLst/>
          </a:prstGeom>
          <a:noFill/>
        </p:spPr>
        <p:txBody>
          <a:bodyPr wrap="square" anchor="t">
            <a:normAutofit/>
          </a:bodyPr>
          <a:lstStyle/>
          <a:p>
            <a:pPr algn="l">
              <a:spcAft>
                <a:spcPts val="800"/>
              </a:spcAft>
            </a:pPr>
            <a:r>
              <a:rPr sz="1900" b="1" dirty="0">
                <a:solidFill>
                  <a:srgbClr val="F5B14C"/>
                </a:solidFill>
                <a:latin typeface="Arial"/>
              </a:rPr>
              <a:t>What we think matters more</a:t>
            </a:r>
          </a:p>
          <a:p>
            <a:pPr>
              <a:spcAft>
                <a:spcPts val="0"/>
              </a:spcAft>
            </a:pPr>
            <a:r>
              <a:rPr sz="1800" b="0" dirty="0">
                <a:solidFill>
                  <a:srgbClr val="F2F2F5"/>
                </a:solidFill>
                <a:latin typeface="Arial"/>
              </a:rPr>
              <a:t>We built the instruments that found our own 4× fusion defect, our own policy bug, and our own generator artifacts and we are showing you all three.</a:t>
            </a:r>
          </a:p>
        </p:txBody>
      </p:sp>
      <p:sp>
        <p:nvSpPr>
          <p:cNvPr id="5" name="Rectangle 4"/>
          <p:cNvSpPr/>
          <p:nvPr/>
        </p:nvSpPr>
        <p:spPr>
          <a:xfrm>
            <a:off x="731520" y="4644636"/>
            <a:ext cx="2606040" cy="868680"/>
          </a:xfrm>
          <a:prstGeom prst="rect">
            <a:avLst/>
          </a:prstGeom>
          <a:solidFill>
            <a:srgbClr val="15161D"/>
          </a:solidFill>
          <a:ln w="15240">
            <a:solidFill>
              <a:srgbClr val="4A9EFF"/>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4A9EFF"/>
                </a:solidFill>
                <a:latin typeface="Arial"/>
              </a:rPr>
              <a:t>15,271</a:t>
            </a:r>
            <a:br/>
            <a:r>
              <a:rPr sz="1200" b="1">
                <a:solidFill>
                  <a:srgbClr val="4A9EFF"/>
                </a:solidFill>
                <a:latin typeface="Arial"/>
              </a:rPr>
              <a:t>type-legal attacks</a:t>
            </a:r>
          </a:p>
        </p:txBody>
      </p:sp>
      <p:sp>
        <p:nvSpPr>
          <p:cNvPr id="6" name="Rectangle 5"/>
          <p:cNvSpPr/>
          <p:nvPr/>
        </p:nvSpPr>
        <p:spPr>
          <a:xfrm>
            <a:off x="3538728" y="4644636"/>
            <a:ext cx="2606040" cy="86868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3DD68C"/>
                </a:solidFill>
                <a:latin typeface="Arial"/>
              </a:rPr>
              <a:t>126</a:t>
            </a:r>
            <a:br/>
            <a:r>
              <a:rPr sz="1200" b="1">
                <a:solidFill>
                  <a:srgbClr val="3DD68C"/>
                </a:solidFill>
                <a:latin typeface="Arial"/>
              </a:rPr>
              <a:t>invariants as gates</a:t>
            </a:r>
          </a:p>
        </p:txBody>
      </p:sp>
      <p:sp>
        <p:nvSpPr>
          <p:cNvPr id="7" name="Rectangle 6"/>
          <p:cNvSpPr/>
          <p:nvPr/>
        </p:nvSpPr>
        <p:spPr>
          <a:xfrm>
            <a:off x="6345936" y="4644636"/>
            <a:ext cx="2606040" cy="868680"/>
          </a:xfrm>
          <a:prstGeom prst="rect">
            <a:avLst/>
          </a:prstGeom>
          <a:solidFill>
            <a:srgbClr val="15161D"/>
          </a:solidFill>
          <a:ln w="15240">
            <a:solidFill>
              <a:srgbClr val="3DD68C"/>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3DD68C"/>
                </a:solidFill>
                <a:latin typeface="Arial"/>
              </a:rPr>
              <a:t>6/6</a:t>
            </a:r>
            <a:br/>
            <a:r>
              <a:rPr sz="1200" b="1">
                <a:solidFill>
                  <a:srgbClr val="3DD68C"/>
                </a:solidFill>
                <a:latin typeface="Arial"/>
              </a:rPr>
              <a:t>leakage controls pass</a:t>
            </a:r>
          </a:p>
        </p:txBody>
      </p:sp>
      <p:sp>
        <p:nvSpPr>
          <p:cNvPr id="8" name="Rectangle 7"/>
          <p:cNvSpPr/>
          <p:nvPr/>
        </p:nvSpPr>
        <p:spPr>
          <a:xfrm>
            <a:off x="9153144" y="4644636"/>
            <a:ext cx="2606040" cy="868680"/>
          </a:xfrm>
          <a:prstGeom prst="rect">
            <a:avLst/>
          </a:prstGeom>
          <a:solidFill>
            <a:srgbClr val="15161D"/>
          </a:solidFill>
          <a:ln w="15240">
            <a:solidFill>
              <a:srgbClr val="4A9EFF"/>
            </a:solidFill>
          </a:ln>
          <a:effectLst/>
        </p:spPr>
        <p:style>
          <a:lnRef idx="1">
            <a:schemeClr val="accent1"/>
          </a:lnRef>
          <a:fillRef idx="3">
            <a:schemeClr val="accent1"/>
          </a:fillRef>
          <a:effectRef idx="2">
            <a:schemeClr val="accent1"/>
          </a:effectRef>
          <a:fontRef idx="minor">
            <a:schemeClr val="lt1"/>
          </a:fontRef>
        </p:style>
        <p:txBody>
          <a:bodyPr wrap="square" rtlCol="0" anchor="ctr">
            <a:normAutofit/>
          </a:bodyPr>
          <a:lstStyle/>
          <a:p>
            <a:pPr algn="ctr">
              <a:spcAft>
                <a:spcPts val="0"/>
              </a:spcAft>
            </a:pPr>
            <a:r>
              <a:rPr sz="1200" b="1">
                <a:solidFill>
                  <a:srgbClr val="4A9EFF"/>
                </a:solidFill>
                <a:latin typeface="Arial"/>
              </a:rPr>
              <a:t>0.2507</a:t>
            </a:r>
            <a:br/>
            <a:r>
              <a:rPr sz="1200" b="1">
                <a:solidFill>
                  <a:srgbClr val="4A9EFF"/>
                </a:solidFill>
                <a:latin typeface="Arial"/>
              </a:rPr>
              <a:t>recall, unseen compositions</a:t>
            </a:r>
          </a:p>
        </p:txBody>
      </p:sp>
      <p:sp>
        <p:nvSpPr>
          <p:cNvPr id="9" name="TextBox 8"/>
          <p:cNvSpPr txBox="1"/>
          <p:nvPr/>
        </p:nvSpPr>
        <p:spPr>
          <a:xfrm>
            <a:off x="548640" y="6419088"/>
            <a:ext cx="10241280" cy="292608"/>
          </a:xfrm>
          <a:prstGeom prst="rect">
            <a:avLst/>
          </a:prstGeom>
          <a:noFill/>
        </p:spPr>
        <p:txBody>
          <a:bodyPr wrap="square" anchor="t">
            <a:normAutofit/>
          </a:bodyPr>
          <a:lstStyle/>
          <a:p>
            <a:pPr algn="l">
              <a:spcAft>
                <a:spcPts val="0"/>
              </a:spcAft>
            </a:pPr>
            <a:r>
              <a:rPr sz="950" b="0">
                <a:solidFill>
                  <a:srgbClr val="9A9AA8"/>
                </a:solidFill>
                <a:latin typeface="Arial"/>
              </a:rPr>
              <a:t>VAJRA · Mastercard Innovation Challenge 2026</a:t>
            </a:r>
          </a:p>
        </p:txBody>
      </p:sp>
      <p:sp>
        <p:nvSpPr>
          <p:cNvPr id="10" name="TextBox 9"/>
          <p:cNvSpPr txBox="1"/>
          <p:nvPr/>
        </p:nvSpPr>
        <p:spPr>
          <a:xfrm>
            <a:off x="11155680" y="6419088"/>
            <a:ext cx="548640" cy="292608"/>
          </a:xfrm>
          <a:prstGeom prst="rect">
            <a:avLst/>
          </a:prstGeom>
          <a:noFill/>
        </p:spPr>
        <p:txBody>
          <a:bodyPr wrap="square" anchor="t">
            <a:normAutofit/>
          </a:bodyPr>
          <a:lstStyle/>
          <a:p>
            <a:pPr algn="r">
              <a:spcAft>
                <a:spcPts val="0"/>
              </a:spcAft>
            </a:pPr>
            <a:r>
              <a:rPr sz="950" b="0">
                <a:solidFill>
                  <a:srgbClr val="9A9AA8"/>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1199</TotalTime>
  <Words>2888</Words>
  <Application>Microsoft Macintosh PowerPoint</Application>
  <PresentationFormat>Widescreen</PresentationFormat>
  <Paragraphs>231</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Singh, Eishkaran</cp:lastModifiedBy>
  <cp:revision>6</cp:revision>
  <dcterms:created xsi:type="dcterms:W3CDTF">2013-01-27T09:14:16Z</dcterms:created>
  <dcterms:modified xsi:type="dcterms:W3CDTF">2026-08-29T07:34:12Z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2026-08-27T17:08:25Z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8b96d7b7-ca37-438d-8eb0-53b5ba630141</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